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9" r:id="rId3"/>
    <p:sldId id="257" r:id="rId4"/>
    <p:sldId id="278" r:id="rId5"/>
    <p:sldId id="258" r:id="rId6"/>
    <p:sldId id="259" r:id="rId7"/>
    <p:sldId id="260" r:id="rId8"/>
    <p:sldId id="261" r:id="rId9"/>
    <p:sldId id="277" r:id="rId10"/>
    <p:sldId id="263" r:id="rId11"/>
    <p:sldId id="262" r:id="rId12"/>
    <p:sldId id="276" r:id="rId13"/>
    <p:sldId id="264" r:id="rId14"/>
    <p:sldId id="265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70"/>
    <p:restoredTop sz="81486"/>
  </p:normalViewPr>
  <p:slideViewPr>
    <p:cSldViewPr snapToGrid="0" snapToObjects="1">
      <p:cViewPr varScale="1">
        <p:scale>
          <a:sx n="171" d="100"/>
          <a:sy n="171" d="100"/>
        </p:scale>
        <p:origin x="6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987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B379-A3B1-8582-BBA4-270516B85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02824-AC7F-3291-385F-E053C308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687DE-D34E-C93C-88B9-E9AEEEE56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CCBBF-76E3-17DC-66AB-6173DFF5E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7569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9E1D9-F2F6-3E0E-00A5-3CBC7405C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ADECC2-EB3E-1004-49C2-5656E3E6E4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818F2-6358-D6E4-0FAC-E448A2B05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BB1FE-60D7-76FC-1BFD-B01B7E4EA1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29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F5686-82A3-EDC2-EA44-2769B9231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7873A0-0D0C-7367-F57C-C2345AC65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D82453-2289-570F-1109-7D4BBCA59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35121-763C-AED8-0E30-334C79B6D3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293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9:16</a:t>
            </a:r>
          </a:p>
        </p:txBody>
      </p:sp>
    </p:spTree>
    <p:extLst>
      <p:ext uri="{BB962C8B-B14F-4D97-AF65-F5344CB8AC3E}">
        <p14:creationId xmlns:p14="http://schemas.microsoft.com/office/powerpoint/2010/main" val="31908596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on the entry for 1804-06-26</a:t>
            </a:r>
          </a:p>
          <a:p>
            <a:r>
              <a:rPr lang="en-US" dirty="0"/>
              <a:t>Show chunk text</a:t>
            </a:r>
          </a:p>
          <a:p>
            <a:r>
              <a:rPr lang="en-US" dirty="0"/>
              <a:t>Show neighboring chunks</a:t>
            </a:r>
          </a:p>
          <a:p>
            <a:r>
              <a:rPr lang="en-US" dirty="0"/>
              <a:t>Dismiss neighboring chunks</a:t>
            </a:r>
          </a:p>
          <a:p>
            <a:r>
              <a:rPr lang="en-US" dirty="0"/>
              <a:t>Expand mentioned in</a:t>
            </a:r>
          </a:p>
          <a:p>
            <a:r>
              <a:rPr lang="en-US" dirty="0"/>
              <a:t>Expand all but mentioned in for Kansas River</a:t>
            </a:r>
          </a:p>
          <a:p>
            <a:r>
              <a:rPr lang="en-US" dirty="0"/>
              <a:t>Expand taxonomy for rattle snake</a:t>
            </a:r>
          </a:p>
          <a:p>
            <a:r>
              <a:rPr lang="en-US" dirty="0"/>
              <a:t>Expand taxonomy for Squamata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6"/>
          <p:cNvSpPr/>
          <p:nvPr/>
        </p:nvSpPr>
        <p:spPr>
          <a:xfrm>
            <a:off x="548640" y="1280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Has a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Problem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Nathan Smith  ·  Neo4j  ·  Community Days KC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3C7899-B041-00A5-8959-B2FE618B8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AC49A41-9C03-6EC8-8D2D-0FF34ACF5CB9}"/>
              </a:ext>
            </a:extLst>
          </p:cNvPr>
          <p:cNvSpPr/>
          <p:nvPr/>
        </p:nvSpPr>
        <p:spPr>
          <a:xfrm>
            <a:off x="321530" y="163086"/>
            <a:ext cx="8385717" cy="481732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B155D-A20E-49B4-87C8-9568569A9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085" y="240742"/>
            <a:ext cx="7558050" cy="466201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DF2F887-A5F2-BB92-8884-2F3DE84AAFD7}"/>
              </a:ext>
            </a:extLst>
          </p:cNvPr>
          <p:cNvGrpSpPr/>
          <p:nvPr/>
        </p:nvGrpSpPr>
        <p:grpSpPr>
          <a:xfrm>
            <a:off x="5656767" y="400979"/>
            <a:ext cx="624468" cy="624468"/>
            <a:chOff x="229839" y="337789"/>
            <a:chExt cx="624468" cy="624468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E1CE1A2-357F-B983-AD0E-B707F2C85FC7}"/>
                </a:ext>
              </a:extLst>
            </p:cNvPr>
            <p:cNvSpPr/>
            <p:nvPr/>
          </p:nvSpPr>
          <p:spPr>
            <a:xfrm>
              <a:off x="229839" y="337789"/>
              <a:ext cx="624468" cy="62446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4C2BE5E-9E0E-F681-15F6-7E0BFFB44402}"/>
                </a:ext>
              </a:extLst>
            </p:cNvPr>
            <p:cNvSpPr/>
            <p:nvPr/>
          </p:nvSpPr>
          <p:spPr>
            <a:xfrm>
              <a:off x="263293" y="371243"/>
              <a:ext cx="557561" cy="557561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452C7B1-6081-B6F6-1DEA-352ADF56CF69}"/>
              </a:ext>
            </a:extLst>
          </p:cNvPr>
          <p:cNvGrpSpPr/>
          <p:nvPr/>
        </p:nvGrpSpPr>
        <p:grpSpPr>
          <a:xfrm>
            <a:off x="7231569" y="400252"/>
            <a:ext cx="624468" cy="624468"/>
            <a:chOff x="535879" y="545543"/>
            <a:chExt cx="624468" cy="6244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BEAB82-EB52-3632-0614-14567F2CD459}"/>
                </a:ext>
              </a:extLst>
            </p:cNvPr>
            <p:cNvSpPr/>
            <p:nvPr/>
          </p:nvSpPr>
          <p:spPr>
            <a:xfrm>
              <a:off x="535879" y="545543"/>
              <a:ext cx="624468" cy="62446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0528A87-3F31-21C8-F0D8-14E1BB75F696}"/>
                </a:ext>
              </a:extLst>
            </p:cNvPr>
            <p:cNvSpPr/>
            <p:nvPr/>
          </p:nvSpPr>
          <p:spPr>
            <a:xfrm>
              <a:off x="569333" y="578997"/>
              <a:ext cx="557561" cy="557561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C55B4693-C975-EAD3-A3C6-D473BCF59AA8}"/>
              </a:ext>
            </a:extLst>
          </p:cNvPr>
          <p:cNvSpPr/>
          <p:nvPr/>
        </p:nvSpPr>
        <p:spPr>
          <a:xfrm>
            <a:off x="4179852" y="397262"/>
            <a:ext cx="624468" cy="624468"/>
          </a:xfrm>
          <a:prstGeom prst="ellipse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05972DA-992F-D70E-6FC4-530434DD9191}"/>
              </a:ext>
            </a:extLst>
          </p:cNvPr>
          <p:cNvSpPr/>
          <p:nvPr/>
        </p:nvSpPr>
        <p:spPr>
          <a:xfrm>
            <a:off x="990602" y="3274275"/>
            <a:ext cx="624468" cy="624468"/>
          </a:xfrm>
          <a:prstGeom prst="ellipse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59DBBAB-212F-3D2E-C669-F6DFB641DB3E}"/>
              </a:ext>
            </a:extLst>
          </p:cNvPr>
          <p:cNvSpPr/>
          <p:nvPr/>
        </p:nvSpPr>
        <p:spPr>
          <a:xfrm>
            <a:off x="1451520" y="4222130"/>
            <a:ext cx="624468" cy="624468"/>
          </a:xfrm>
          <a:prstGeom prst="ellipse">
            <a:avLst/>
          </a:prstGeom>
          <a:blipFill>
            <a:blip r:embed="rId8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656A58D-6AF5-42EC-8CE9-22CF1B9D017D}"/>
              </a:ext>
            </a:extLst>
          </p:cNvPr>
          <p:cNvSpPr/>
          <p:nvPr/>
        </p:nvSpPr>
        <p:spPr>
          <a:xfrm>
            <a:off x="7294759" y="4103912"/>
            <a:ext cx="624468" cy="624468"/>
          </a:xfrm>
          <a:prstGeom prst="ellipse">
            <a:avLst/>
          </a:prstGeom>
          <a:blipFill>
            <a:blip r:embed="rId9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840E77A-C270-0D4D-1F39-390AE923F872}"/>
              </a:ext>
            </a:extLst>
          </p:cNvPr>
          <p:cNvSpPr/>
          <p:nvPr/>
        </p:nvSpPr>
        <p:spPr>
          <a:xfrm>
            <a:off x="7294759" y="3020586"/>
            <a:ext cx="624468" cy="624468"/>
          </a:xfrm>
          <a:prstGeom prst="ellipse">
            <a:avLst/>
          </a:prstGeom>
          <a:blipFill>
            <a:blip r:embed="rId10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581ABE0-2E65-21E5-DE3F-1FE3085B354E}"/>
              </a:ext>
            </a:extLst>
          </p:cNvPr>
          <p:cNvSpPr/>
          <p:nvPr/>
        </p:nvSpPr>
        <p:spPr>
          <a:xfrm>
            <a:off x="3139072" y="3020586"/>
            <a:ext cx="624468" cy="624468"/>
          </a:xfrm>
          <a:prstGeom prst="ellipse">
            <a:avLst/>
          </a:prstGeom>
          <a:blipFill>
            <a:blip r:embed="rId11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FA8A2E5-46CC-EAF7-C378-25A5A9F2E9D3}"/>
              </a:ext>
            </a:extLst>
          </p:cNvPr>
          <p:cNvSpPr/>
          <p:nvPr/>
        </p:nvSpPr>
        <p:spPr>
          <a:xfrm>
            <a:off x="1981824" y="1310996"/>
            <a:ext cx="624468" cy="624468"/>
          </a:xfrm>
          <a:prstGeom prst="ellipse">
            <a:avLst/>
          </a:prstGeom>
          <a:blipFill>
            <a:blip r:embed="rId1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8EA0BFA-A1C0-4A32-B61B-51C9A9EDCC2B}"/>
              </a:ext>
            </a:extLst>
          </p:cNvPr>
          <p:cNvSpPr/>
          <p:nvPr/>
        </p:nvSpPr>
        <p:spPr>
          <a:xfrm>
            <a:off x="1265666" y="1950332"/>
            <a:ext cx="624468" cy="624468"/>
          </a:xfrm>
          <a:prstGeom prst="ellipse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4F169A18-9609-E1F6-5EFD-E826B8E7DC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01121" y="3679902"/>
            <a:ext cx="640885" cy="67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13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built a RAG pipeline. </a:t>
            </a:r>
            <a:endParaRPr lang="en-US" sz="2600" dirty="0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26745702-EE8D-DE23-6F43-2DB57606FF7D}"/>
              </a:ext>
            </a:extLst>
          </p:cNvPr>
          <p:cNvSpPr/>
          <p:nvPr/>
        </p:nvSpPr>
        <p:spPr>
          <a:xfrm>
            <a:off x="3108960" y="111404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rgbClr val="F2F3F3"/>
                </a:solidFill>
              </a:rPr>
              <a:t>User Question</a:t>
            </a:r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4E5A75EC-CD84-CAD0-3ED8-A4B8F2863CB5}"/>
              </a:ext>
            </a:extLst>
          </p:cNvPr>
          <p:cNvSpPr/>
          <p:nvPr/>
        </p:nvSpPr>
        <p:spPr>
          <a:xfrm>
            <a:off x="3108960" y="186842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rgbClr val="E8EDF2"/>
                </a:solidFill>
                <a:latin typeface="Calibri" pitchFamily="34" charset="0"/>
                <a:cs typeface="Calibri" pitchFamily="34" charset="-120"/>
              </a:rPr>
              <a:t>Embed</a:t>
            </a:r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01A249C0-DE64-6B5E-EC0D-2D2FDA52392C}"/>
              </a:ext>
            </a:extLst>
          </p:cNvPr>
          <p:cNvSpPr/>
          <p:nvPr/>
        </p:nvSpPr>
        <p:spPr>
          <a:xfrm>
            <a:off x="3108960" y="262280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rgbClr val="E8EDF2"/>
                </a:solidFill>
                <a:latin typeface="Calibri" pitchFamily="34" charset="0"/>
                <a:cs typeface="Calibri" pitchFamily="34" charset="-120"/>
              </a:rPr>
              <a:t>Vector</a:t>
            </a:r>
            <a:r>
              <a:rPr lang="en-US" dirty="0"/>
              <a:t> </a:t>
            </a:r>
            <a:r>
              <a:rPr lang="en-US" sz="1300" dirty="0">
                <a:solidFill>
                  <a:srgbClr val="E8EDF2"/>
                </a:solidFill>
                <a:latin typeface="Calibri" pitchFamily="34" charset="0"/>
                <a:cs typeface="Calibri" pitchFamily="34" charset="-120"/>
              </a:rPr>
              <a:t>Search</a:t>
            </a:r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7F20F0F6-8C6D-59DC-1A84-47D8404D82DB}"/>
              </a:ext>
            </a:extLst>
          </p:cNvPr>
          <p:cNvSpPr/>
          <p:nvPr/>
        </p:nvSpPr>
        <p:spPr>
          <a:xfrm>
            <a:off x="3108960" y="337718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200" dirty="0">
                <a:solidFill>
                  <a:srgbClr val="F2F3F3"/>
                </a:solidFill>
              </a:rPr>
              <a:t>LLM + Context</a:t>
            </a:r>
          </a:p>
        </p:txBody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989727E7-902E-CEE2-F4BE-6130C4FDEADB}"/>
              </a:ext>
            </a:extLst>
          </p:cNvPr>
          <p:cNvSpPr/>
          <p:nvPr/>
        </p:nvSpPr>
        <p:spPr>
          <a:xfrm>
            <a:off x="3108960" y="413156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rgbClr val="F2F3F3"/>
                </a:solidFill>
              </a:rPr>
              <a:t>Answer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CF0659F-7F59-79CD-1000-36642ED04B84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4572000" y="1552952"/>
            <a:ext cx="0" cy="315468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EE18173-E9A9-35DC-25A5-703D7A19696A}"/>
              </a:ext>
            </a:extLst>
          </p:cNvPr>
          <p:cNvCxnSpPr/>
          <p:nvPr/>
        </p:nvCxnSpPr>
        <p:spPr>
          <a:xfrm>
            <a:off x="4572000" y="2307332"/>
            <a:ext cx="0" cy="315468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415BC0-7CE8-CF9E-65B2-8C7EA6FD6597}"/>
              </a:ext>
            </a:extLst>
          </p:cNvPr>
          <p:cNvCxnSpPr/>
          <p:nvPr/>
        </p:nvCxnSpPr>
        <p:spPr>
          <a:xfrm>
            <a:off x="4572000" y="3061712"/>
            <a:ext cx="0" cy="315468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40FB5B1-C10D-FC0D-B104-6909DBF9E09A}"/>
              </a:ext>
            </a:extLst>
          </p:cNvPr>
          <p:cNvCxnSpPr/>
          <p:nvPr/>
        </p:nvCxnSpPr>
        <p:spPr>
          <a:xfrm>
            <a:off x="4572000" y="3816092"/>
            <a:ext cx="0" cy="315468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7A0693-6A95-171E-617D-B45EC076C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F982AB3-0C0C-96A2-3926-C45BF514646E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built a RAG pipeline. It mostly works.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09C915A-1BD2-96F3-0BBA-66D5B9353AC1}"/>
              </a:ext>
            </a:extLst>
          </p:cNvPr>
          <p:cNvSpPr/>
          <p:nvPr/>
        </p:nvSpPr>
        <p:spPr>
          <a:xfrm>
            <a:off x="457200" y="960120"/>
            <a:ext cx="8229600" cy="9601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02BEDCF-FD79-D0EA-8245-06BB67A737A2}"/>
              </a:ext>
            </a:extLst>
          </p:cNvPr>
          <p:cNvSpPr/>
          <p:nvPr/>
        </p:nvSpPr>
        <p:spPr>
          <a:xfrm>
            <a:off x="457200" y="960120"/>
            <a:ext cx="64008" cy="96012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5E1584-0740-81D1-4F16-420D4944F407}"/>
              </a:ext>
            </a:extLst>
          </p:cNvPr>
          <p:cNvSpPr/>
          <p:nvPr/>
        </p:nvSpPr>
        <p:spPr>
          <a:xfrm>
            <a:off x="68580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AI</a:t>
            </a: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942154-162F-87E2-28FB-6B81CE62B745}"/>
              </a:ext>
            </a:extLst>
          </p:cNvPr>
          <p:cNvSpPr/>
          <p:nvPr/>
        </p:nvSpPr>
        <p:spPr>
          <a:xfrm>
            <a:off x="685800" y="1399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a superseded policy — both versions scored high for the query</a:t>
            </a:r>
            <a:endParaRPr lang="en-US" sz="15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0B16F7E-FC7A-25A5-9FCA-43AF9D09E74E}"/>
              </a:ext>
            </a:extLst>
          </p:cNvPr>
          <p:cNvSpPr/>
          <p:nvPr/>
        </p:nvSpPr>
        <p:spPr>
          <a:xfrm>
            <a:off x="457200" y="2148840"/>
            <a:ext cx="8229600" cy="9601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A5A812E-B09C-3340-1664-8CA20F3F93B9}"/>
              </a:ext>
            </a:extLst>
          </p:cNvPr>
          <p:cNvSpPr/>
          <p:nvPr/>
        </p:nvSpPr>
        <p:spPr>
          <a:xfrm>
            <a:off x="457200" y="2148840"/>
            <a:ext cx="64008" cy="96012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067D400-11CC-3D6D-B578-D4E4D54BB639}"/>
              </a:ext>
            </a:extLst>
          </p:cNvPr>
          <p:cNvSpPr/>
          <p:nvPr/>
        </p:nvSpPr>
        <p:spPr>
          <a:xfrm>
            <a:off x="68580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chatbot</a:t>
            </a:r>
            <a:endParaRPr lang="en-US" sz="15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34B35CB-FDE6-D9FA-E941-B707A9631EBB}"/>
              </a:ext>
            </a:extLst>
          </p:cNvPr>
          <p:cNvSpPr/>
          <p:nvPr/>
        </p:nvSpPr>
        <p:spPr>
          <a:xfrm>
            <a:off x="685800" y="25877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chunks about Drug A and Drug B separately; misses their interaction</a:t>
            </a:r>
            <a:endParaRPr lang="en-US" sz="15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31C7D34-CFAA-505E-6152-2B2D5C16AB2A}"/>
              </a:ext>
            </a:extLst>
          </p:cNvPr>
          <p:cNvSpPr/>
          <p:nvPr/>
        </p:nvSpPr>
        <p:spPr>
          <a:xfrm>
            <a:off x="457200" y="3337560"/>
            <a:ext cx="8229600" cy="9601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588F2A0-4520-38E1-E62B-A566939A2FE9}"/>
              </a:ext>
            </a:extLst>
          </p:cNvPr>
          <p:cNvSpPr/>
          <p:nvPr/>
        </p:nvSpPr>
        <p:spPr>
          <a:xfrm>
            <a:off x="457200" y="3337560"/>
            <a:ext cx="64008" cy="96012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88525B9-8965-64AA-2435-EA3C8D234FE2}"/>
              </a:ext>
            </a:extLst>
          </p:cNvPr>
          <p:cNvSpPr/>
          <p:nvPr/>
        </p:nvSpPr>
        <p:spPr>
          <a:xfrm>
            <a:off x="68580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KB</a:t>
            </a:r>
            <a:endParaRPr lang="en-US" sz="15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597F0B9-6C8D-6B63-3ADF-DE6522D9C5F1}"/>
              </a:ext>
            </a:extLst>
          </p:cNvPr>
          <p:cNvSpPr/>
          <p:nvPr/>
        </p:nvSpPr>
        <p:spPr>
          <a:xfrm>
            <a:off x="685800" y="377647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"Michael S." and "Mike Sullivan" are the same person — the system never knew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540078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usually isn't your embeddings </a:t>
            </a:r>
          </a:p>
          <a:p>
            <a:pPr marL="0" indent="0" algn="ctr">
              <a:buNone/>
            </a:pPr>
            <a:r>
              <a:rPr lang="en-US" sz="26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your model.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finds things that look </a:t>
            </a:r>
            <a:r>
              <a:rPr lang="en-US" sz="2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</a:t>
            </a:r>
            <a:r>
              <a:rPr lang="en-US" sz="24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your question,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things that are </a:t>
            </a:r>
            <a:r>
              <a:rPr lang="en-US" sz="24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</a:t>
            </a:r>
            <a:r>
              <a:rPr lang="en-US" sz="24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each other.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38355" y="3383280"/>
            <a:ext cx="75912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fix the relationship problem  </a:t>
            </a:r>
          </a:p>
          <a:p>
            <a:pPr marL="0" indent="0" algn="ctr">
              <a:buNone/>
            </a:pPr>
            <a:r>
              <a:rPr lang="en-US" sz="19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replacing your existing stack.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0D8079D-DBB7-E3A9-8BFD-7223DB84BE68}"/>
              </a:ext>
            </a:extLst>
          </p:cNvPr>
          <p:cNvSpPr/>
          <p:nvPr/>
        </p:nvSpPr>
        <p:spPr>
          <a:xfrm>
            <a:off x="457200" y="3243943"/>
            <a:ext cx="8022771" cy="1774371"/>
          </a:xfrm>
          <a:prstGeom prst="rect">
            <a:avLst/>
          </a:prstGeom>
          <a:solidFill>
            <a:srgbClr val="F2F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graph?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245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is a set of </a:t>
            </a:r>
            <a:r>
              <a:rPr lang="en-US" sz="17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(things)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585420"/>
            <a:ext cx="4114800" cy="72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by </a:t>
            </a:r>
            <a:r>
              <a:rPr lang="en-US" sz="17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 they're connected).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94767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1056640"/>
            <a:ext cx="4023360" cy="14173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8303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finds similar content
</a:t>
            </a:r>
            <a:r>
              <a:rPr lang="en-US" sz="13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</a:t>
            </a: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follows connections
</a:t>
            </a:r>
            <a:r>
              <a:rPr lang="en-US" sz="1300" i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useful. Neither replaces the other.</a:t>
            </a:r>
            <a:endParaRPr lang="en-US" sz="13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00E13DD-5E6B-3EC5-E4B8-EDB2A86CF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85" y="3451860"/>
            <a:ext cx="7594600" cy="127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SQL, you have a foundation for graphs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989215"/>
              </p:ext>
            </p:extLst>
          </p:nvPr>
        </p:nvGraphicFramePr>
        <p:xfrm>
          <a:off x="457200" y="1333935"/>
          <a:ext cx="4114800" cy="205740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8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F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18B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label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18B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key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CC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CC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Traversal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937760" y="133393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difference: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937760" y="1791135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SQL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relationships are </a:t>
            </a:r>
            <a:r>
              <a:rPr lang="en-US" sz="1500" b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computed at query time by matching IDs across tables.</a:t>
            </a:r>
            <a:endParaRPr lang="en-US" sz="1500" dirty="0"/>
          </a:p>
        </p:txBody>
      </p:sp>
      <p:sp>
        <p:nvSpPr>
          <p:cNvPr id="3" name="Text 3"/>
          <p:cNvSpPr/>
          <p:nvPr/>
        </p:nvSpPr>
        <p:spPr>
          <a:xfrm>
            <a:off x="4937760" y="2659815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graph database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relationships are </a:t>
            </a:r>
            <a:b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explicitly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data.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for a comparison app</a:t>
            </a:r>
            <a:endParaRPr lang="en-US" sz="26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57EED18-C35C-7ED4-DDD3-D8F2933B220B}"/>
              </a:ext>
            </a:extLst>
          </p:cNvPr>
          <p:cNvGrpSpPr/>
          <p:nvPr/>
        </p:nvGrpSpPr>
        <p:grpSpPr>
          <a:xfrm>
            <a:off x="3338998" y="860427"/>
            <a:ext cx="2926080" cy="443484"/>
            <a:chOff x="1645920" y="909828"/>
            <a:chExt cx="2926080" cy="443484"/>
          </a:xfrm>
        </p:grpSpPr>
        <p:sp>
          <p:nvSpPr>
            <p:cNvPr id="3" name="Shape 1"/>
            <p:cNvSpPr/>
            <p:nvPr/>
          </p:nvSpPr>
          <p:spPr>
            <a:xfrm>
              <a:off x="1645920" y="909828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 2"/>
            <p:cNvSpPr/>
            <p:nvPr/>
          </p:nvSpPr>
          <p:spPr>
            <a:xfrm>
              <a:off x="1645920" y="91440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User Question</a:t>
              </a:r>
              <a:endParaRPr lang="en-US" sz="13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FBD4E94-54B6-BF7C-07B5-051955CFD44E}"/>
              </a:ext>
            </a:extLst>
          </p:cNvPr>
          <p:cNvGrpSpPr/>
          <p:nvPr/>
        </p:nvGrpSpPr>
        <p:grpSpPr>
          <a:xfrm>
            <a:off x="1398627" y="1870313"/>
            <a:ext cx="2926080" cy="438912"/>
            <a:chOff x="1645920" y="1600200"/>
            <a:chExt cx="2926080" cy="438912"/>
          </a:xfrm>
        </p:grpSpPr>
        <p:sp>
          <p:nvSpPr>
            <p:cNvPr id="5" name="Shape 3"/>
            <p:cNvSpPr/>
            <p:nvPr/>
          </p:nvSpPr>
          <p:spPr>
            <a:xfrm>
              <a:off x="1645920" y="160020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1645920" y="160020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Embed  (text-embedding-3-small)</a:t>
              </a:r>
              <a:endParaRPr lang="en-US" sz="13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7B1CA85-0473-FC65-DCC6-A6C4BBB04E89}"/>
              </a:ext>
            </a:extLst>
          </p:cNvPr>
          <p:cNvGrpSpPr/>
          <p:nvPr/>
        </p:nvGrpSpPr>
        <p:grpSpPr>
          <a:xfrm>
            <a:off x="1398627" y="2560320"/>
            <a:ext cx="2926080" cy="438912"/>
            <a:chOff x="1645920" y="2286000"/>
            <a:chExt cx="2926080" cy="438912"/>
          </a:xfrm>
        </p:grpSpPr>
        <p:sp>
          <p:nvSpPr>
            <p:cNvPr id="7" name="Shape 5"/>
            <p:cNvSpPr/>
            <p:nvPr/>
          </p:nvSpPr>
          <p:spPr>
            <a:xfrm>
              <a:off x="1645920" y="228600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1645920" y="228600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Vector Search — Neo4j</a:t>
              </a:r>
              <a:endParaRPr lang="en-US" sz="13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30C58F-52CA-3AA6-8329-EF4AC0340466}"/>
              </a:ext>
            </a:extLst>
          </p:cNvPr>
          <p:cNvGrpSpPr/>
          <p:nvPr/>
        </p:nvGrpSpPr>
        <p:grpSpPr>
          <a:xfrm>
            <a:off x="1398627" y="3246120"/>
            <a:ext cx="2926080" cy="438912"/>
            <a:chOff x="1645920" y="3246120"/>
            <a:chExt cx="2926080" cy="438912"/>
          </a:xfrm>
        </p:grpSpPr>
        <p:sp>
          <p:nvSpPr>
            <p:cNvPr id="9" name="Shape 7"/>
            <p:cNvSpPr/>
            <p:nvPr/>
          </p:nvSpPr>
          <p:spPr>
            <a:xfrm>
              <a:off x="1645920" y="324612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1645920" y="324612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LLM + Context</a:t>
              </a:r>
              <a:endParaRPr lang="en-US" sz="13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7D77B4-CD2D-BF5C-48DF-9B6BD7A6E62D}"/>
              </a:ext>
            </a:extLst>
          </p:cNvPr>
          <p:cNvGrpSpPr/>
          <p:nvPr/>
        </p:nvGrpSpPr>
        <p:grpSpPr>
          <a:xfrm>
            <a:off x="1398627" y="3931920"/>
            <a:ext cx="2926080" cy="438912"/>
            <a:chOff x="1645920" y="3931920"/>
            <a:chExt cx="2926080" cy="438912"/>
          </a:xfrm>
        </p:grpSpPr>
        <p:sp>
          <p:nvSpPr>
            <p:cNvPr id="11" name="Shape 9"/>
            <p:cNvSpPr/>
            <p:nvPr/>
          </p:nvSpPr>
          <p:spPr>
            <a:xfrm>
              <a:off x="1645920" y="393192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1645920" y="393192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Answer</a:t>
              </a:r>
              <a:endParaRPr lang="en-US" sz="1300" dirty="0"/>
            </a:p>
          </p:txBody>
        </p:sp>
      </p:grpSp>
      <p:sp>
        <p:nvSpPr>
          <p:cNvPr id="14" name="Shape 12"/>
          <p:cNvSpPr/>
          <p:nvPr/>
        </p:nvSpPr>
        <p:spPr>
          <a:xfrm>
            <a:off x="2861667" y="2310627"/>
            <a:ext cx="0" cy="246888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61667" y="3008376"/>
            <a:ext cx="0" cy="237744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861667" y="3685032"/>
            <a:ext cx="0" cy="246888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4999A5D-A042-E859-F4DF-B4A71D1A81EE}"/>
              </a:ext>
            </a:extLst>
          </p:cNvPr>
          <p:cNvGrpSpPr/>
          <p:nvPr/>
        </p:nvGrpSpPr>
        <p:grpSpPr>
          <a:xfrm>
            <a:off x="5251762" y="1870313"/>
            <a:ext cx="2926080" cy="696638"/>
            <a:chOff x="5303520" y="916241"/>
            <a:chExt cx="2926080" cy="696638"/>
          </a:xfrm>
        </p:grpSpPr>
        <p:sp>
          <p:nvSpPr>
            <p:cNvPr id="17" name="Shape 15"/>
            <p:cNvSpPr/>
            <p:nvPr/>
          </p:nvSpPr>
          <p:spPr>
            <a:xfrm>
              <a:off x="5303520" y="916241"/>
              <a:ext cx="2926080" cy="438912"/>
            </a:xfrm>
            <a:prstGeom prst="rect">
              <a:avLst/>
            </a:prstGeom>
            <a:solidFill>
              <a:srgbClr val="0A2A18"/>
            </a:solidFill>
            <a:ln w="19050">
              <a:solidFill>
                <a:srgbClr val="00CC7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5303520" y="924981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0CC7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Graph RAG Agent</a:t>
              </a:r>
              <a:endParaRPr lang="en-US" sz="13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303520" y="1338559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7A8FA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vector_search  ·  cypher_query  ·  sequence_context</a:t>
              </a:r>
              <a:endParaRPr lang="en-US" sz="1000" dirty="0"/>
            </a:p>
          </p:txBody>
        </p:sp>
      </p:grpSp>
      <p:sp>
        <p:nvSpPr>
          <p:cNvPr id="24" name="Text 2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 and graph live in the same Neo4j database. Both run on every question — answers shown side by side.</a:t>
            </a:r>
            <a:endParaRPr lang="en-US" sz="11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5259462-63C3-8A8E-20DF-83E3C1242E4F}"/>
              </a:ext>
            </a:extLst>
          </p:cNvPr>
          <p:cNvGrpSpPr/>
          <p:nvPr/>
        </p:nvGrpSpPr>
        <p:grpSpPr>
          <a:xfrm>
            <a:off x="5251762" y="3931920"/>
            <a:ext cx="2926080" cy="438912"/>
            <a:chOff x="1645920" y="3931920"/>
            <a:chExt cx="2926080" cy="438912"/>
          </a:xfrm>
        </p:grpSpPr>
        <p:sp>
          <p:nvSpPr>
            <p:cNvPr id="30" name="Shape 9">
              <a:extLst>
                <a:ext uri="{FF2B5EF4-FFF2-40B4-BE49-F238E27FC236}">
                  <a16:creationId xmlns:a16="http://schemas.microsoft.com/office/drawing/2014/main" id="{14493F09-444A-8F95-66B6-CF2058506841}"/>
                </a:ext>
              </a:extLst>
            </p:cNvPr>
            <p:cNvSpPr/>
            <p:nvPr/>
          </p:nvSpPr>
          <p:spPr>
            <a:xfrm>
              <a:off x="1645920" y="393192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10">
              <a:extLst>
                <a:ext uri="{FF2B5EF4-FFF2-40B4-BE49-F238E27FC236}">
                  <a16:creationId xmlns:a16="http://schemas.microsoft.com/office/drawing/2014/main" id="{26B29559-46C4-DCEA-A1CF-DF058A79B019}"/>
                </a:ext>
              </a:extLst>
            </p:cNvPr>
            <p:cNvSpPr/>
            <p:nvPr/>
          </p:nvSpPr>
          <p:spPr>
            <a:xfrm>
              <a:off x="1645920" y="393192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Answer</a:t>
              </a:r>
              <a:endParaRPr lang="en-US" sz="1300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D8DCAD9-0DC7-2392-FD6A-EFE9C3223F15}"/>
              </a:ext>
            </a:extLst>
          </p:cNvPr>
          <p:cNvGrpSpPr/>
          <p:nvPr/>
        </p:nvGrpSpPr>
        <p:grpSpPr>
          <a:xfrm>
            <a:off x="5251762" y="3291840"/>
            <a:ext cx="2926080" cy="438912"/>
            <a:chOff x="1645920" y="3246120"/>
            <a:chExt cx="2926080" cy="438912"/>
          </a:xfrm>
        </p:grpSpPr>
        <p:sp>
          <p:nvSpPr>
            <p:cNvPr id="34" name="Shape 7">
              <a:extLst>
                <a:ext uri="{FF2B5EF4-FFF2-40B4-BE49-F238E27FC236}">
                  <a16:creationId xmlns:a16="http://schemas.microsoft.com/office/drawing/2014/main" id="{8F8CA770-422A-540B-9D39-4CC865C566C0}"/>
                </a:ext>
              </a:extLst>
            </p:cNvPr>
            <p:cNvSpPr/>
            <p:nvPr/>
          </p:nvSpPr>
          <p:spPr>
            <a:xfrm>
              <a:off x="1645920" y="324612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8">
              <a:extLst>
                <a:ext uri="{FF2B5EF4-FFF2-40B4-BE49-F238E27FC236}">
                  <a16:creationId xmlns:a16="http://schemas.microsoft.com/office/drawing/2014/main" id="{7D2B6D60-7ABD-B72F-79FB-C2B167EB8E08}"/>
                </a:ext>
              </a:extLst>
            </p:cNvPr>
            <p:cNvSpPr/>
            <p:nvPr/>
          </p:nvSpPr>
          <p:spPr>
            <a:xfrm>
              <a:off x="1645920" y="324612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LLM + Context</a:t>
              </a:r>
              <a:endParaRPr lang="en-US" sz="1300" dirty="0"/>
            </a:p>
          </p:txBody>
        </p:sp>
      </p:grpSp>
      <p:sp>
        <p:nvSpPr>
          <p:cNvPr id="39" name="Shape 12">
            <a:extLst>
              <a:ext uri="{FF2B5EF4-FFF2-40B4-BE49-F238E27FC236}">
                <a16:creationId xmlns:a16="http://schemas.microsoft.com/office/drawing/2014/main" id="{C4883EC6-30DC-7E78-9427-CF3D3DFC681C}"/>
              </a:ext>
            </a:extLst>
          </p:cNvPr>
          <p:cNvSpPr/>
          <p:nvPr/>
        </p:nvSpPr>
        <p:spPr>
          <a:xfrm>
            <a:off x="6714802" y="3730752"/>
            <a:ext cx="0" cy="201168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3780924-4BB0-9238-252B-1BE7C5990392}"/>
              </a:ext>
            </a:extLst>
          </p:cNvPr>
          <p:cNvCxnSpPr>
            <a:stCxn id="19" idx="2"/>
            <a:endCxn id="35" idx="0"/>
          </p:cNvCxnSpPr>
          <p:nvPr/>
        </p:nvCxnSpPr>
        <p:spPr>
          <a:xfrm>
            <a:off x="6714802" y="2566951"/>
            <a:ext cx="0" cy="724889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83CED2A9-F375-DB10-B4D8-363DD7C4A462}"/>
              </a:ext>
            </a:extLst>
          </p:cNvPr>
          <p:cNvCxnSpPr>
            <a:cxnSpLocks/>
            <a:stCxn id="4" idx="2"/>
            <a:endCxn id="17" idx="0"/>
          </p:cNvCxnSpPr>
          <p:nvPr/>
        </p:nvCxnSpPr>
        <p:spPr>
          <a:xfrm rot="16200000" flipH="1">
            <a:off x="5475219" y="630730"/>
            <a:ext cx="566402" cy="1912764"/>
          </a:xfrm>
          <a:prstGeom prst="bentConnector3">
            <a:avLst/>
          </a:prstGeom>
          <a:noFill/>
          <a:ln w="19050">
            <a:solidFill>
              <a:srgbClr val="7A8FA6"/>
            </a:solidFill>
            <a:prstDash val="solid"/>
          </a:ln>
        </p:spPr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6BF688B-1D6A-A1A8-9D0D-4BBB587F2987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5400000">
            <a:off x="3548652" y="616927"/>
            <a:ext cx="566402" cy="1940371"/>
          </a:xfrm>
          <a:prstGeom prst="bentConnector3">
            <a:avLst>
              <a:gd name="adj1" fmla="val 50000"/>
            </a:avLst>
          </a:prstGeom>
          <a:noFill/>
          <a:ln w="19050">
            <a:solidFill>
              <a:srgbClr val="7A8FA6"/>
            </a:solidFill>
            <a:prstDash val="soli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9342F-2059-3102-D968-8A03B3BE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2735822-8E24-AFAD-30C4-4697C179F6C8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The Journals of Lewis and Clark</a:t>
            </a:r>
            <a:endParaRPr lang="en-US" sz="26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30CFAAC-FAB6-2AFA-2F41-61CB825A7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844" y="1083737"/>
            <a:ext cx="4562312" cy="356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522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the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78408" y="9601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514600" y="960120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by journal entry, embed, load Chunk nodes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15453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514600" y="1545336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entity + relationship extraction per chunk 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57984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" y="2157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78408" y="213055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Disambiguate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14600" y="2130552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Two-pass LLM merge of CLARK / CAPTAIN CLARK / WILLIAM CLARK → one node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78408" y="271576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514600" y="2715768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GBIF taxonomy lookups · Sacagawea reference matching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328416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5720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8408" y="3300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514600" y="3300984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generic place names (:GenericLocation) so queries return real places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749808"/>
          </a:xfrm>
          <a:prstGeom prst="rect">
            <a:avLst/>
          </a:prstGeom>
          <a:solidFill>
            <a:srgbClr val="0A2A18"/>
          </a:solidFill>
          <a:ln w="19050">
            <a:solidFill>
              <a:srgbClr val="00CC7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4252392"/>
            <a:ext cx="78638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corpus this size: 2–3 days.  </a:t>
            </a:r>
            <a:b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chunked+embedded corpus: ~2 days to add the graph layer.</a:t>
            </a:r>
            <a:endParaRPr lang="en-US" sz="1500" dirty="0"/>
          </a:p>
          <a:p>
            <a:pPr marL="0" indent="0" algn="ctr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Lewis &amp; Clark knowledge graph</a:t>
            </a:r>
            <a:endParaRPr lang="en-US" sz="2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1FA69ED-1301-54DD-6971-6C092B13F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58" y="927862"/>
            <a:ext cx="6451910" cy="39870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91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</a:rPr>
              <a:t>The graph is an editable artifact</a:t>
            </a:r>
          </a:p>
        </p:txBody>
      </p:sp>
      <p:sp>
        <p:nvSpPr>
          <p:cNvPr id="3" name="LeftBG"/>
          <p:cNvSpPr/>
          <p:nvPr/>
        </p:nvSpPr>
        <p:spPr>
          <a:xfrm>
            <a:off x="457200" y="822960"/>
            <a:ext cx="3749040" cy="1280160"/>
          </a:xfrm>
          <a:prstGeom prst="rect">
            <a:avLst/>
          </a:prstGeom>
          <a:solidFill>
            <a:srgbClr val="0A1520"/>
          </a:solidFill>
          <a:ln w="12700">
            <a:solidFill>
              <a:srgbClr val="1E345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LeftText"/>
          <p:cNvSpPr/>
          <p:nvPr/>
        </p:nvSpPr>
        <p:spPr>
          <a:xfrm>
            <a:off x="548640" y="868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</a:rPr>
              <a:t>Vector store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</a:rPr>
              <a:t>Knowledge locked in floating-point vectors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</a:rPr>
              <a:t>Wrong inference? Re-embed the whole corpus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</a:rPr>
              <a:t>No correction surface for domain experts</a:t>
            </a:r>
          </a:p>
        </p:txBody>
      </p:sp>
      <p:sp>
        <p:nvSpPr>
          <p:cNvPr id="5" name="RightBG"/>
          <p:cNvSpPr/>
          <p:nvPr/>
        </p:nvSpPr>
        <p:spPr>
          <a:xfrm>
            <a:off x="4937760" y="822960"/>
            <a:ext cx="3749040" cy="1280160"/>
          </a:xfrm>
          <a:prstGeom prst="rect">
            <a:avLst/>
          </a:prstGeom>
          <a:solidFill>
            <a:srgbClr val="051828"/>
          </a:solidFill>
          <a:ln w="12700">
            <a:solidFill>
              <a:srgbClr val="018B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ightText"/>
          <p:cNvSpPr/>
          <p:nvPr/>
        </p:nvSpPr>
        <p:spPr>
          <a:xfrm>
            <a:off x="5029200" y="868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18BFF"/>
                </a:solidFill>
                <a:latin typeface="Calibri" pitchFamily="34" charset="0"/>
              </a:rPr>
              <a:t>Knowledge graph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F2F3F3"/>
                </a:solidFill>
                <a:latin typeface="Calibri" pitchFamily="34" charset="0"/>
              </a:rPr>
              <a:t>Every node and relationship is visible and queryable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F2F3F3"/>
                </a:solidFill>
                <a:latin typeface="Calibri" pitchFamily="34" charset="0"/>
              </a:rPr>
              <a:t>Domain experts can validate and patch extracted knowledge</a:t>
            </a:r>
          </a:p>
        </p:txBody>
      </p:sp>
      <p:sp>
        <p:nvSpPr>
          <p:cNvPr id="7" name="SacHeader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8EDF2"/>
                </a:solidFill>
                <a:latin typeface="Calibri" pitchFamily="34" charset="0"/>
              </a:rPr>
              <a:t>Example: Sacagawea</a:t>
            </a:r>
            <a:r>
              <a:rPr lang="en-US" sz="1400" dirty="0">
                <a:solidFill>
                  <a:srgbClr val="7A8FA6"/>
                </a:solidFill>
                <a:latin typeface="Calibri" pitchFamily="34" charset="0"/>
              </a:rPr>
              <a:t>  — rarely named directly in the journals</a:t>
            </a:r>
          </a:p>
        </p:txBody>
      </p:sp>
      <p:sp>
        <p:nvSpPr>
          <p:cNvPr id="8" name="Aliases"/>
          <p:cNvSpPr/>
          <p:nvPr/>
        </p:nvSpPr>
        <p:spPr>
          <a:xfrm>
            <a:off x="457200" y="265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Clark calls her: </a:t>
            </a:r>
            <a:r>
              <a:rPr lang="en-US" sz="1200" i="1" dirty="0">
                <a:solidFill>
                  <a:srgbClr val="E8EDF2"/>
                </a:solidFill>
                <a:latin typeface="Calibri" pitchFamily="34" charset="0"/>
              </a:rPr>
              <a:t>“Janey”</a:t>
            </a: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  ·  </a:t>
            </a:r>
            <a:r>
              <a:rPr lang="en-US" sz="1200" i="1" dirty="0">
                <a:solidFill>
                  <a:srgbClr val="E8EDF2"/>
                </a:solidFill>
                <a:latin typeface="Calibri" pitchFamily="34" charset="0"/>
              </a:rPr>
              <a:t>“the interpreter’s wife”</a:t>
            </a: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  ·  </a:t>
            </a:r>
            <a:r>
              <a:rPr lang="en-US" sz="1200" i="1" dirty="0">
                <a:solidFill>
                  <a:srgbClr val="E8EDF2"/>
                </a:solidFill>
                <a:latin typeface="Calibri" pitchFamily="34" charset="0"/>
              </a:rPr>
              <a:t>“the Indian woman”</a:t>
            </a: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  ·  </a:t>
            </a:r>
            <a:r>
              <a:rPr lang="en-US" sz="1200" i="1" dirty="0">
                <a:solidFill>
                  <a:srgbClr val="E8EDF2"/>
                </a:solidFill>
                <a:latin typeface="Calibri" pitchFamily="34" charset="0"/>
              </a:rPr>
              <a:t>“Sah-kah-gar-we-a”</a:t>
            </a:r>
          </a:p>
        </p:txBody>
      </p:sp>
      <p:sp>
        <p:nvSpPr>
          <p:cNvPr id="9" name="CurationExplanation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A curated annotation list (lewis-clark.org) identifies which passages she appears in, even when unnamed. </a:t>
            </a:r>
            <a:br>
              <a:rPr lang="en-US" sz="1200" dirty="0">
                <a:solidFill>
                  <a:srgbClr val="7A8FA6"/>
                </a:solidFill>
                <a:latin typeface="Calibri" pitchFamily="34" charset="0"/>
              </a:rPr>
            </a:br>
            <a:r>
              <a:rPr lang="en-US" sz="1200" b="1" dirty="0">
                <a:solidFill>
                  <a:srgbClr val="E8EDF2"/>
                </a:solidFill>
                <a:latin typeface="Calibri" pitchFamily="34" charset="0"/>
              </a:rPr>
              <a:t>One canonical Person node</a:t>
            </a: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 links every alias and every relevant chunk. </a:t>
            </a:r>
            <a:br>
              <a:rPr lang="en-US" sz="1200" dirty="0">
                <a:solidFill>
                  <a:srgbClr val="7A8FA6"/>
                </a:solidFill>
                <a:latin typeface="Calibri" pitchFamily="34" charset="0"/>
              </a:rPr>
            </a:b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Her INTERPRETED_FOR and GUIDED relationships are extractable. Every query resolves to the same node.</a:t>
            </a:r>
          </a:p>
        </p:txBody>
      </p:sp>
      <p:sp>
        <p:nvSpPr>
          <p:cNvPr id="10" name="Callout"/>
          <p:cNvSpPr/>
          <p:nvPr/>
        </p:nvSpPr>
        <p:spPr>
          <a:xfrm>
            <a:off x="457200" y="3749040"/>
            <a:ext cx="8229600" cy="749808"/>
          </a:xfrm>
          <a:prstGeom prst="rect">
            <a:avLst/>
          </a:prstGeom>
          <a:solidFill>
            <a:srgbClr val="0A2A18"/>
          </a:solidFill>
          <a:ln w="19050">
            <a:solidFill>
              <a:srgbClr val="00CC7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CalloutText"/>
          <p:cNvSpPr/>
          <p:nvPr/>
        </p:nvSpPr>
        <p:spPr>
          <a:xfrm>
            <a:off x="640080" y="3795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CC76"/>
                </a:solidFill>
                <a:latin typeface="Calibri" pitchFamily="34" charset="0"/>
              </a:rPr>
              <a:t>The LLM does the bulk extraction. 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</a:rPr>
              <a:t>Domain experts patch what the model can’t know.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280160"/>
          </a:xfrm>
          <a:prstGeom prst="rect">
            <a:avLst/>
          </a:prstGeom>
          <a:solidFill>
            <a:srgbClr val="152235"/>
          </a:solidFill>
          <a:ln w="12700">
            <a:solidFill>
              <a:srgbClr val="152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look at the graph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280160"/>
          </a:xfrm>
          <a:prstGeom prst="rect">
            <a:avLst/>
          </a:prstGeom>
          <a:solidFill>
            <a:srgbClr val="152235"/>
          </a:solidFill>
          <a:ln w="12700">
            <a:solidFill>
              <a:srgbClr val="152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&amp; Clark GraphRAG  ·  localhost:3000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Side-by-side: Vector RAG  |  Graph RAG  —  both run on every question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</a:t>
            </a:r>
            <a:r>
              <a:rPr lang="en-US" sz="2600" b="1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property graph </a:t>
            </a: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that SQL does awkwardly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01499"/>
            <a:ext cx="347472" cy="347472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130149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9264" y="1264923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Variable-depth traversal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94760" y="1264923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[:BELONGS_TO*] is one token. SQL needs WITH RECURSIVE — awkward, rarely optimized, requires a known max depth.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78155"/>
            <a:ext cx="347472" cy="347472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97815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9264" y="1941579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Schema-free relationships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94760" y="1941579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relationship type in Neo4j: just write it. In SQL: new junction table, migration, foreign keys everywhere.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54811"/>
            <a:ext cx="347472" cy="347472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" y="265481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" y="2618235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at scale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94760" y="2618235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SQL JOIN compounds in cost. Graph traversal is O(1) per hop — relationships stored as direct pointers.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31467"/>
            <a:ext cx="347472" cy="347472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" y="333146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9264" y="3294891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Text-to-query accuracy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94760" y="3294891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(Lewis)-[:OBSERVED]-&gt;(Bear) reads like English. A recursive CTE does not. LLMs generate correct Cypher more reliably on complex queries that matter.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your use case a good fit?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2788920"/>
          </a:xfrm>
          <a:prstGeom prst="rect">
            <a:avLst/>
          </a:prstGeom>
          <a:solidFill>
            <a:srgbClr val="0A2A18"/>
          </a:solidFill>
          <a:ln w="19050">
            <a:solidFill>
              <a:srgbClr val="00CC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02412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 ✓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require traversal, not just retrieval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entity named differently across documents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or sequence is essential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completeness, not just similarity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09160" y="960120"/>
            <a:ext cx="3977640" cy="27889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46320" y="102412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Probably overkill 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6304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questions are factual lookups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is small (&lt; a few hundred docs)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meaningful entities or relationships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prototype by Friday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152235"/>
          </a:solidFill>
          <a:ln w="1905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04164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does my user need to know that isn't in any single document?"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home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07008"/>
            <a:ext cx="457200" cy="45720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143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83280" y="10972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store connections explicitly. Vectors find similarity.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replaces the other.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457200" cy="45720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19842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cost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1938528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graph layer to an existing RAG pipeline is 1–3 days, not a rewrite.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extraction step is the interesting hard problem.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889504"/>
            <a:ext cx="457200" cy="45720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7280" y="282549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signal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779776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answer lives in connections between documents rather than in documents themselves, a graph will pay for itself quickly.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822192"/>
            <a:ext cx="8229600" cy="0"/>
          </a:xfrm>
          <a:prstGeom prst="line">
            <a:avLst/>
          </a:prstGeom>
          <a:noFill/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341" y="4206240"/>
            <a:ext cx="6568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</a:t>
            </a:r>
            <a:r>
              <a:rPr lang="en-US" sz="1600" b="1" dirty="0" err="1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600" b="1" dirty="0" err="1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smithna</a:t>
            </a: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/corps-of-discovery-graph-rag ]</a:t>
            </a:r>
            <a:endParaRPr lang="en-US" sz="16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1106354-93BB-5D3F-1EFA-F8C281605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700" y="4046220"/>
            <a:ext cx="914709" cy="88914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280160"/>
          </a:xfrm>
          <a:prstGeom prst="rect">
            <a:avLst/>
          </a:prstGeom>
          <a:solidFill>
            <a:srgbClr val="152235"/>
          </a:solidFill>
          <a:ln w="12700">
            <a:solidFill>
              <a:srgbClr val="152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Further Reading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3886200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graphrag.com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4813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guides, how-to walkthroughs, and the full research bibliography.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10312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— What is GraphRAG? What is a knowledge graph?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How-to Guides — data prep through retrieval techniques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Appendix — 17+ papers with summaries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3886200"/>
          </a:xfrm>
          <a:prstGeom prst="rect">
            <a:avLst/>
          </a:prstGeom>
          <a:solidFill>
            <a:srgbClr val="152235"/>
          </a:solidFill>
          <a:ln w="12700">
            <a:solidFill>
              <a:srgbClr val="00CC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arrows.app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46320" y="14813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browser-based graph data modeler from Neo4j.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2103120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your graph schema before writing any code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node types, relationship types, and properties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your model as Cypher CREATE statements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diagrams with your team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3977640"/>
            <a:ext cx="3977640" cy="594360"/>
          </a:xfrm>
          <a:prstGeom prst="rect">
            <a:avLst/>
          </a:prstGeom>
          <a:solidFill>
            <a:srgbClr val="0A2A18"/>
          </a:solidFill>
          <a:ln w="12700">
            <a:solidFill>
              <a:srgbClr val="00CC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28032" y="4014216"/>
            <a:ext cx="373989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tip: model your graph in arrows.app before writing your extraction prompt. A clear schema = better LLM extraction.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backing the hybrid approach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9728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64008" cy="109728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05156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HybridRAG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75120" y="1078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2408.04948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47218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 measures the improvement of combining graph and vector retrieval. The closest paper to what this demo shows.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21992"/>
            <a:ext cx="8229600" cy="109728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64008" cy="109728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1343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Local to Global: A Graph RAG Approach to Query-Focused Summarization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23408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2404.16130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27340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Research. Graph structure enables global summarization queries that vector search fundamentally cannot answer.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83864"/>
            <a:ext cx="8229600" cy="109728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483864"/>
            <a:ext cx="64008" cy="109728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57530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Graphs on Enterprise SQL Databases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36027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2311.07509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" y="3995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evidence that KGs improve LLM accuracy even when structured SQL data is already available. Direct answer to the Postgres question.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bibliography at  graphrag.com/appendices/research/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21792" y="103327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RAG: A Survey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675120" y="1051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2408.08921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1792" y="139903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of the whole landscape. Start here to understand the full taxonomy of GraphRAG approaches.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21792" y="199339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HybGRAG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011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2412.16311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235915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Specifically addresses queries spanning both unstructured text and relational knowledge — the toggle this demo demonstrates.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82296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2953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QA with Knowledge Graphs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718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2404.17723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" y="331927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use case. Relatable for teams building internal tooling.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" y="391363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Think-on-Graph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2307.07697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" y="427939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reasoning over graphs — the next step beyond graph-enriched context.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736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links and summaries at  graphrag.com/appendices/research/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2647</TotalTime>
  <Words>1225</Words>
  <Application>Microsoft Macintosh PowerPoint</Application>
  <PresentationFormat>On-screen Show (16:9)</PresentationFormat>
  <Paragraphs>197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Has a Relationship Problem</dc:title>
  <dc:subject>PptxGenJS Presentation</dc:subject>
  <dc:creator>Nathan Smith</dc:creator>
  <cp:lastModifiedBy>Nathan Smith</cp:lastModifiedBy>
  <cp:revision>6</cp:revision>
  <dcterms:created xsi:type="dcterms:W3CDTF">2026-05-25T15:16:01Z</dcterms:created>
  <dcterms:modified xsi:type="dcterms:W3CDTF">2026-05-29T12:39:58Z</dcterms:modified>
</cp:coreProperties>
</file>