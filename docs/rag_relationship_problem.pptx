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slides/slide21.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76" r:id="rId27"/>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7" Type="http://schemas.openxmlformats.org/officeDocument/2006/relationships/slide" Target="slides/slide21.xml"/></Relationships>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No prior graph experience needed. We'll start from zero on graph concepts, see a live demo, and end with a framework for deciding whether your use case is a good fit.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aren't hypotheticals — all three have happened in production systems. The common thread: the retrieval system found relevant content, but missed relevant connections. Ask the audience if any of these sound familiar. Pause before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this land. Wait a beat. The goal is for people to nod — they've felt this. Then: "We're going to look at what happens when you give your retrieval pipeline connective tissue."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prior graph experience required. If you know what a row in a database is, you know what a node is. If you know what a foreign key is, you know what a relationship is. The difference is that relationships are first-class citizens — stored with the data, not computed at query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Meet the audience where they are. The analogy holds up well for core concepts. Where graphs earn their keep — variable-depth traversal, schema flexibility during extraction, and text-to-query accuracy — we'll get to all of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insight: the Chunk nodes that hold your text and embeddings are also nodes in the graph. The same database serves both the vector index and the graph traversal. You're not maintaining two separate systems — you're adding a graph layer on top of what you'd build anyway for vector RAG.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graph was built entirely from raw journal text — no manual annotation. An LLM extracted entity mentions and relationships from each chunk. Hardest steps: disambiguation (CLARK, CAPTAIN CLARK, WILLIAM CLARK → one node) and extraction quality control (added schema enforcement to reject invalid relationship types).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The audience will respect specifics over hand-waving. Extraction is the expensive step — but gpt-4o-mini at $8 for a 700K-word corpus is cheap. Disambiguation is the intellectually interesting step — the LLM is remarkably good at it with the right prompt. All code is in the repo.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BLOOM WALKTHROUGH — keep to 2–3 minutes.
1. Start at Meriwether Lewis. Expand one hop. Every edge has a label — not just "connected to," but OBSERVED, CAMPED_AT, MET_WITH. The label is the meaning.
2. Click an AnimalSpecies node. Expand BELONGS_TO chain. Taxonomy tree appears: species → genus → family → order. This is the hierarchy the chatbot will query in a moment.
3. Zoom out to show a place cluster — multiple Person nodes connected to the same Place via CAMPED_AT. Invisible in a list of documents.
Goal: one "oh, that's what a knowledge graph looks like" moment. Don't linger. Move to the demo as soon as they have the picture.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SCRIPT — four beats, ~10 minutes total.
BEAT 1 (1 min): "What did Lewis write about grizzly bears?" Toggle OFF then ON. Answer is similar either way — intentional. Show you're being honest: vector works fine for simple lookups.
BEAT 2 (3 min): "What species did Lewis observe near the Columbia River?" — see next slide.
BEAT 3 (3 min): "What places did the corps visit before Sergeant Floyd died?" — see following slide.
BEAT 4 (2 min): "What bird families did the expedition encounter?" — see following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difference isn't just answer quality — it's epistemic. With vector only, you have no way to know if the LLM missed something. With the graph, you can inspect OBSERVED relationships directly. The answer is grounded in evidence you can audit. This matters enormously in enterprise use cases where 'the AI said so' isn't good enough.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NEXT_CHUNK = document ordering. Any system that chunks documents throws away sequence. A graph stores it explicitly. Matters for process docs, legal filings, anything where "before/after X" is meaningful.
BELONGS_TO* = variable-depth hierarchy. The asterisk means "any number of hops." Try writing that in SQL without a recursive CTE. One clause in Cypher; an awkward WITH RECURSIVE in SQL.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asterisk in [:BELONGS_TO*] means 'follow this relationship type any number of times.' The graph doesn't need to know how deep the taxonomy goes — it just follows edges. In SQL you'd need a recursive CTE with a maximum depth. In Cypher it's one asterisk.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Pre-empt the skeptic. pgvector is excellent for metadata-filtered vector search — use it if that's all you need. The graph earns its keep when: queries need arbitrary-depth traversal, schema evolves during LLM extraction, and you need a natural-language query interface that generates correct queries on complex traversals. Points 1 and 4 compound: the queries hardest for text2SQL to generate correctly are exactly the queries hardest for SQL to express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bottom question is the one to write down. If the answer is 'nothing — each question can be answered by a single passage' — vector RAG is sufficient. If the answer involves aggregation, sequence, hierarchy, or cross-document entity identity, a graph will pay for itself quickly.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audience. Remind them the repo has every build script as a standalone Python file and the demo UI as a Next.js app. Encourage them to swap in their own corpus — the extraction pipeline is general-purpose. Questions welcome.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slides — use for Q&amp;A or share after the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graphrag.com is the canonical community resource — maintained independently, comprehensive research index, good beginner guides. arrows.app is a free tool from Neo4j that's become the standard for graph data modeling sketches. Model your schema in arrows.app before writing the LLM extraction prompt — a clear schema produces better extraction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HybridRAG (2408.04948) is the most directly relevant — cite it to justify this architecture. The Microsoft Local-to-Global paper (2404.16130) has the highest mainstream visibility. The SQL benchmark paper (2311.07509) is the empirical answer to Postgres skepticism.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papers represent different threads: survey (landscape overview), HybGRAG (hybrid retrieval), customer service (enterprise case study), Think-on-Graph (LLM-native graph reasoning). Good recommendations depending on what thread the audience member wants to pull.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164592" y="256032"/>
            <a:ext cx="402336" cy="402336"/>
          </a:xfrm>
          <a:prstGeom prst="ellipse">
            <a:avLst/>
          </a:prstGeom>
          <a:solidFill>
            <a:srgbClr val="018BFF">
              <a:alpha val="40000"/>
            </a:srgbClr>
          </a:solidFill>
          <a:ln w="19050">
            <a:solidFill>
              <a:srgbClr val="018BFF"/>
            </a:solidFill>
            <a:prstDash val="solid"/>
          </a:ln>
        </p:spPr>
      </p:sp>
      <p:sp>
        <p:nvSpPr>
          <p:cNvPr id="3" name="Shape 1"/>
          <p:cNvSpPr/>
          <p:nvPr/>
        </p:nvSpPr>
        <p:spPr>
          <a:xfrm>
            <a:off x="7900416" y="676656"/>
            <a:ext cx="292608" cy="292608"/>
          </a:xfrm>
          <a:prstGeom prst="ellipse">
            <a:avLst/>
          </a:prstGeom>
          <a:solidFill>
            <a:srgbClr val="00CC76">
              <a:alpha val="40000"/>
            </a:srgbClr>
          </a:solidFill>
          <a:ln w="19050">
            <a:solidFill>
              <a:srgbClr val="00CC76"/>
            </a:solidFill>
            <a:prstDash val="solid"/>
          </a:ln>
        </p:spPr>
      </p:sp>
      <p:sp>
        <p:nvSpPr>
          <p:cNvPr id="4" name="Shape 2"/>
          <p:cNvSpPr/>
          <p:nvPr/>
        </p:nvSpPr>
        <p:spPr>
          <a:xfrm>
            <a:off x="8229600" y="4206240"/>
            <a:ext cx="365760" cy="365760"/>
          </a:xfrm>
          <a:prstGeom prst="ellipse">
            <a:avLst/>
          </a:prstGeom>
          <a:solidFill>
            <a:srgbClr val="018BFF">
              <a:alpha val="40000"/>
            </a:srgbClr>
          </a:solidFill>
          <a:ln w="19050">
            <a:solidFill>
              <a:srgbClr val="018BFF"/>
            </a:solidFill>
            <a:prstDash val="solid"/>
          </a:ln>
        </p:spPr>
      </p:sp>
      <p:sp>
        <p:nvSpPr>
          <p:cNvPr id="5" name="Shape 3"/>
          <p:cNvSpPr/>
          <p:nvPr/>
        </p:nvSpPr>
        <p:spPr>
          <a:xfrm>
            <a:off x="420624" y="4352544"/>
            <a:ext cx="256032" cy="256032"/>
          </a:xfrm>
          <a:prstGeom prst="ellipse">
            <a:avLst/>
          </a:prstGeom>
          <a:solidFill>
            <a:srgbClr val="00CC76">
              <a:alpha val="40000"/>
            </a:srgbClr>
          </a:solidFill>
          <a:ln w="19050">
            <a:solidFill>
              <a:srgbClr val="00CC76"/>
            </a:solidFill>
            <a:prstDash val="solid"/>
          </a:ln>
        </p:spPr>
      </p:sp>
      <p:sp>
        <p:nvSpPr>
          <p:cNvPr id="6" name="Shape 4"/>
          <p:cNvSpPr/>
          <p:nvPr/>
        </p:nvSpPr>
        <p:spPr>
          <a:xfrm>
            <a:off x="4279392" y="164592"/>
            <a:ext cx="219456" cy="219456"/>
          </a:xfrm>
          <a:prstGeom prst="ellipse">
            <a:avLst/>
          </a:prstGeom>
          <a:solidFill>
            <a:srgbClr val="3A5068">
              <a:alpha val="40000"/>
            </a:srgbClr>
          </a:solidFill>
          <a:ln w="19050">
            <a:solidFill>
              <a:srgbClr val="3A5068"/>
            </a:solidFill>
            <a:prstDash val="solid"/>
          </a:ln>
        </p:spPr>
      </p:sp>
      <p:sp>
        <p:nvSpPr>
          <p:cNvPr id="7" name="Shape 5"/>
          <p:cNvSpPr/>
          <p:nvPr/>
        </p:nvSpPr>
        <p:spPr>
          <a:xfrm>
            <a:off x="1737360" y="4572000"/>
            <a:ext cx="182880" cy="182880"/>
          </a:xfrm>
          <a:prstGeom prst="ellipse">
            <a:avLst/>
          </a:prstGeom>
          <a:solidFill>
            <a:srgbClr val="3A5068">
              <a:alpha val="40000"/>
            </a:srgbClr>
          </a:solidFill>
          <a:ln w="19050">
            <a:solidFill>
              <a:srgbClr val="3A5068"/>
            </a:solidFill>
            <a:prstDash val="solid"/>
          </a:ln>
        </p:spPr>
      </p:sp>
      <p:sp>
        <p:nvSpPr>
          <p:cNvPr id="8" name="Text 6"/>
          <p:cNvSpPr/>
          <p:nvPr/>
        </p:nvSpPr>
        <p:spPr>
          <a:xfrm>
            <a:off x="548640" y="1280160"/>
            <a:ext cx="8046720" cy="822960"/>
          </a:xfrm>
          <a:prstGeom prst="rect">
            <a:avLst/>
          </a:prstGeom>
          <a:noFill/>
          <a:ln/>
        </p:spPr>
        <p:txBody>
          <a:bodyPr wrap="square" lIns="0" tIns="0" rIns="0" bIns="0" rtlCol="0" anchor="ctr"/>
          <a:lstStyle/>
          <a:p>
            <a:pPr algn="ctr" indent="0" marL="0">
              <a:buNone/>
            </a:pPr>
            <a:r>
              <a:rPr lang="en-US" sz="5200" b="1" dirty="0">
                <a:solidFill>
                  <a:srgbClr val="E8EDF2"/>
                </a:solidFill>
                <a:latin typeface="Calibri" pitchFamily="34" charset="0"/>
                <a:ea typeface="Calibri" pitchFamily="34" charset="-122"/>
                <a:cs typeface="Calibri" pitchFamily="34" charset="-120"/>
              </a:rPr>
              <a:t>RAG Has a</a:t>
            </a:r>
            <a:endParaRPr lang="en-US" sz="5200" dirty="0"/>
          </a:p>
        </p:txBody>
      </p:sp>
      <p:sp>
        <p:nvSpPr>
          <p:cNvPr id="9" name="Text 7"/>
          <p:cNvSpPr/>
          <p:nvPr/>
        </p:nvSpPr>
        <p:spPr>
          <a:xfrm>
            <a:off x="548640" y="2057400"/>
            <a:ext cx="8046720" cy="822960"/>
          </a:xfrm>
          <a:prstGeom prst="rect">
            <a:avLst/>
          </a:prstGeom>
          <a:noFill/>
          <a:ln/>
        </p:spPr>
        <p:txBody>
          <a:bodyPr wrap="square" lIns="0" tIns="0" rIns="0" bIns="0" rtlCol="0" anchor="ctr"/>
          <a:lstStyle/>
          <a:p>
            <a:pPr algn="ctr" indent="0" marL="0">
              <a:buNone/>
            </a:pPr>
            <a:r>
              <a:rPr lang="en-US" sz="5200" b="1" dirty="0">
                <a:solidFill>
                  <a:srgbClr val="018BFF"/>
                </a:solidFill>
                <a:latin typeface="Calibri" pitchFamily="34" charset="0"/>
                <a:ea typeface="Calibri" pitchFamily="34" charset="-122"/>
                <a:cs typeface="Calibri" pitchFamily="34" charset="-120"/>
              </a:rPr>
              <a:t>Relationship Problem</a:t>
            </a:r>
            <a:endParaRPr lang="en-US" sz="5200" dirty="0"/>
          </a:p>
        </p:txBody>
      </p:sp>
      <p:sp>
        <p:nvSpPr>
          <p:cNvPr id="10" name="Text 8"/>
          <p:cNvSpPr/>
          <p:nvPr/>
        </p:nvSpPr>
        <p:spPr>
          <a:xfrm>
            <a:off x="548640" y="3154680"/>
            <a:ext cx="8046720" cy="365760"/>
          </a:xfrm>
          <a:prstGeom prst="rect">
            <a:avLst/>
          </a:prstGeom>
          <a:noFill/>
          <a:ln/>
        </p:spPr>
        <p:txBody>
          <a:bodyPr wrap="square" lIns="0" tIns="0" rIns="0" bIns="0" rtlCol="0" anchor="ctr"/>
          <a:lstStyle/>
          <a:p>
            <a:pPr algn="ctr" indent="0" marL="0">
              <a:buNone/>
            </a:pPr>
            <a:r>
              <a:rPr lang="en-US" sz="1700" dirty="0">
                <a:solidFill>
                  <a:srgbClr val="7A8FA6"/>
                </a:solidFill>
                <a:latin typeface="Calibri" pitchFamily="34" charset="0"/>
                <a:ea typeface="Calibri" pitchFamily="34" charset="-122"/>
                <a:cs typeface="Calibri" pitchFamily="34" charset="-120"/>
              </a:rPr>
              <a:t>Nathan Smith  ·  Neo4j  ·  Community Days KC</a:t>
            </a:r>
            <a:endParaRPr lang="en-US" sz="1700" dirty="0"/>
          </a:p>
        </p:txBody>
      </p:sp>
      <p:sp>
        <p:nvSpPr>
          <p:cNvPr id="11" name="Text 9"/>
          <p:cNvSpPr/>
          <p:nvPr/>
        </p:nvSpPr>
        <p:spPr>
          <a:xfrm>
            <a:off x="548640" y="4572000"/>
            <a:ext cx="8046720" cy="274320"/>
          </a:xfrm>
          <a:prstGeom prst="rect">
            <a:avLst/>
          </a:prstGeom>
          <a:noFill/>
          <a:ln/>
        </p:spPr>
        <p:txBody>
          <a:bodyPr wrap="square" lIns="0" tIns="0" rIns="0" bIns="0" rtlCol="0" anchor="ctr"/>
          <a:lstStyle/>
          <a:p>
            <a:pPr algn="ctr" indent="0" marL="0">
              <a:buNone/>
            </a:pPr>
            <a:r>
              <a:rPr lang="en-US" sz="1200" dirty="0">
                <a:solidFill>
                  <a:srgbClr val="018BFF"/>
                </a:solidFill>
                <a:latin typeface="Calibri" pitchFamily="34" charset="0"/>
                <a:ea typeface="Calibri" pitchFamily="34" charset="-122"/>
                <a:cs typeface="Calibri" pitchFamily="34" charset="-120"/>
              </a:rPr>
              <a:t>30-minute session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457200" y="228600"/>
            <a:ext cx="8229600" cy="502920"/>
          </a:xfrm>
          <a:prstGeom prst="rect">
            <a:avLst/>
          </a:prstGeom>
          <a:noFill/>
          <a:ln/>
        </p:spPr>
        <p:txBody>
          <a:bodyPr wrap="square" lIns="0" tIns="0" rIns="0" bIns="0" rtlCol="0" anchor="ctr"/>
          <a:lstStyle/>
          <a:p>
            <a:pPr algn="l" indent="0" marL="0">
              <a:buNone/>
            </a:pPr>
            <a:r>
              <a:rPr lang="en-US" sz="2600" b="1" dirty="0">
                <a:solidFill>
                  <a:srgbClr val="018BFF"/>
                </a:solidFill>
                <a:latin typeface="Calibri" pitchFamily="34" charset="0"/>
                <a:ea typeface="Calibri" pitchFamily="34" charset="-122"/>
                <a:cs typeface="Calibri" pitchFamily="34" charset="-120"/>
              </a:rPr>
              <a:t>You've built a RAG pipeline. It mostly works.</a:t>
            </a:r>
            <a:endParaRPr lang="en-US" sz="2600" dirty="0"/>
          </a:p>
        </p:txBody>
      </p:sp>
      <p:sp>
        <p:nvSpPr>
          <p:cNvPr id="3" name="Shape 1"/>
          <p:cNvSpPr/>
          <p:nvPr/>
        </p:nvSpPr>
        <p:spPr>
          <a:xfrm>
            <a:off x="457200" y="960120"/>
            <a:ext cx="8229600" cy="960120"/>
          </a:xfrm>
          <a:prstGeom prst="rect">
            <a:avLst/>
          </a:prstGeom>
          <a:solidFill>
            <a:srgbClr val="152235"/>
          </a:solidFill>
          <a:ln w="12700">
            <a:solidFill>
              <a:srgbClr val="3A5068"/>
            </a:solidFill>
            <a:prstDash val="solid"/>
          </a:ln>
        </p:spPr>
      </p:sp>
      <p:sp>
        <p:nvSpPr>
          <p:cNvPr id="4" name="Shape 2"/>
          <p:cNvSpPr/>
          <p:nvPr/>
        </p:nvSpPr>
        <p:spPr>
          <a:xfrm>
            <a:off x="457200" y="960120"/>
            <a:ext cx="64008" cy="960120"/>
          </a:xfrm>
          <a:prstGeom prst="rect">
            <a:avLst/>
          </a:prstGeom>
          <a:solidFill>
            <a:srgbClr val="018BFF"/>
          </a:solidFill>
          <a:ln w="12700">
            <a:solidFill>
              <a:srgbClr val="018BFF"/>
            </a:solidFill>
            <a:prstDash val="solid"/>
          </a:ln>
        </p:spPr>
      </p:sp>
      <p:sp>
        <p:nvSpPr>
          <p:cNvPr id="5" name="Text 3"/>
          <p:cNvSpPr/>
          <p:nvPr/>
        </p:nvSpPr>
        <p:spPr>
          <a:xfrm>
            <a:off x="685800" y="1051560"/>
            <a:ext cx="2286000" cy="320040"/>
          </a:xfrm>
          <a:prstGeom prst="rect">
            <a:avLst/>
          </a:prstGeom>
          <a:noFill/>
          <a:ln/>
        </p:spPr>
        <p:txBody>
          <a:bodyPr wrap="square" lIns="0" tIns="0" rIns="0" bIns="0" rtlCol="0" anchor="ctr"/>
          <a:lstStyle/>
          <a:p>
            <a:pPr algn="l" indent="0" marL="0">
              <a:buNone/>
            </a:pPr>
            <a:r>
              <a:rPr lang="en-US" sz="1500" b="1" dirty="0">
                <a:solidFill>
                  <a:srgbClr val="018BFF"/>
                </a:solidFill>
                <a:latin typeface="Calibri" pitchFamily="34" charset="0"/>
                <a:ea typeface="Calibri" pitchFamily="34" charset="-122"/>
                <a:cs typeface="Calibri" pitchFamily="34" charset="-120"/>
              </a:rPr>
              <a:t>Legal AI</a:t>
            </a:r>
            <a:endParaRPr lang="en-US" sz="1500" dirty="0"/>
          </a:p>
        </p:txBody>
      </p:sp>
      <p:sp>
        <p:nvSpPr>
          <p:cNvPr id="6" name="Text 4"/>
          <p:cNvSpPr/>
          <p:nvPr/>
        </p:nvSpPr>
        <p:spPr>
          <a:xfrm>
            <a:off x="685800" y="1399032"/>
            <a:ext cx="7772400" cy="411480"/>
          </a:xfrm>
          <a:prstGeom prst="rect">
            <a:avLst/>
          </a:prstGeom>
          <a:noFill/>
          <a:ln/>
        </p:spPr>
        <p:txBody>
          <a:bodyPr wrap="square" lIns="0" tIns="0" rIns="0" bIns="0" rtlCol="0" anchor="t"/>
          <a:lstStyle/>
          <a:p>
            <a:pPr algn="l" indent="0" marL="0">
              <a:buNone/>
            </a:pPr>
            <a:r>
              <a:rPr lang="en-US" sz="1500" dirty="0">
                <a:solidFill>
                  <a:srgbClr val="E8EDF2"/>
                </a:solidFill>
                <a:latin typeface="Calibri" pitchFamily="34" charset="0"/>
                <a:ea typeface="Calibri" pitchFamily="34" charset="-122"/>
                <a:cs typeface="Calibri" pitchFamily="34" charset="-120"/>
              </a:rPr>
              <a:t>Cites a superseded policy — both versions scored high for the query</a:t>
            </a:r>
            <a:endParaRPr lang="en-US" sz="1500" dirty="0"/>
          </a:p>
        </p:txBody>
      </p:sp>
      <p:sp>
        <p:nvSpPr>
          <p:cNvPr id="7" name="Shape 5"/>
          <p:cNvSpPr/>
          <p:nvPr/>
        </p:nvSpPr>
        <p:spPr>
          <a:xfrm>
            <a:off x="457200" y="2148840"/>
            <a:ext cx="8229600" cy="960120"/>
          </a:xfrm>
          <a:prstGeom prst="rect">
            <a:avLst/>
          </a:prstGeom>
          <a:solidFill>
            <a:srgbClr val="152235"/>
          </a:solidFill>
          <a:ln w="12700">
            <a:solidFill>
              <a:srgbClr val="3A5068"/>
            </a:solidFill>
            <a:prstDash val="solid"/>
          </a:ln>
        </p:spPr>
      </p:sp>
      <p:sp>
        <p:nvSpPr>
          <p:cNvPr id="8" name="Shape 6"/>
          <p:cNvSpPr/>
          <p:nvPr/>
        </p:nvSpPr>
        <p:spPr>
          <a:xfrm>
            <a:off x="457200" y="2148840"/>
            <a:ext cx="64008" cy="960120"/>
          </a:xfrm>
          <a:prstGeom prst="rect">
            <a:avLst/>
          </a:prstGeom>
          <a:solidFill>
            <a:srgbClr val="018BFF"/>
          </a:solidFill>
          <a:ln w="12700">
            <a:solidFill>
              <a:srgbClr val="018BFF"/>
            </a:solidFill>
            <a:prstDash val="solid"/>
          </a:ln>
        </p:spPr>
      </p:sp>
      <p:sp>
        <p:nvSpPr>
          <p:cNvPr id="9" name="Text 7"/>
          <p:cNvSpPr/>
          <p:nvPr/>
        </p:nvSpPr>
        <p:spPr>
          <a:xfrm>
            <a:off x="685800" y="2240280"/>
            <a:ext cx="2286000" cy="320040"/>
          </a:xfrm>
          <a:prstGeom prst="rect">
            <a:avLst/>
          </a:prstGeom>
          <a:noFill/>
          <a:ln/>
        </p:spPr>
        <p:txBody>
          <a:bodyPr wrap="square" lIns="0" tIns="0" rIns="0" bIns="0" rtlCol="0" anchor="ctr"/>
          <a:lstStyle/>
          <a:p>
            <a:pPr algn="l" indent="0" marL="0">
              <a:buNone/>
            </a:pPr>
            <a:r>
              <a:rPr lang="en-US" sz="1500" b="1" dirty="0">
                <a:solidFill>
                  <a:srgbClr val="018BFF"/>
                </a:solidFill>
                <a:latin typeface="Calibri" pitchFamily="34" charset="0"/>
                <a:ea typeface="Calibri" pitchFamily="34" charset="-122"/>
                <a:cs typeface="Calibri" pitchFamily="34" charset="-120"/>
              </a:rPr>
              <a:t>Medical chatbot</a:t>
            </a:r>
            <a:endParaRPr lang="en-US" sz="1500" dirty="0"/>
          </a:p>
        </p:txBody>
      </p:sp>
      <p:sp>
        <p:nvSpPr>
          <p:cNvPr id="10" name="Text 8"/>
          <p:cNvSpPr/>
          <p:nvPr/>
        </p:nvSpPr>
        <p:spPr>
          <a:xfrm>
            <a:off x="685800" y="2587752"/>
            <a:ext cx="7772400" cy="411480"/>
          </a:xfrm>
          <a:prstGeom prst="rect">
            <a:avLst/>
          </a:prstGeom>
          <a:noFill/>
          <a:ln/>
        </p:spPr>
        <p:txBody>
          <a:bodyPr wrap="square" lIns="0" tIns="0" rIns="0" bIns="0" rtlCol="0" anchor="t"/>
          <a:lstStyle/>
          <a:p>
            <a:pPr algn="l" indent="0" marL="0">
              <a:buNone/>
            </a:pPr>
            <a:r>
              <a:rPr lang="en-US" sz="1500" dirty="0">
                <a:solidFill>
                  <a:srgbClr val="E8EDF2"/>
                </a:solidFill>
                <a:latin typeface="Calibri" pitchFamily="34" charset="0"/>
                <a:ea typeface="Calibri" pitchFamily="34" charset="-122"/>
                <a:cs typeface="Calibri" pitchFamily="34" charset="-120"/>
              </a:rPr>
              <a:t>Finds chunks about Drug A and Drug B separately; misses their interaction</a:t>
            </a:r>
            <a:endParaRPr lang="en-US" sz="1500" dirty="0"/>
          </a:p>
        </p:txBody>
      </p:sp>
      <p:sp>
        <p:nvSpPr>
          <p:cNvPr id="11" name="Shape 9"/>
          <p:cNvSpPr/>
          <p:nvPr/>
        </p:nvSpPr>
        <p:spPr>
          <a:xfrm>
            <a:off x="457200" y="3337560"/>
            <a:ext cx="8229600" cy="960120"/>
          </a:xfrm>
          <a:prstGeom prst="rect">
            <a:avLst/>
          </a:prstGeom>
          <a:solidFill>
            <a:srgbClr val="152235"/>
          </a:solidFill>
          <a:ln w="12700">
            <a:solidFill>
              <a:srgbClr val="3A5068"/>
            </a:solidFill>
            <a:prstDash val="solid"/>
          </a:ln>
        </p:spPr>
      </p:sp>
      <p:sp>
        <p:nvSpPr>
          <p:cNvPr id="12" name="Shape 10"/>
          <p:cNvSpPr/>
          <p:nvPr/>
        </p:nvSpPr>
        <p:spPr>
          <a:xfrm>
            <a:off x="457200" y="3337560"/>
            <a:ext cx="64008" cy="960120"/>
          </a:xfrm>
          <a:prstGeom prst="rect">
            <a:avLst/>
          </a:prstGeom>
          <a:solidFill>
            <a:srgbClr val="018BFF"/>
          </a:solidFill>
          <a:ln w="12700">
            <a:solidFill>
              <a:srgbClr val="018BFF"/>
            </a:solidFill>
            <a:prstDash val="solid"/>
          </a:ln>
        </p:spPr>
      </p:sp>
      <p:sp>
        <p:nvSpPr>
          <p:cNvPr id="13" name="Text 11"/>
          <p:cNvSpPr/>
          <p:nvPr/>
        </p:nvSpPr>
        <p:spPr>
          <a:xfrm>
            <a:off x="685800" y="3429000"/>
            <a:ext cx="2286000" cy="320040"/>
          </a:xfrm>
          <a:prstGeom prst="rect">
            <a:avLst/>
          </a:prstGeom>
          <a:noFill/>
          <a:ln/>
        </p:spPr>
        <p:txBody>
          <a:bodyPr wrap="square" lIns="0" tIns="0" rIns="0" bIns="0" rtlCol="0" anchor="ctr"/>
          <a:lstStyle/>
          <a:p>
            <a:pPr algn="l" indent="0" marL="0">
              <a:buNone/>
            </a:pPr>
            <a:r>
              <a:rPr lang="en-US" sz="1500" b="1" dirty="0">
                <a:solidFill>
                  <a:srgbClr val="018BFF"/>
                </a:solidFill>
                <a:latin typeface="Calibri" pitchFamily="34" charset="0"/>
                <a:ea typeface="Calibri" pitchFamily="34" charset="-122"/>
                <a:cs typeface="Calibri" pitchFamily="34" charset="-120"/>
              </a:rPr>
              <a:t>Internal KB</a:t>
            </a:r>
            <a:endParaRPr lang="en-US" sz="1500" dirty="0"/>
          </a:p>
        </p:txBody>
      </p:sp>
      <p:sp>
        <p:nvSpPr>
          <p:cNvPr id="14" name="Text 12"/>
          <p:cNvSpPr/>
          <p:nvPr/>
        </p:nvSpPr>
        <p:spPr>
          <a:xfrm>
            <a:off x="685800" y="3776472"/>
            <a:ext cx="7772400" cy="411480"/>
          </a:xfrm>
          <a:prstGeom prst="rect">
            <a:avLst/>
          </a:prstGeom>
          <a:noFill/>
          <a:ln/>
        </p:spPr>
        <p:txBody>
          <a:bodyPr wrap="square" lIns="0" tIns="0" rIns="0" bIns="0" rtlCol="0" anchor="t"/>
          <a:lstStyle/>
          <a:p>
            <a:pPr algn="l" indent="0" marL="0">
              <a:buNone/>
            </a:pPr>
            <a:r>
              <a:rPr lang="en-US" sz="1500" dirty="0">
                <a:solidFill>
                  <a:srgbClr val="E8EDF2"/>
                </a:solidFill>
                <a:latin typeface="Calibri" pitchFamily="34" charset="0"/>
                <a:ea typeface="Calibri" pitchFamily="34" charset="-122"/>
                <a:cs typeface="Calibri" pitchFamily="34" charset="-120"/>
              </a:rPr>
              <a:t>"Michael S." and "Mike Sullivan" are the same person — the system never knew</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731520" y="822960"/>
            <a:ext cx="7680960" cy="914400"/>
          </a:xfrm>
          <a:prstGeom prst="rect">
            <a:avLst/>
          </a:prstGeom>
          <a:noFill/>
          <a:ln/>
        </p:spPr>
        <p:txBody>
          <a:bodyPr wrap="square" lIns="0" tIns="0" rIns="0" bIns="0" rtlCol="0" anchor="ctr"/>
          <a:lstStyle/>
          <a:p>
            <a:pPr algn="ctr" indent="0" marL="0">
              <a:buNone/>
            </a:pPr>
            <a:r>
              <a:rPr lang="en-US" sz="2600" i="1" dirty="0">
                <a:solidFill>
                  <a:srgbClr val="E8EDF2"/>
                </a:solidFill>
                <a:latin typeface="Calibri" pitchFamily="34" charset="0"/>
                <a:ea typeface="Calibri" pitchFamily="34" charset="-122"/>
                <a:cs typeface="Calibri" pitchFamily="34" charset="-120"/>
              </a:rPr>
              <a:t>"The problem usually isn't your embeddings or your model."</a:t>
            </a:r>
            <a:endParaRPr lang="en-US" sz="2600" dirty="0"/>
          </a:p>
        </p:txBody>
      </p:sp>
      <p:sp>
        <p:nvSpPr>
          <p:cNvPr id="3" name="Text 1"/>
          <p:cNvSpPr/>
          <p:nvPr/>
        </p:nvSpPr>
        <p:spPr>
          <a:xfrm>
            <a:off x="731520" y="1965960"/>
            <a:ext cx="7680960" cy="1005840"/>
          </a:xfrm>
          <a:prstGeom prst="rect">
            <a:avLst/>
          </a:prstGeom>
          <a:noFill/>
          <a:ln/>
        </p:spPr>
        <p:txBody>
          <a:bodyPr wrap="square" lIns="0" tIns="0" rIns="0" bIns="0" rtlCol="0" anchor="ctr"/>
          <a:lstStyle/>
          <a:p>
            <a:pPr algn="ctr" indent="0" marL="0">
              <a:buNone/>
            </a:pPr>
            <a:r>
              <a:rPr lang="en-US" sz="2400" dirty="0">
                <a:solidFill>
                  <a:srgbClr val="7A8FA6"/>
                </a:solidFill>
                <a:latin typeface="Calibri" pitchFamily="34" charset="0"/>
                <a:ea typeface="Calibri" pitchFamily="34" charset="-122"/>
                <a:cs typeface="Calibri" pitchFamily="34" charset="-120"/>
              </a:rPr>
              <a:t xml:space="preserve">Vector search finds things that look </a:t>
            </a:r>
            <a:pPr algn="ctr" indent="0" marL="0">
              <a:buNone/>
            </a:pPr>
            <a:r>
              <a:rPr lang="en-US" sz="2400" b="1" dirty="0">
                <a:solidFill>
                  <a:srgbClr val="E8EDF2"/>
                </a:solidFill>
                <a:latin typeface="Calibri" pitchFamily="34" charset="0"/>
                <a:ea typeface="Calibri" pitchFamily="34" charset="-122"/>
                <a:cs typeface="Calibri" pitchFamily="34" charset="-120"/>
              </a:rPr>
              <a:t>similar</a:t>
            </a:r>
            <a:pPr algn="ctr" indent="0" marL="0">
              <a:buNone/>
            </a:pPr>
            <a:r>
              <a:rPr lang="en-US" sz="2400" dirty="0">
                <a:solidFill>
                  <a:srgbClr val="7A8FA6"/>
                </a:solidFill>
                <a:latin typeface="Calibri" pitchFamily="34" charset="0"/>
                <a:ea typeface="Calibri" pitchFamily="34" charset="-122"/>
                <a:cs typeface="Calibri" pitchFamily="34" charset="-120"/>
              </a:rPr>
              <a:t xml:space="preserve"> to your question.</a:t>
            </a:r>
            <a:endParaRPr lang="en-US" sz="2400" dirty="0"/>
          </a:p>
          <a:p>
            <a:pPr algn="ctr" indent="0" marL="0">
              <a:buNone/>
            </a:pPr>
            <a:r>
              <a:rPr lang="en-US" sz="2400" dirty="0">
                <a:solidFill>
                  <a:srgbClr val="7A8FA6"/>
                </a:solidFill>
                <a:latin typeface="Calibri" pitchFamily="34" charset="0"/>
                <a:ea typeface="Calibri" pitchFamily="34" charset="-122"/>
                <a:cs typeface="Calibri" pitchFamily="34" charset="-120"/>
              </a:rPr>
              <a:t xml:space="preserve">Not things that are </a:t>
            </a:r>
            <a:endParaRPr lang="en-US" sz="2400" dirty="0"/>
          </a:p>
          <a:p>
            <a:pPr algn="ctr" indent="0" marL="0">
              <a:buNone/>
            </a:pPr>
            <a:r>
              <a:rPr lang="en-US" sz="2400" b="1" dirty="0">
                <a:solidFill>
                  <a:srgbClr val="018BFF"/>
                </a:solidFill>
                <a:latin typeface="Calibri" pitchFamily="34" charset="0"/>
                <a:ea typeface="Calibri" pitchFamily="34" charset="-122"/>
                <a:cs typeface="Calibri" pitchFamily="34" charset="-120"/>
              </a:rPr>
              <a:t>connected</a:t>
            </a:r>
            <a:pPr algn="ctr" indent="0" marL="0">
              <a:buNone/>
            </a:pPr>
            <a:r>
              <a:rPr lang="en-US" sz="2400" dirty="0">
                <a:solidFill>
                  <a:srgbClr val="7A8FA6"/>
                </a:solidFill>
                <a:latin typeface="Calibri" pitchFamily="34" charset="0"/>
                <a:ea typeface="Calibri" pitchFamily="34" charset="-122"/>
                <a:cs typeface="Calibri" pitchFamily="34" charset="-120"/>
              </a:rPr>
              <a:t xml:space="preserve"> to each other.</a:t>
            </a:r>
            <a:endParaRPr lang="en-US" sz="2400" dirty="0"/>
          </a:p>
        </p:txBody>
      </p:sp>
      <p:sp>
        <p:nvSpPr>
          <p:cNvPr id="4" name="Text 2"/>
          <p:cNvSpPr/>
          <p:nvPr/>
        </p:nvSpPr>
        <p:spPr>
          <a:xfrm>
            <a:off x="914400" y="3383280"/>
            <a:ext cx="7315200" cy="457200"/>
          </a:xfrm>
          <a:prstGeom prst="rect">
            <a:avLst/>
          </a:prstGeom>
          <a:noFill/>
          <a:ln/>
        </p:spPr>
        <p:txBody>
          <a:bodyPr wrap="square" lIns="0" tIns="0" rIns="0" bIns="0" rtlCol="0" anchor="ctr"/>
          <a:lstStyle/>
          <a:p>
            <a:pPr algn="ctr" indent="0" marL="0">
              <a:buNone/>
            </a:pPr>
            <a:r>
              <a:rPr lang="en-US" sz="1900" b="1" dirty="0">
                <a:solidFill>
                  <a:srgbClr val="00CC76"/>
                </a:solidFill>
                <a:latin typeface="Calibri" pitchFamily="34" charset="0"/>
                <a:ea typeface="Calibri" pitchFamily="34" charset="-122"/>
                <a:cs typeface="Calibri" pitchFamily="34" charset="-120"/>
              </a:rPr>
              <a:t>Graphs fix the relationship problem — without replacing your existing stack.</a:t>
            </a:r>
            <a:endParaRPr lang="en-US" sz="1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457200" y="228600"/>
            <a:ext cx="8229600" cy="502920"/>
          </a:xfrm>
          <a:prstGeom prst="rect">
            <a:avLst/>
          </a:prstGeom>
          <a:noFill/>
          <a:ln/>
        </p:spPr>
        <p:txBody>
          <a:bodyPr wrap="square" lIns="0" tIns="0" rIns="0" bIns="0" rtlCol="0" anchor="ctr"/>
          <a:lstStyle/>
          <a:p>
            <a:pPr algn="l" indent="0" marL="0">
              <a:buNone/>
            </a:pPr>
            <a:r>
              <a:rPr lang="en-US" sz="2600" b="1" dirty="0">
                <a:solidFill>
                  <a:srgbClr val="018BFF"/>
                </a:solidFill>
                <a:latin typeface="Calibri" pitchFamily="34" charset="0"/>
                <a:ea typeface="Calibri" pitchFamily="34" charset="-122"/>
                <a:cs typeface="Calibri" pitchFamily="34" charset="-120"/>
              </a:rPr>
              <a:t>Nodes and relationships. That's it.</a:t>
            </a:r>
            <a:endParaRPr lang="en-US" sz="2600" dirty="0"/>
          </a:p>
        </p:txBody>
      </p:sp>
      <p:sp>
        <p:nvSpPr>
          <p:cNvPr id="3" name="Text 1"/>
          <p:cNvSpPr/>
          <p:nvPr/>
        </p:nvSpPr>
        <p:spPr>
          <a:xfrm>
            <a:off x="457200" y="914400"/>
            <a:ext cx="4114800" cy="365760"/>
          </a:xfrm>
          <a:prstGeom prst="rect">
            <a:avLst/>
          </a:prstGeom>
          <a:noFill/>
          <a:ln/>
        </p:spPr>
        <p:txBody>
          <a:bodyPr wrap="square" lIns="0" tIns="0" rIns="0" bIns="0" rtlCol="0" anchor="ctr"/>
          <a:lstStyle/>
          <a:p>
            <a:pPr indent="0" marL="0">
              <a:buNone/>
            </a:pPr>
            <a:r>
              <a:rPr lang="en-US" sz="1700" dirty="0">
                <a:solidFill>
                  <a:srgbClr val="E8EDF2"/>
                </a:solidFill>
                <a:latin typeface="Calibri" pitchFamily="34" charset="0"/>
                <a:ea typeface="Calibri" pitchFamily="34" charset="-122"/>
                <a:cs typeface="Calibri" pitchFamily="34" charset="-120"/>
              </a:rPr>
              <a:t>A graph is a set of</a:t>
            </a:r>
            <a:endParaRPr lang="en-US" sz="1700" dirty="0"/>
          </a:p>
        </p:txBody>
      </p:sp>
      <p:sp>
        <p:nvSpPr>
          <p:cNvPr id="4" name="Text 2"/>
          <p:cNvSpPr/>
          <p:nvPr/>
        </p:nvSpPr>
        <p:spPr>
          <a:xfrm>
            <a:off x="457200" y="1280160"/>
            <a:ext cx="4114800" cy="347472"/>
          </a:xfrm>
          <a:prstGeom prst="rect">
            <a:avLst/>
          </a:prstGeom>
          <a:noFill/>
          <a:ln/>
        </p:spPr>
        <p:txBody>
          <a:bodyPr wrap="square" lIns="0" tIns="0" rIns="0" bIns="0" rtlCol="0" anchor="ctr"/>
          <a:lstStyle/>
          <a:p>
            <a:pPr indent="0" marL="0">
              <a:buNone/>
            </a:pPr>
            <a:r>
              <a:rPr lang="en-US" sz="1700" b="1" dirty="0">
                <a:solidFill>
                  <a:srgbClr val="018BFF"/>
                </a:solidFill>
                <a:latin typeface="Calibri" pitchFamily="34" charset="0"/>
                <a:ea typeface="Calibri" pitchFamily="34" charset="-122"/>
                <a:cs typeface="Calibri" pitchFamily="34" charset="-120"/>
              </a:rPr>
              <a:t>nodes</a:t>
            </a:r>
            <a:pPr indent="0" marL="0">
              <a:buNone/>
            </a:pPr>
            <a:r>
              <a:rPr lang="en-US" sz="1700" dirty="0">
                <a:solidFill>
                  <a:srgbClr val="E8EDF2"/>
                </a:solidFill>
                <a:latin typeface="Calibri" pitchFamily="34" charset="0"/>
                <a:ea typeface="Calibri" pitchFamily="34" charset="-122"/>
                <a:cs typeface="Calibri" pitchFamily="34" charset="-120"/>
              </a:rPr>
              <a:t xml:space="preserve"> (things)</a:t>
            </a:r>
            <a:endParaRPr lang="en-US" sz="1700" dirty="0"/>
          </a:p>
        </p:txBody>
      </p:sp>
      <p:sp>
        <p:nvSpPr>
          <p:cNvPr id="5" name="Text 3"/>
          <p:cNvSpPr/>
          <p:nvPr/>
        </p:nvSpPr>
        <p:spPr>
          <a:xfrm>
            <a:off x="457200" y="1627632"/>
            <a:ext cx="4114800" cy="320040"/>
          </a:xfrm>
          <a:prstGeom prst="rect">
            <a:avLst/>
          </a:prstGeom>
          <a:noFill/>
          <a:ln/>
        </p:spPr>
        <p:txBody>
          <a:bodyPr wrap="square" lIns="0" tIns="0" rIns="0" bIns="0" rtlCol="0" anchor="ctr"/>
          <a:lstStyle/>
          <a:p>
            <a:pPr indent="0" marL="0">
              <a:buNone/>
            </a:pPr>
            <a:r>
              <a:rPr lang="en-US" sz="1700" dirty="0">
                <a:solidFill>
                  <a:srgbClr val="E8EDF2"/>
                </a:solidFill>
                <a:latin typeface="Calibri" pitchFamily="34" charset="0"/>
                <a:ea typeface="Calibri" pitchFamily="34" charset="-122"/>
                <a:cs typeface="Calibri" pitchFamily="34" charset="-120"/>
              </a:rPr>
              <a:t>connected by</a:t>
            </a:r>
            <a:endParaRPr lang="en-US" sz="1700" dirty="0"/>
          </a:p>
        </p:txBody>
      </p:sp>
      <p:sp>
        <p:nvSpPr>
          <p:cNvPr id="6" name="Text 4"/>
          <p:cNvSpPr/>
          <p:nvPr/>
        </p:nvSpPr>
        <p:spPr>
          <a:xfrm>
            <a:off x="457200" y="1947672"/>
            <a:ext cx="4114800" cy="347472"/>
          </a:xfrm>
          <a:prstGeom prst="rect">
            <a:avLst/>
          </a:prstGeom>
          <a:noFill/>
          <a:ln/>
        </p:spPr>
        <p:txBody>
          <a:bodyPr wrap="square" lIns="0" tIns="0" rIns="0" bIns="0" rtlCol="0" anchor="ctr"/>
          <a:lstStyle/>
          <a:p>
            <a:pPr indent="0" marL="0">
              <a:buNone/>
            </a:pPr>
            <a:r>
              <a:rPr lang="en-US" sz="1700" b="1" dirty="0">
                <a:solidFill>
                  <a:srgbClr val="00CC76"/>
                </a:solidFill>
                <a:latin typeface="Calibri" pitchFamily="34" charset="0"/>
                <a:ea typeface="Calibri" pitchFamily="34" charset="-122"/>
                <a:cs typeface="Calibri" pitchFamily="34" charset="-120"/>
              </a:rPr>
              <a:t>relationships</a:t>
            </a:r>
            <a:pPr indent="0" marL="0">
              <a:buNone/>
            </a:pPr>
            <a:r>
              <a:rPr lang="en-US" sz="1700" dirty="0">
                <a:solidFill>
                  <a:srgbClr val="E8EDF2"/>
                </a:solidFill>
                <a:latin typeface="Calibri" pitchFamily="34" charset="0"/>
                <a:ea typeface="Calibri" pitchFamily="34" charset="-122"/>
                <a:cs typeface="Calibri" pitchFamily="34" charset="-120"/>
              </a:rPr>
              <a:t xml:space="preserve"> (how they're connected).</a:t>
            </a:r>
            <a:endParaRPr lang="en-US" sz="1700" dirty="0"/>
          </a:p>
        </p:txBody>
      </p:sp>
      <p:sp>
        <p:nvSpPr>
          <p:cNvPr id="7" name="Text 5"/>
          <p:cNvSpPr/>
          <p:nvPr/>
        </p:nvSpPr>
        <p:spPr>
          <a:xfrm>
            <a:off x="457200" y="2514600"/>
            <a:ext cx="4114800" cy="640080"/>
          </a:xfrm>
          <a:prstGeom prst="rect">
            <a:avLst/>
          </a:prstGeom>
          <a:noFill/>
          <a:ln/>
        </p:spPr>
        <p:txBody>
          <a:bodyPr wrap="square" lIns="0" tIns="0" rIns="0" bIns="0" rtlCol="0" anchor="ctr"/>
          <a:lstStyle/>
          <a:p>
            <a:pPr indent="0" marL="0">
              <a:buNone/>
            </a:pPr>
            <a:r>
              <a:rPr lang="en-US" sz="1500" i="1" dirty="0">
                <a:solidFill>
                  <a:srgbClr val="7A8FA6"/>
                </a:solidFill>
                <a:latin typeface="Calibri" pitchFamily="34" charset="0"/>
                <a:ea typeface="Calibri" pitchFamily="34" charset="-122"/>
                <a:cs typeface="Calibri" pitchFamily="34" charset="-120"/>
              </a:rPr>
              <a:t>Each relationship has a type —</a:t>
            </a:r>
            <a:endParaRPr lang="en-US" sz="1500" dirty="0"/>
          </a:p>
          <a:p>
            <a:pPr indent="0" marL="0">
              <a:buNone/>
            </a:pPr>
            <a:r>
              <a:rPr lang="en-US" sz="1500" i="1" dirty="0">
                <a:solidFill>
                  <a:srgbClr val="7A8FA6"/>
                </a:solidFill>
                <a:latin typeface="Calibri" pitchFamily="34" charset="0"/>
                <a:ea typeface="Calibri" pitchFamily="34" charset="-122"/>
                <a:cs typeface="Calibri" pitchFamily="34" charset="-120"/>
              </a:rPr>
              <a:t>not just "connected to," but how.</a:t>
            </a:r>
            <a:endParaRPr lang="en-US" sz="1500" dirty="0"/>
          </a:p>
        </p:txBody>
      </p:sp>
      <p:sp>
        <p:nvSpPr>
          <p:cNvPr id="8" name="Shape 6"/>
          <p:cNvSpPr/>
          <p:nvPr/>
        </p:nvSpPr>
        <p:spPr>
          <a:xfrm>
            <a:off x="457200" y="3383280"/>
            <a:ext cx="4023360" cy="1417320"/>
          </a:xfrm>
          <a:prstGeom prst="rect">
            <a:avLst/>
          </a:prstGeom>
          <a:solidFill>
            <a:srgbClr val="152235"/>
          </a:solidFill>
          <a:ln w="12700">
            <a:solidFill>
              <a:srgbClr val="3A5068"/>
            </a:solidFill>
            <a:prstDash val="solid"/>
          </a:ln>
        </p:spPr>
      </p:sp>
      <p:sp>
        <p:nvSpPr>
          <p:cNvPr id="9" name="Text 7"/>
          <p:cNvSpPr/>
          <p:nvPr/>
        </p:nvSpPr>
        <p:spPr>
          <a:xfrm>
            <a:off x="594360" y="3474720"/>
            <a:ext cx="3749040" cy="1188720"/>
          </a:xfrm>
          <a:prstGeom prst="rect">
            <a:avLst/>
          </a:prstGeom>
          <a:noFill/>
          <a:ln/>
        </p:spPr>
        <p:txBody>
          <a:bodyPr wrap="square" lIns="0" tIns="0" rIns="0" bIns="0" rtlCol="0" anchor="t"/>
          <a:lstStyle/>
          <a:p>
            <a:pPr indent="0" marL="0">
              <a:buNone/>
            </a:pPr>
            <a:r>
              <a:rPr lang="en-US" sz="1300" b="1" dirty="0">
                <a:solidFill>
                  <a:srgbClr val="E8EDF2"/>
                </a:solidFill>
                <a:latin typeface="Calibri" pitchFamily="34" charset="0"/>
                <a:ea typeface="Calibri" pitchFamily="34" charset="-122"/>
                <a:cs typeface="Calibri" pitchFamily="34" charset="-120"/>
              </a:rPr>
              <a:t>Vector search</a:t>
            </a:r>
            <a:pPr indent="0" marL="0">
              <a:buNone/>
            </a:pPr>
            <a:r>
              <a:rPr lang="en-US" sz="1300" dirty="0">
                <a:solidFill>
                  <a:srgbClr val="7A8FA6"/>
                </a:solidFill>
                <a:latin typeface="Calibri" pitchFamily="34" charset="0"/>
                <a:ea typeface="Calibri" pitchFamily="34" charset="-122"/>
                <a:cs typeface="Calibri" pitchFamily="34" charset="-120"/>
              </a:rPr>
              <a:t xml:space="preserve"> → finds similar content
</a:t>
            </a:r>
            <a:pPr indent="0" marL="0">
              <a:buNone/>
            </a:pPr>
            <a:r>
              <a:rPr lang="en-US" sz="1300" b="1" dirty="0">
                <a:solidFill>
                  <a:srgbClr val="018BFF"/>
                </a:solidFill>
                <a:latin typeface="Calibri" pitchFamily="34" charset="0"/>
                <a:ea typeface="Calibri" pitchFamily="34" charset="-122"/>
                <a:cs typeface="Calibri" pitchFamily="34" charset="-120"/>
              </a:rPr>
              <a:t>Graph traversal</a:t>
            </a:r>
            <a:pPr indent="0" marL="0">
              <a:buNone/>
            </a:pPr>
            <a:r>
              <a:rPr lang="en-US" sz="1300" dirty="0">
                <a:solidFill>
                  <a:srgbClr val="7A8FA6"/>
                </a:solidFill>
                <a:latin typeface="Calibri" pitchFamily="34" charset="0"/>
                <a:ea typeface="Calibri" pitchFamily="34" charset="-122"/>
                <a:cs typeface="Calibri" pitchFamily="34" charset="-120"/>
              </a:rPr>
              <a:t xml:space="preserve"> → follows connections
</a:t>
            </a:r>
            <a:pPr indent="0" marL="0">
              <a:buNone/>
            </a:pPr>
            <a:r>
              <a:rPr lang="en-US" sz="1300" i="1" dirty="0">
                <a:solidFill>
                  <a:srgbClr val="00CC76"/>
                </a:solidFill>
                <a:latin typeface="Calibri" pitchFamily="34" charset="0"/>
                <a:ea typeface="Calibri" pitchFamily="34" charset="-122"/>
                <a:cs typeface="Calibri" pitchFamily="34" charset="-120"/>
              </a:rPr>
              <a:t>Both are useful. Neither replaces the other.</a:t>
            </a:r>
            <a:endParaRPr lang="en-US" sz="1300" dirty="0"/>
          </a:p>
        </p:txBody>
      </p:sp>
      <p:sp>
        <p:nvSpPr>
          <p:cNvPr id="10" name="Shape 8"/>
          <p:cNvSpPr/>
          <p:nvPr/>
        </p:nvSpPr>
        <p:spPr>
          <a:xfrm>
            <a:off x="4754880" y="777240"/>
            <a:ext cx="4114800" cy="3657600"/>
          </a:xfrm>
          <a:prstGeom prst="roundRect">
            <a:avLst>
              <a:gd name="adj" fmla="val 3000"/>
            </a:avLst>
          </a:prstGeom>
          <a:solidFill>
            <a:srgbClr val="FFFFFF"/>
          </a:solidFill>
          <a:ln w="12700">
            <a:solidFill>
              <a:srgbClr val="DDDDDD"/>
            </a:solidFill>
            <a:prstDash val="solid"/>
          </a:ln>
        </p:spPr>
      </p:sp>
      <p:sp>
        <p:nvSpPr>
          <p:cNvPr id="11" name="Text 9"/>
          <p:cNvSpPr/>
          <p:nvPr/>
        </p:nvSpPr>
        <p:spPr>
          <a:xfrm>
            <a:off x="4754880" y="1874520"/>
            <a:ext cx="4114800" cy="365760"/>
          </a:xfrm>
          <a:prstGeom prst="rect">
            <a:avLst/>
          </a:prstGeom>
          <a:noFill/>
          <a:ln/>
        </p:spPr>
        <p:txBody>
          <a:bodyPr wrap="square" lIns="0" tIns="0" rIns="0" bIns="0" rtlCol="0" anchor="ctr"/>
          <a:lstStyle/>
          <a:p>
            <a:pPr algn="ctr" indent="0" marL="0">
              <a:buNone/>
            </a:pPr>
            <a:r>
              <a:rPr lang="en-US" sz="1300" b="1" i="1" dirty="0">
                <a:solidFill>
                  <a:srgbClr val="7A8FA6"/>
                </a:solidFill>
                <a:latin typeface="Calibri" pitchFamily="34" charset="0"/>
                <a:ea typeface="Calibri" pitchFamily="34" charset="-122"/>
                <a:cs typeface="Calibri" pitchFamily="34" charset="-120"/>
              </a:rPr>
              <a:t>[ ARROWS.APP DIAGRAM ]</a:t>
            </a:r>
            <a:endParaRPr lang="en-US" sz="1300" dirty="0"/>
          </a:p>
        </p:txBody>
      </p:sp>
      <p:sp>
        <p:nvSpPr>
          <p:cNvPr id="12" name="Text 10"/>
          <p:cNvSpPr/>
          <p:nvPr/>
        </p:nvSpPr>
        <p:spPr>
          <a:xfrm>
            <a:off x="4754880" y="2258568"/>
            <a:ext cx="4114800" cy="548640"/>
          </a:xfrm>
          <a:prstGeom prst="rect">
            <a:avLst/>
          </a:prstGeom>
          <a:noFill/>
          <a:ln/>
        </p:spPr>
        <p:txBody>
          <a:bodyPr wrap="square" lIns="0" tIns="0" rIns="0" bIns="0" rtlCol="0" anchor="ctr"/>
          <a:lstStyle/>
          <a:p>
            <a:pPr algn="ctr" indent="0" marL="0">
              <a:buNone/>
            </a:pPr>
            <a:r>
              <a:rPr lang="en-US" sz="1100" i="1" dirty="0">
                <a:solidFill>
                  <a:srgbClr val="888888"/>
                </a:solidFill>
                <a:latin typeface="Calibri" pitchFamily="34" charset="0"/>
                <a:ea typeface="Calibri" pitchFamily="34" charset="-122"/>
                <a:cs typeface="Calibri" pitchFamily="34" charset="-120"/>
              </a:rPr>
              <a:t>(Meriwether Lewis :Person)-[:OBSERVED]-&gt;(Grizzly Bear :AnimalSpecies)</a:t>
            </a:r>
            <a:endParaRPr lang="en-US" sz="1100" dirty="0"/>
          </a:p>
          <a:p>
            <a:pPr algn="ctr" indent="0" marL="0">
              <a:buNone/>
            </a:pPr>
            <a:r>
              <a:rPr lang="en-US" sz="1100" i="1" dirty="0">
                <a:solidFill>
                  <a:srgbClr val="888888"/>
                </a:solidFill>
                <a:latin typeface="Calibri" pitchFamily="34" charset="0"/>
                <a:ea typeface="Calibri" pitchFamily="34" charset="-122"/>
                <a:cs typeface="Calibri" pitchFamily="34" charset="-120"/>
              </a:rPr>
              <a:t>-[:BELONGS_TO]-&gt;(Carnivora :Order)-[:BELONGS_TO]-&gt;(Mammalia :Class)</a:t>
            </a:r>
            <a:endParaRPr lang="en-US" sz="1100" dirty="0"/>
          </a:p>
        </p:txBody>
      </p:sp>
      <p:sp>
        <p:nvSpPr>
          <p:cNvPr id="13" name="Text 11"/>
          <p:cNvSpPr/>
          <p:nvPr/>
        </p:nvSpPr>
        <p:spPr>
          <a:xfrm>
            <a:off x="4754880" y="4480560"/>
            <a:ext cx="4114800" cy="274320"/>
          </a:xfrm>
          <a:prstGeom prst="rect">
            <a:avLst/>
          </a:prstGeom>
          <a:noFill/>
          <a:ln/>
        </p:spPr>
        <p:txBody>
          <a:bodyPr wrap="square" lIns="0" tIns="0" rIns="0" bIns="0" rtlCol="0" anchor="ctr"/>
          <a:lstStyle/>
          <a:p>
            <a:pPr algn="l" indent="0" marL="0">
              <a:buNone/>
            </a:pPr>
            <a:r>
              <a:rPr lang="en-US" sz="1000" i="1" dirty="0">
                <a:solidFill>
                  <a:srgbClr val="00CC76"/>
                </a:solidFill>
                <a:latin typeface="Calibri" pitchFamily="34" charset="0"/>
                <a:ea typeface="Calibri" pitchFamily="34" charset="-122"/>
                <a:cs typeface="Calibri" pitchFamily="34" charset="-120"/>
              </a:rPr>
              <a:t>→ Create this diagram in arrows.app</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457200" y="228600"/>
            <a:ext cx="8229600" cy="502920"/>
          </a:xfrm>
          <a:prstGeom prst="rect">
            <a:avLst/>
          </a:prstGeom>
          <a:noFill/>
          <a:ln/>
        </p:spPr>
        <p:txBody>
          <a:bodyPr wrap="square" lIns="0" tIns="0" rIns="0" bIns="0" rtlCol="0" anchor="ctr"/>
          <a:lstStyle/>
          <a:p>
            <a:pPr algn="l" indent="0" marL="0">
              <a:buNone/>
            </a:pPr>
            <a:r>
              <a:rPr lang="en-US" sz="2600" b="1" dirty="0">
                <a:solidFill>
                  <a:srgbClr val="018BFF"/>
                </a:solidFill>
                <a:latin typeface="Calibri" pitchFamily="34" charset="0"/>
                <a:ea typeface="Calibri" pitchFamily="34" charset="-122"/>
                <a:cs typeface="Calibri" pitchFamily="34" charset="-120"/>
              </a:rPr>
              <a:t>If you know SQL, you already understand graphs</a:t>
            </a:r>
            <a:endParaRPr lang="en-US" sz="2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960120"/>
          <a:ext cx="4114800" cy="2468880"/>
        </p:xfrm>
        <a:graphic>
          <a:graphicData uri="http://schemas.openxmlformats.org/drawingml/2006/table">
            <a:tbl>
              <a:tblPr/>
              <a:tblGrid>
                <a:gridCol w="2057400"/>
                <a:gridCol w="2057400"/>
              </a:tblGrid>
              <a:tr h="411480">
                <a:tc>
                  <a:txBody>
                    <a:bodyPr/>
                    <a:lstStyle/>
                    <a:p>
                      <a:pPr algn="ctr" indent="0" marL="0">
                        <a:buNone/>
                      </a:pPr>
                      <a:r>
                        <a:rPr lang="en-US" sz="1600" b="1" dirty="0">
                          <a:solidFill>
                            <a:srgbClr val="E8EDF2"/>
                          </a:solidFill>
                          <a:latin typeface="Calibri" pitchFamily="34" charset="0"/>
                          <a:ea typeface="Calibri" pitchFamily="34" charset="-122"/>
                          <a:cs typeface="Calibri" pitchFamily="34" charset="-120"/>
                        </a:rPr>
                        <a:t>SQL</a:t>
                      </a:r>
                      <a:endParaRPr lang="en-US" sz="1600" dirty="0">
                        <a:latin typeface="Calibri" charset="0"/>
                        <a:ea typeface="Calibri" charset="0"/>
                        <a:cs typeface="Calibri" charset="0"/>
                      </a:endParaRPr>
                    </a:p>
                  </a:txBody>
                  <a:tcPr marL="91440" marR="91440" marT="45720" marB="45720">
                    <a:lnL w="12700" cap="flat" cmpd="sng" algn="ctr">
                      <a:solidFill>
                        <a:srgbClr val="3A5068"/>
                      </a:solidFill>
                      <a:prstDash val="solid"/>
                      <a:round/>
                      <a:headEnd type="none" w="med" len="med"/>
                      <a:tailEnd type="none" w="med" len="med"/>
                    </a:lnL>
                    <a:lnR w="12700" cap="flat" cmpd="sng" algn="ctr">
                      <a:solidFill>
                        <a:srgbClr val="3A5068"/>
                      </a:solidFill>
                      <a:prstDash val="solid"/>
                      <a:round/>
                      <a:headEnd type="none" w="med" len="med"/>
                      <a:tailEnd type="none" w="med" len="med"/>
                    </a:lnR>
                    <a:lnT w="12700" cap="flat" cmpd="sng" algn="ctr">
                      <a:solidFill>
                        <a:srgbClr val="3A5068"/>
                      </a:solidFill>
                      <a:prstDash val="solid"/>
                      <a:round/>
                      <a:headEnd type="none" w="med" len="med"/>
                      <a:tailEnd type="none" w="med" len="med"/>
                    </a:lnT>
                    <a:lnB w="12700" cap="flat" cmpd="sng" algn="ctr">
                      <a:solidFill>
                        <a:srgbClr val="3A5068"/>
                      </a:solidFill>
                      <a:prstDash val="solid"/>
                      <a:round/>
                      <a:headEnd type="none" w="med" len="med"/>
                      <a:tailEnd type="none" w="med" len="med"/>
                    </a:lnB>
                    <a:solidFill>
                      <a:srgbClr val="018BFF"/>
                    </a:solidFill>
                  </a:tcPr>
                </a:tc>
                <a:tc>
                  <a:txBody>
                    <a:bodyPr/>
                    <a:lstStyle/>
                    <a:p>
                      <a:pPr algn="ctr" indent="0" marL="0">
                        <a:buNone/>
                      </a:pPr>
                      <a:r>
                        <a:rPr lang="en-US" sz="1600" b="1" dirty="0">
                          <a:solidFill>
                            <a:srgbClr val="E8EDF2"/>
                          </a:solidFill>
                          <a:latin typeface="Calibri" pitchFamily="34" charset="0"/>
                          <a:ea typeface="Calibri" pitchFamily="34" charset="-122"/>
                          <a:cs typeface="Calibri" pitchFamily="34" charset="-120"/>
                        </a:rPr>
                        <a:t>Graph</a:t>
                      </a:r>
                      <a:endParaRPr lang="en-US" sz="1600" dirty="0">
                        <a:latin typeface="Calibri" charset="0"/>
                        <a:ea typeface="Calibri" charset="0"/>
                        <a:cs typeface="Calibri" charset="0"/>
                      </a:endParaRPr>
                    </a:p>
                  </a:txBody>
                  <a:tcPr marL="91440" marR="91440" marT="45720" marB="45720">
                    <a:lnL w="12700" cap="flat" cmpd="sng" algn="ctr">
                      <a:solidFill>
                        <a:srgbClr val="3A5068"/>
                      </a:solidFill>
                      <a:prstDash val="solid"/>
                      <a:round/>
                      <a:headEnd type="none" w="med" len="med"/>
                      <a:tailEnd type="none" w="med" len="med"/>
                    </a:lnL>
                    <a:lnR w="12700" cap="flat" cmpd="sng" algn="ctr">
                      <a:solidFill>
                        <a:srgbClr val="3A5068"/>
                      </a:solidFill>
                      <a:prstDash val="solid"/>
                      <a:round/>
                      <a:headEnd type="none" w="med" len="med"/>
                      <a:tailEnd type="none" w="med" len="med"/>
                    </a:lnR>
                    <a:lnT w="12700" cap="flat" cmpd="sng" algn="ctr">
                      <a:solidFill>
                        <a:srgbClr val="3A5068"/>
                      </a:solidFill>
                      <a:prstDash val="solid"/>
                      <a:round/>
                      <a:headEnd type="none" w="med" len="med"/>
                      <a:tailEnd type="none" w="med" len="med"/>
                    </a:lnT>
                    <a:lnB w="12700" cap="flat" cmpd="sng" algn="ctr">
                      <a:solidFill>
                        <a:srgbClr val="3A5068"/>
                      </a:solidFill>
                      <a:prstDash val="solid"/>
                      <a:round/>
                      <a:headEnd type="none" w="med" len="med"/>
                      <a:tailEnd type="none" w="med" len="med"/>
                    </a:lnB>
                    <a:solidFill>
                      <a:srgbClr val="005FAF"/>
                    </a:solidFill>
                  </a:tcPr>
                </a:tc>
              </a:tr>
              <a:tr h="411480">
                <a:tc>
                  <a:txBody>
                    <a:bodyPr/>
                    <a:lstStyle/>
                    <a:p>
                      <a:pPr indent="0" marL="0">
                        <a:buNone/>
                      </a:pPr>
                      <a:r>
                        <a:rPr lang="en-US" sz="1600" dirty="0">
                          <a:solidFill>
                            <a:srgbClr val="E8EDF2"/>
                          </a:solidFill>
                          <a:latin typeface="Calibri" pitchFamily="34" charset="0"/>
                          <a:ea typeface="Calibri" pitchFamily="34" charset="-122"/>
                          <a:cs typeface="Calibri" pitchFamily="34" charset="-120"/>
                        </a:rPr>
                        <a:t>Table</a:t>
                      </a:r>
                      <a:endParaRPr lang="en-US" sz="1600" dirty="0">
                        <a:latin typeface="Calibri" charset="0"/>
                        <a:ea typeface="Calibri" charset="0"/>
                        <a:cs typeface="Calibri" charset="0"/>
                      </a:endParaRPr>
                    </a:p>
                  </a:txBody>
                  <a:tcPr marL="91440" marR="91440" marT="45720" marB="45720">
                    <a:lnL w="12700" cap="flat" cmpd="sng" algn="ctr">
                      <a:solidFill>
                        <a:srgbClr val="3A5068"/>
                      </a:solidFill>
                      <a:prstDash val="solid"/>
                      <a:round/>
                      <a:headEnd type="none" w="med" len="med"/>
                      <a:tailEnd type="none" w="med" len="med"/>
                    </a:lnL>
                    <a:lnR w="12700" cap="flat" cmpd="sng" algn="ctr">
                      <a:solidFill>
                        <a:srgbClr val="3A5068"/>
                      </a:solidFill>
                      <a:prstDash val="solid"/>
                      <a:round/>
                      <a:headEnd type="none" w="med" len="med"/>
                      <a:tailEnd type="none" w="med" len="med"/>
                    </a:lnR>
                    <a:lnT w="12700" cap="flat" cmpd="sng" algn="ctr">
                      <a:solidFill>
                        <a:srgbClr val="3A5068"/>
                      </a:solidFill>
                      <a:prstDash val="solid"/>
                      <a:round/>
                      <a:headEnd type="none" w="med" len="med"/>
                      <a:tailEnd type="none" w="med" len="med"/>
                    </a:lnT>
                    <a:lnB w="12700" cap="flat" cmpd="sng" algn="ctr">
                      <a:solidFill>
                        <a:srgbClr val="3A5068"/>
                      </a:solidFill>
                      <a:prstDash val="solid"/>
                      <a:round/>
                      <a:headEnd type="none" w="med" len="med"/>
                      <a:tailEnd type="none" w="med" len="med"/>
                    </a:lnB>
                    <a:solidFill>
                      <a:srgbClr val="152235"/>
                    </a:solidFill>
                  </a:tcPr>
                </a:tc>
                <a:tc>
                  <a:txBody>
                    <a:bodyPr/>
                    <a:lstStyle/>
                    <a:p>
                      <a:pPr indent="0" marL="0">
                        <a:buNone/>
                      </a:pPr>
                      <a:r>
                        <a:rPr lang="en-US" sz="1600" dirty="0">
                          <a:solidFill>
                            <a:srgbClr val="018BFF"/>
                          </a:solidFill>
                          <a:latin typeface="Calibri" pitchFamily="34" charset="0"/>
                          <a:ea typeface="Calibri" pitchFamily="34" charset="-122"/>
                          <a:cs typeface="Calibri" pitchFamily="34" charset="-120"/>
                        </a:rPr>
                        <a:t>Node label</a:t>
                      </a:r>
                      <a:endParaRPr lang="en-US" sz="1600" dirty="0">
                        <a:latin typeface="Calibri" charset="0"/>
                        <a:ea typeface="Calibri" charset="0"/>
                        <a:cs typeface="Calibri" charset="0"/>
                      </a:endParaRPr>
                    </a:p>
                  </a:txBody>
                  <a:tcPr marL="91440" marR="91440" marT="45720" marB="45720">
                    <a:lnL w="12700" cap="flat" cmpd="sng" algn="ctr">
                      <a:solidFill>
                        <a:srgbClr val="3A5068"/>
                      </a:solidFill>
                      <a:prstDash val="solid"/>
                      <a:round/>
                      <a:headEnd type="none" w="med" len="med"/>
                      <a:tailEnd type="none" w="med" len="med"/>
                    </a:lnL>
                    <a:lnR w="12700" cap="flat" cmpd="sng" algn="ctr">
                      <a:solidFill>
                        <a:srgbClr val="3A5068"/>
                      </a:solidFill>
                      <a:prstDash val="solid"/>
                      <a:round/>
                      <a:headEnd type="none" w="med" len="med"/>
                      <a:tailEnd type="none" w="med" len="med"/>
                    </a:lnR>
                    <a:lnT w="12700" cap="flat" cmpd="sng" algn="ctr">
                      <a:solidFill>
                        <a:srgbClr val="3A5068"/>
                      </a:solidFill>
                      <a:prstDash val="solid"/>
                      <a:round/>
                      <a:headEnd type="none" w="med" len="med"/>
                      <a:tailEnd type="none" w="med" len="med"/>
                    </a:lnT>
                    <a:lnB w="12700" cap="flat" cmpd="sng" algn="ctr">
                      <a:solidFill>
                        <a:srgbClr val="3A5068"/>
                      </a:solidFill>
                      <a:prstDash val="solid"/>
                      <a:round/>
                      <a:headEnd type="none" w="med" len="med"/>
                      <a:tailEnd type="none" w="med" len="med"/>
                    </a:lnB>
                    <a:solidFill>
                      <a:srgbClr val="152235"/>
                    </a:solidFill>
                  </a:tcPr>
                </a:tc>
              </a:tr>
              <a:tr h="411480">
                <a:tc>
                  <a:txBody>
                    <a:bodyPr/>
                    <a:lstStyle/>
                    <a:p>
                      <a:pPr indent="0" marL="0">
                        <a:buNone/>
                      </a:pPr>
                      <a:r>
                        <a:rPr lang="en-US" sz="1600" dirty="0">
                          <a:solidFill>
                            <a:srgbClr val="E8EDF2"/>
                          </a:solidFill>
                          <a:latin typeface="Calibri" pitchFamily="34" charset="0"/>
                          <a:ea typeface="Calibri" pitchFamily="34" charset="-122"/>
                          <a:cs typeface="Calibri" pitchFamily="34" charset="-120"/>
                        </a:rPr>
                        <a:t>Row</a:t>
                      </a:r>
                      <a:endParaRPr lang="en-US" sz="1600" dirty="0">
                        <a:latin typeface="Calibri" charset="0"/>
                        <a:ea typeface="Calibri" charset="0"/>
                        <a:cs typeface="Calibri" charset="0"/>
                      </a:endParaRPr>
                    </a:p>
                  </a:txBody>
                  <a:tcPr marL="91440" marR="91440" marT="45720" marB="45720">
                    <a:lnL w="12700" cap="flat" cmpd="sng" algn="ctr">
                      <a:solidFill>
                        <a:srgbClr val="3A5068"/>
                      </a:solidFill>
                      <a:prstDash val="solid"/>
                      <a:round/>
                      <a:headEnd type="none" w="med" len="med"/>
                      <a:tailEnd type="none" w="med" len="med"/>
                    </a:lnL>
                    <a:lnR w="12700" cap="flat" cmpd="sng" algn="ctr">
                      <a:solidFill>
                        <a:srgbClr val="3A5068"/>
                      </a:solidFill>
                      <a:prstDash val="solid"/>
                      <a:round/>
                      <a:headEnd type="none" w="med" len="med"/>
                      <a:tailEnd type="none" w="med" len="med"/>
                    </a:lnR>
                    <a:lnT w="12700" cap="flat" cmpd="sng" algn="ctr">
                      <a:solidFill>
                        <a:srgbClr val="3A5068"/>
                      </a:solidFill>
                      <a:prstDash val="solid"/>
                      <a:round/>
                      <a:headEnd type="none" w="med" len="med"/>
                      <a:tailEnd type="none" w="med" len="med"/>
                    </a:lnT>
                    <a:lnB w="12700" cap="flat" cmpd="sng" algn="ctr">
                      <a:solidFill>
                        <a:srgbClr val="3A5068"/>
                      </a:solidFill>
                      <a:prstDash val="solid"/>
                      <a:round/>
                      <a:headEnd type="none" w="med" len="med"/>
                      <a:tailEnd type="none" w="med" len="med"/>
                    </a:lnB>
                    <a:solidFill>
                      <a:srgbClr val="152235"/>
                    </a:solidFill>
                  </a:tcPr>
                </a:tc>
                <a:tc>
                  <a:txBody>
                    <a:bodyPr/>
                    <a:lstStyle/>
                    <a:p>
                      <a:pPr indent="0" marL="0">
                        <a:buNone/>
                      </a:pPr>
                      <a:r>
                        <a:rPr lang="en-US" sz="1600" dirty="0">
                          <a:solidFill>
                            <a:srgbClr val="018BFF"/>
                          </a:solidFill>
                          <a:latin typeface="Calibri" pitchFamily="34" charset="0"/>
                          <a:ea typeface="Calibri" pitchFamily="34" charset="-122"/>
                          <a:cs typeface="Calibri" pitchFamily="34" charset="-120"/>
                        </a:rPr>
                        <a:t>Node</a:t>
                      </a:r>
                      <a:endParaRPr lang="en-US" sz="1600" dirty="0">
                        <a:latin typeface="Calibri" charset="0"/>
                        <a:ea typeface="Calibri" charset="0"/>
                        <a:cs typeface="Calibri" charset="0"/>
                      </a:endParaRPr>
                    </a:p>
                  </a:txBody>
                  <a:tcPr marL="91440" marR="91440" marT="45720" marB="45720">
                    <a:lnL w="12700" cap="flat" cmpd="sng" algn="ctr">
                      <a:solidFill>
                        <a:srgbClr val="3A5068"/>
                      </a:solidFill>
                      <a:prstDash val="solid"/>
                      <a:round/>
                      <a:headEnd type="none" w="med" len="med"/>
                      <a:tailEnd type="none" w="med" len="med"/>
                    </a:lnL>
                    <a:lnR w="12700" cap="flat" cmpd="sng" algn="ctr">
                      <a:solidFill>
                        <a:srgbClr val="3A5068"/>
                      </a:solidFill>
                      <a:prstDash val="solid"/>
                      <a:round/>
                      <a:headEnd type="none" w="med" len="med"/>
                      <a:tailEnd type="none" w="med" len="med"/>
                    </a:lnR>
                    <a:lnT w="12700" cap="flat" cmpd="sng" algn="ctr">
                      <a:solidFill>
                        <a:srgbClr val="3A5068"/>
                      </a:solidFill>
                      <a:prstDash val="solid"/>
                      <a:round/>
                      <a:headEnd type="none" w="med" len="med"/>
                      <a:tailEnd type="none" w="med" len="med"/>
                    </a:lnT>
                    <a:lnB w="12700" cap="flat" cmpd="sng" algn="ctr">
                      <a:solidFill>
                        <a:srgbClr val="3A5068"/>
                      </a:solidFill>
                      <a:prstDash val="solid"/>
                      <a:round/>
                      <a:headEnd type="none" w="med" len="med"/>
                      <a:tailEnd type="none" w="med" len="med"/>
                    </a:lnB>
                    <a:solidFill>
                      <a:srgbClr val="152235"/>
                    </a:solidFill>
                  </a:tcPr>
                </a:tc>
              </a:tr>
              <a:tr h="411480">
                <a:tc>
                  <a:txBody>
                    <a:bodyPr/>
                    <a:lstStyle/>
                    <a:p>
                      <a:pPr indent="0" marL="0">
                        <a:buNone/>
                      </a:pPr>
                      <a:r>
                        <a:rPr lang="en-US" sz="1600" dirty="0">
                          <a:solidFill>
                            <a:srgbClr val="E8EDF2"/>
                          </a:solidFill>
                          <a:latin typeface="Calibri" pitchFamily="34" charset="0"/>
                          <a:ea typeface="Calibri" pitchFamily="34" charset="-122"/>
                          <a:cs typeface="Calibri" pitchFamily="34" charset="-120"/>
                        </a:rPr>
                        <a:t>Foreign key</a:t>
                      </a:r>
                      <a:endParaRPr lang="en-US" sz="1600" dirty="0">
                        <a:latin typeface="Calibri" charset="0"/>
                        <a:ea typeface="Calibri" charset="0"/>
                        <a:cs typeface="Calibri" charset="0"/>
                      </a:endParaRPr>
                    </a:p>
                  </a:txBody>
                  <a:tcPr marL="91440" marR="91440" marT="45720" marB="45720">
                    <a:lnL w="12700" cap="flat" cmpd="sng" algn="ctr">
                      <a:solidFill>
                        <a:srgbClr val="3A5068"/>
                      </a:solidFill>
                      <a:prstDash val="solid"/>
                      <a:round/>
                      <a:headEnd type="none" w="med" len="med"/>
                      <a:tailEnd type="none" w="med" len="med"/>
                    </a:lnL>
                    <a:lnR w="12700" cap="flat" cmpd="sng" algn="ctr">
                      <a:solidFill>
                        <a:srgbClr val="3A5068"/>
                      </a:solidFill>
                      <a:prstDash val="solid"/>
                      <a:round/>
                      <a:headEnd type="none" w="med" len="med"/>
                      <a:tailEnd type="none" w="med" len="med"/>
                    </a:lnR>
                    <a:lnT w="12700" cap="flat" cmpd="sng" algn="ctr">
                      <a:solidFill>
                        <a:srgbClr val="3A5068"/>
                      </a:solidFill>
                      <a:prstDash val="solid"/>
                      <a:round/>
                      <a:headEnd type="none" w="med" len="med"/>
                      <a:tailEnd type="none" w="med" len="med"/>
                    </a:lnT>
                    <a:lnB w="12700" cap="flat" cmpd="sng" algn="ctr">
                      <a:solidFill>
                        <a:srgbClr val="3A5068"/>
                      </a:solidFill>
                      <a:prstDash val="solid"/>
                      <a:round/>
                      <a:headEnd type="none" w="med" len="med"/>
                      <a:tailEnd type="none" w="med" len="med"/>
                    </a:lnB>
                    <a:solidFill>
                      <a:srgbClr val="152235"/>
                    </a:solidFill>
                  </a:tcPr>
                </a:tc>
                <a:tc>
                  <a:txBody>
                    <a:bodyPr/>
                    <a:lstStyle/>
                    <a:p>
                      <a:pPr indent="0" marL="0">
                        <a:buNone/>
                      </a:pPr>
                      <a:r>
                        <a:rPr lang="en-US" sz="1600" dirty="0">
                          <a:solidFill>
                            <a:srgbClr val="00CC76"/>
                          </a:solidFill>
                          <a:latin typeface="Calibri" pitchFamily="34" charset="0"/>
                          <a:ea typeface="Calibri" pitchFamily="34" charset="-122"/>
                          <a:cs typeface="Calibri" pitchFamily="34" charset="-120"/>
                        </a:rPr>
                        <a:t>Relationship</a:t>
                      </a:r>
                      <a:endParaRPr lang="en-US" sz="1600" dirty="0">
                        <a:latin typeface="Calibri" charset="0"/>
                        <a:ea typeface="Calibri" charset="0"/>
                        <a:cs typeface="Calibri" charset="0"/>
                      </a:endParaRPr>
                    </a:p>
                  </a:txBody>
                  <a:tcPr marL="91440" marR="91440" marT="45720" marB="45720">
                    <a:lnL w="12700" cap="flat" cmpd="sng" algn="ctr">
                      <a:solidFill>
                        <a:srgbClr val="3A5068"/>
                      </a:solidFill>
                      <a:prstDash val="solid"/>
                      <a:round/>
                      <a:headEnd type="none" w="med" len="med"/>
                      <a:tailEnd type="none" w="med" len="med"/>
                    </a:lnL>
                    <a:lnR w="12700" cap="flat" cmpd="sng" algn="ctr">
                      <a:solidFill>
                        <a:srgbClr val="3A5068"/>
                      </a:solidFill>
                      <a:prstDash val="solid"/>
                      <a:round/>
                      <a:headEnd type="none" w="med" len="med"/>
                      <a:tailEnd type="none" w="med" len="med"/>
                    </a:lnR>
                    <a:lnT w="12700" cap="flat" cmpd="sng" algn="ctr">
                      <a:solidFill>
                        <a:srgbClr val="3A5068"/>
                      </a:solidFill>
                      <a:prstDash val="solid"/>
                      <a:round/>
                      <a:headEnd type="none" w="med" len="med"/>
                      <a:tailEnd type="none" w="med" len="med"/>
                    </a:lnT>
                    <a:lnB w="12700" cap="flat" cmpd="sng" algn="ctr">
                      <a:solidFill>
                        <a:srgbClr val="3A5068"/>
                      </a:solidFill>
                      <a:prstDash val="solid"/>
                      <a:round/>
                      <a:headEnd type="none" w="med" len="med"/>
                      <a:tailEnd type="none" w="med" len="med"/>
                    </a:lnB>
                    <a:solidFill>
                      <a:srgbClr val="152235"/>
                    </a:solidFill>
                  </a:tcPr>
                </a:tc>
              </a:tr>
              <a:tr h="411480">
                <a:tc>
                  <a:txBody>
                    <a:bodyPr/>
                    <a:lstStyle/>
                    <a:p>
                      <a:pPr indent="0" marL="0">
                        <a:buNone/>
                      </a:pPr>
                      <a:r>
                        <a:rPr lang="en-US" sz="1600" dirty="0">
                          <a:solidFill>
                            <a:srgbClr val="E8EDF2"/>
                          </a:solidFill>
                          <a:latin typeface="Calibri" pitchFamily="34" charset="0"/>
                          <a:ea typeface="Calibri" pitchFamily="34" charset="-122"/>
                          <a:cs typeface="Calibri" pitchFamily="34" charset="-120"/>
                        </a:rPr>
                        <a:t>JOIN</a:t>
                      </a:r>
                      <a:endParaRPr lang="en-US" sz="1600" dirty="0">
                        <a:latin typeface="Calibri" charset="0"/>
                        <a:ea typeface="Calibri" charset="0"/>
                        <a:cs typeface="Calibri" charset="0"/>
                      </a:endParaRPr>
                    </a:p>
                  </a:txBody>
                  <a:tcPr marL="91440" marR="91440" marT="45720" marB="45720">
                    <a:lnL w="12700" cap="flat" cmpd="sng" algn="ctr">
                      <a:solidFill>
                        <a:srgbClr val="3A5068"/>
                      </a:solidFill>
                      <a:prstDash val="solid"/>
                      <a:round/>
                      <a:headEnd type="none" w="med" len="med"/>
                      <a:tailEnd type="none" w="med" len="med"/>
                    </a:lnL>
                    <a:lnR w="12700" cap="flat" cmpd="sng" algn="ctr">
                      <a:solidFill>
                        <a:srgbClr val="3A5068"/>
                      </a:solidFill>
                      <a:prstDash val="solid"/>
                      <a:round/>
                      <a:headEnd type="none" w="med" len="med"/>
                      <a:tailEnd type="none" w="med" len="med"/>
                    </a:lnR>
                    <a:lnT w="12700" cap="flat" cmpd="sng" algn="ctr">
                      <a:solidFill>
                        <a:srgbClr val="3A5068"/>
                      </a:solidFill>
                      <a:prstDash val="solid"/>
                      <a:round/>
                      <a:headEnd type="none" w="med" len="med"/>
                      <a:tailEnd type="none" w="med" len="med"/>
                    </a:lnT>
                    <a:lnB w="12700" cap="flat" cmpd="sng" algn="ctr">
                      <a:solidFill>
                        <a:srgbClr val="3A5068"/>
                      </a:solidFill>
                      <a:prstDash val="solid"/>
                      <a:round/>
                      <a:headEnd type="none" w="med" len="med"/>
                      <a:tailEnd type="none" w="med" len="med"/>
                    </a:lnB>
                    <a:solidFill>
                      <a:srgbClr val="152235"/>
                    </a:solidFill>
                  </a:tcPr>
                </a:tc>
                <a:tc>
                  <a:txBody>
                    <a:bodyPr/>
                    <a:lstStyle/>
                    <a:p>
                      <a:pPr indent="0" marL="0">
                        <a:buNone/>
                      </a:pPr>
                      <a:r>
                        <a:rPr lang="en-US" sz="1600" dirty="0">
                          <a:solidFill>
                            <a:srgbClr val="00CC76"/>
                          </a:solidFill>
                          <a:latin typeface="Calibri" pitchFamily="34" charset="0"/>
                          <a:ea typeface="Calibri" pitchFamily="34" charset="-122"/>
                          <a:cs typeface="Calibri" pitchFamily="34" charset="-120"/>
                        </a:rPr>
                        <a:t>Traversal</a:t>
                      </a:r>
                      <a:endParaRPr lang="en-US" sz="1600" dirty="0">
                        <a:latin typeface="Calibri" charset="0"/>
                        <a:ea typeface="Calibri" charset="0"/>
                        <a:cs typeface="Calibri" charset="0"/>
                      </a:endParaRPr>
                    </a:p>
                  </a:txBody>
                  <a:tcPr marL="91440" marR="91440" marT="45720" marB="45720">
                    <a:lnL w="12700" cap="flat" cmpd="sng" algn="ctr">
                      <a:solidFill>
                        <a:srgbClr val="3A5068"/>
                      </a:solidFill>
                      <a:prstDash val="solid"/>
                      <a:round/>
                      <a:headEnd type="none" w="med" len="med"/>
                      <a:tailEnd type="none" w="med" len="med"/>
                    </a:lnL>
                    <a:lnR w="12700" cap="flat" cmpd="sng" algn="ctr">
                      <a:solidFill>
                        <a:srgbClr val="3A5068"/>
                      </a:solidFill>
                      <a:prstDash val="solid"/>
                      <a:round/>
                      <a:headEnd type="none" w="med" len="med"/>
                      <a:tailEnd type="none" w="med" len="med"/>
                    </a:lnR>
                    <a:lnT w="12700" cap="flat" cmpd="sng" algn="ctr">
                      <a:solidFill>
                        <a:srgbClr val="3A5068"/>
                      </a:solidFill>
                      <a:prstDash val="solid"/>
                      <a:round/>
                      <a:headEnd type="none" w="med" len="med"/>
                      <a:tailEnd type="none" w="med" len="med"/>
                    </a:lnT>
                    <a:lnB w="12700" cap="flat" cmpd="sng" algn="ctr">
                      <a:solidFill>
                        <a:srgbClr val="3A5068"/>
                      </a:solidFill>
                      <a:prstDash val="solid"/>
                      <a:round/>
                      <a:headEnd type="none" w="med" len="med"/>
                      <a:tailEnd type="none" w="med" len="med"/>
                    </a:lnB>
                    <a:solidFill>
                      <a:srgbClr val="152235"/>
                    </a:solidFill>
                  </a:tcPr>
                </a:tc>
              </a:tr>
            </a:tbl>
          </a:graphicData>
        </a:graphic>
      </p:graphicFrame>
      <p:sp>
        <p:nvSpPr>
          <p:cNvPr id="4" name="Text 1"/>
          <p:cNvSpPr/>
          <p:nvPr/>
        </p:nvSpPr>
        <p:spPr>
          <a:xfrm>
            <a:off x="4937760" y="960120"/>
            <a:ext cx="3840480" cy="365760"/>
          </a:xfrm>
          <a:prstGeom prst="rect">
            <a:avLst/>
          </a:prstGeom>
          <a:noFill/>
          <a:ln/>
        </p:spPr>
        <p:txBody>
          <a:bodyPr wrap="square" lIns="0" tIns="0" rIns="0" bIns="0" rtlCol="0" anchor="ctr"/>
          <a:lstStyle/>
          <a:p>
            <a:pPr indent="0" marL="0">
              <a:buNone/>
            </a:pPr>
            <a:r>
              <a:rPr lang="en-US" sz="1600" b="1" dirty="0">
                <a:solidFill>
                  <a:srgbClr val="E8EDF2"/>
                </a:solidFill>
                <a:latin typeface="Calibri" pitchFamily="34" charset="0"/>
                <a:ea typeface="Calibri" pitchFamily="34" charset="-122"/>
                <a:cs typeface="Calibri" pitchFamily="34" charset="-120"/>
              </a:rPr>
              <a:t>The key difference:</a:t>
            </a:r>
            <a:endParaRPr lang="en-US" sz="1600" dirty="0"/>
          </a:p>
        </p:txBody>
      </p:sp>
      <p:sp>
        <p:nvSpPr>
          <p:cNvPr id="5" name="Text 2"/>
          <p:cNvSpPr/>
          <p:nvPr/>
        </p:nvSpPr>
        <p:spPr>
          <a:xfrm>
            <a:off x="4937760" y="1417320"/>
            <a:ext cx="3840480" cy="777240"/>
          </a:xfrm>
          <a:prstGeom prst="rect">
            <a:avLst/>
          </a:prstGeom>
          <a:noFill/>
          <a:ln/>
        </p:spPr>
        <p:txBody>
          <a:bodyPr wrap="square" lIns="0" tIns="0" rIns="0" bIns="0" rtlCol="0" anchor="ctr"/>
          <a:lstStyle/>
          <a:p>
            <a:pPr indent="0" marL="0">
              <a:buNone/>
            </a:pPr>
            <a:r>
              <a:rPr lang="en-US" sz="1500" b="1" dirty="0">
                <a:solidFill>
                  <a:srgbClr val="E8EDF2"/>
                </a:solidFill>
                <a:latin typeface="Calibri" pitchFamily="34" charset="0"/>
                <a:ea typeface="Calibri" pitchFamily="34" charset="-122"/>
                <a:cs typeface="Calibri" pitchFamily="34" charset="-120"/>
              </a:rPr>
              <a:t>In SQL</a:t>
            </a:r>
            <a:pPr indent="0" marL="0">
              <a:buNone/>
            </a:pPr>
            <a:r>
              <a:rPr lang="en-US" sz="1500" dirty="0">
                <a:solidFill>
                  <a:srgbClr val="7A8FA6"/>
                </a:solidFill>
                <a:latin typeface="Calibri" pitchFamily="34" charset="0"/>
                <a:ea typeface="Calibri" pitchFamily="34" charset="-122"/>
                <a:cs typeface="Calibri" pitchFamily="34" charset="-120"/>
              </a:rPr>
              <a:t xml:space="preserve">, relationships are </a:t>
            </a:r>
            <a:pPr indent="0" marL="0">
              <a:buNone/>
            </a:pPr>
            <a:r>
              <a:rPr lang="en-US" sz="1500" b="1" dirty="0">
                <a:solidFill>
                  <a:srgbClr val="7A8FA6"/>
                </a:solidFill>
                <a:latin typeface="Calibri" pitchFamily="34" charset="0"/>
                <a:ea typeface="Calibri" pitchFamily="34" charset="-122"/>
                <a:cs typeface="Calibri" pitchFamily="34" charset="-120"/>
              </a:rPr>
              <a:t>implicit</a:t>
            </a:r>
            <a:pPr indent="0" marL="0">
              <a:buNone/>
            </a:pPr>
            <a:r>
              <a:rPr lang="en-US" sz="1500" dirty="0">
                <a:solidFill>
                  <a:srgbClr val="7A8FA6"/>
                </a:solidFill>
                <a:latin typeface="Calibri" pitchFamily="34" charset="0"/>
                <a:ea typeface="Calibri" pitchFamily="34" charset="-122"/>
                <a:cs typeface="Calibri" pitchFamily="34" charset="-120"/>
              </a:rPr>
              <a:t xml:space="preserve"> — computed at query time by matching IDs across tables.</a:t>
            </a:r>
            <a:endParaRPr lang="en-US" sz="1500" dirty="0"/>
          </a:p>
        </p:txBody>
      </p:sp>
      <p:sp>
        <p:nvSpPr>
          <p:cNvPr id="6" name="Text 3"/>
          <p:cNvSpPr/>
          <p:nvPr/>
        </p:nvSpPr>
        <p:spPr>
          <a:xfrm>
            <a:off x="4937760" y="2286000"/>
            <a:ext cx="3840480" cy="777240"/>
          </a:xfrm>
          <a:prstGeom prst="rect">
            <a:avLst/>
          </a:prstGeom>
          <a:noFill/>
          <a:ln/>
        </p:spPr>
        <p:txBody>
          <a:bodyPr wrap="square" lIns="0" tIns="0" rIns="0" bIns="0" rtlCol="0" anchor="ctr"/>
          <a:lstStyle/>
          <a:p>
            <a:pPr indent="0" marL="0">
              <a:buNone/>
            </a:pPr>
            <a:r>
              <a:rPr lang="en-US" sz="1500" b="1" dirty="0">
                <a:solidFill>
                  <a:srgbClr val="E8EDF2"/>
                </a:solidFill>
                <a:latin typeface="Calibri" pitchFamily="34" charset="0"/>
                <a:ea typeface="Calibri" pitchFamily="34" charset="-122"/>
                <a:cs typeface="Calibri" pitchFamily="34" charset="-120"/>
              </a:rPr>
              <a:t>In a graph</a:t>
            </a:r>
            <a:pPr indent="0" marL="0">
              <a:buNone/>
            </a:pPr>
            <a:r>
              <a:rPr lang="en-US" sz="1500" dirty="0">
                <a:solidFill>
                  <a:srgbClr val="7A8FA6"/>
                </a:solidFill>
                <a:latin typeface="Calibri" pitchFamily="34" charset="0"/>
                <a:ea typeface="Calibri" pitchFamily="34" charset="-122"/>
                <a:cs typeface="Calibri" pitchFamily="34" charset="-120"/>
              </a:rPr>
              <a:t xml:space="preserve">, relationships are </a:t>
            </a:r>
            <a:pPr indent="0" marL="0">
              <a:buNone/>
            </a:pPr>
            <a:r>
              <a:rPr lang="en-US" sz="1500" b="1" dirty="0">
                <a:solidFill>
                  <a:srgbClr val="018BFF"/>
                </a:solidFill>
                <a:latin typeface="Calibri" pitchFamily="34" charset="0"/>
                <a:ea typeface="Calibri" pitchFamily="34" charset="-122"/>
                <a:cs typeface="Calibri" pitchFamily="34" charset="-120"/>
              </a:rPr>
              <a:t>stored explicitly</a:t>
            </a:r>
            <a:pPr indent="0" marL="0">
              <a:buNone/>
            </a:pPr>
            <a:r>
              <a:rPr lang="en-US" sz="1500" dirty="0">
                <a:solidFill>
                  <a:srgbClr val="7A8FA6"/>
                </a:solidFill>
                <a:latin typeface="Calibri" pitchFamily="34" charset="0"/>
                <a:ea typeface="Calibri" pitchFamily="34" charset="-122"/>
                <a:cs typeface="Calibri" pitchFamily="34" charset="-120"/>
              </a:rPr>
              <a:t xml:space="preserve"> with the data.</a:t>
            </a:r>
            <a:endParaRPr lang="en-US" sz="1500" dirty="0"/>
          </a:p>
        </p:txBody>
      </p:sp>
      <p:sp>
        <p:nvSpPr>
          <p:cNvPr id="7" name="Shape 4"/>
          <p:cNvSpPr/>
          <p:nvPr/>
        </p:nvSpPr>
        <p:spPr>
          <a:xfrm>
            <a:off x="457200" y="3794760"/>
            <a:ext cx="8229600" cy="1005840"/>
          </a:xfrm>
          <a:prstGeom prst="rect">
            <a:avLst/>
          </a:prstGeom>
          <a:solidFill>
            <a:srgbClr val="152235"/>
          </a:solidFill>
          <a:ln w="12700">
            <a:solidFill>
              <a:srgbClr val="3A5068"/>
            </a:solidFill>
            <a:prstDash val="solid"/>
          </a:ln>
        </p:spPr>
      </p:sp>
      <p:sp>
        <p:nvSpPr>
          <p:cNvPr id="8" name="Text 5"/>
          <p:cNvSpPr/>
          <p:nvPr/>
        </p:nvSpPr>
        <p:spPr>
          <a:xfrm>
            <a:off x="640080" y="3858768"/>
            <a:ext cx="7863840" cy="822960"/>
          </a:xfrm>
          <a:prstGeom prst="rect">
            <a:avLst/>
          </a:prstGeom>
          <a:noFill/>
          <a:ln/>
        </p:spPr>
        <p:txBody>
          <a:bodyPr wrap="square" lIns="0" tIns="0" rIns="0" bIns="0" rtlCol="0" anchor="t"/>
          <a:lstStyle/>
          <a:p>
            <a:pPr indent="0" marL="0">
              <a:buNone/>
            </a:pPr>
            <a:r>
              <a:rPr lang="en-US" sz="1300" b="1" dirty="0">
                <a:solidFill>
                  <a:srgbClr val="E8EDF2"/>
                </a:solidFill>
                <a:latin typeface="Calibri" pitchFamily="34" charset="0"/>
                <a:ea typeface="Calibri" pitchFamily="34" charset="-122"/>
                <a:cs typeface="Calibri" pitchFamily="34" charset="-120"/>
              </a:rPr>
              <a:t>Vector search</a:t>
            </a:r>
            <a:pPr indent="0" marL="0">
              <a:buNone/>
            </a:pPr>
            <a:r>
              <a:rPr lang="en-US" sz="1300" dirty="0">
                <a:solidFill>
                  <a:srgbClr val="7A8FA6"/>
                </a:solidFill>
                <a:latin typeface="Calibri" pitchFamily="34" charset="0"/>
                <a:ea typeface="Calibri" pitchFamily="34" charset="-122"/>
                <a:cs typeface="Calibri" pitchFamily="34" charset="-120"/>
              </a:rPr>
              <a:t xml:space="preserve"> answers: what content looks similar to my question?
</a:t>
            </a:r>
            <a:pPr indent="0" marL="0">
              <a:buNone/>
            </a:pPr>
            <a:r>
              <a:rPr lang="en-US" sz="1300" b="1" dirty="0">
                <a:solidFill>
                  <a:srgbClr val="018BFF"/>
                </a:solidFill>
                <a:latin typeface="Calibri" pitchFamily="34" charset="0"/>
                <a:ea typeface="Calibri" pitchFamily="34" charset="-122"/>
                <a:cs typeface="Calibri" pitchFamily="34" charset="-120"/>
              </a:rPr>
              <a:t>Graph traversal</a:t>
            </a:r>
            <a:pPr indent="0" marL="0">
              <a:buNone/>
            </a:pPr>
            <a:r>
              <a:rPr lang="en-US" sz="1300" dirty="0">
                <a:solidFill>
                  <a:srgbClr val="7A8FA6"/>
                </a:solidFill>
                <a:latin typeface="Calibri" pitchFamily="34" charset="0"/>
                <a:ea typeface="Calibri" pitchFamily="34" charset="-122"/>
                <a:cs typeface="Calibri" pitchFamily="34" charset="-120"/>
              </a:rPr>
              <a:t xml:space="preserve"> answers: what is connected to this thing?
</a:t>
            </a:r>
            <a:pPr indent="0" marL="0">
              <a:buNone/>
            </a:pPr>
            <a:r>
              <a:rPr lang="en-US" sz="1300" i="1" dirty="0">
                <a:solidFill>
                  <a:srgbClr val="00CC76"/>
                </a:solidFill>
                <a:latin typeface="Calibri" pitchFamily="34" charset="0"/>
                <a:ea typeface="Calibri" pitchFamily="34" charset="-122"/>
                <a:cs typeface="Calibri" pitchFamily="34" charset="-120"/>
              </a:rPr>
              <a:t>Both are useful. Neither replaces the other.</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457200" y="228600"/>
            <a:ext cx="8229600" cy="502920"/>
          </a:xfrm>
          <a:prstGeom prst="rect">
            <a:avLst/>
          </a:prstGeom>
          <a:noFill/>
          <a:ln/>
        </p:spPr>
        <p:txBody>
          <a:bodyPr wrap="square" lIns="0" tIns="0" rIns="0" bIns="0" rtlCol="0" anchor="ctr"/>
          <a:lstStyle/>
          <a:p>
            <a:pPr algn="l" indent="0" marL="0">
              <a:buNone/>
            </a:pPr>
            <a:r>
              <a:rPr lang="en-US" sz="2600" b="1" dirty="0">
                <a:solidFill>
                  <a:srgbClr val="018BFF"/>
                </a:solidFill>
                <a:latin typeface="Calibri" pitchFamily="34" charset="0"/>
                <a:ea typeface="Calibri" pitchFamily="34" charset="-122"/>
                <a:cs typeface="Calibri" pitchFamily="34" charset="-120"/>
              </a:rPr>
              <a:t>The pipeline</a:t>
            </a:r>
            <a:endParaRPr lang="en-US" sz="2600" dirty="0"/>
          </a:p>
        </p:txBody>
      </p:sp>
      <p:sp>
        <p:nvSpPr>
          <p:cNvPr id="3" name="Shape 1"/>
          <p:cNvSpPr/>
          <p:nvPr/>
        </p:nvSpPr>
        <p:spPr>
          <a:xfrm>
            <a:off x="1645920" y="914400"/>
            <a:ext cx="2926080" cy="438912"/>
          </a:xfrm>
          <a:prstGeom prst="rect">
            <a:avLst/>
          </a:prstGeom>
          <a:solidFill>
            <a:srgbClr val="152235"/>
          </a:solidFill>
          <a:ln w="12700">
            <a:solidFill>
              <a:srgbClr val="018BFF"/>
            </a:solidFill>
            <a:prstDash val="solid"/>
          </a:ln>
        </p:spPr>
      </p:sp>
      <p:sp>
        <p:nvSpPr>
          <p:cNvPr id="4" name="Text 2"/>
          <p:cNvSpPr/>
          <p:nvPr/>
        </p:nvSpPr>
        <p:spPr>
          <a:xfrm>
            <a:off x="1645920" y="914400"/>
            <a:ext cx="2926080" cy="438912"/>
          </a:xfrm>
          <a:prstGeom prst="rect">
            <a:avLst/>
          </a:prstGeom>
          <a:noFill/>
          <a:ln/>
        </p:spPr>
        <p:txBody>
          <a:bodyPr wrap="square" lIns="0" tIns="0" rIns="0" bIns="0" rtlCol="0" anchor="ctr"/>
          <a:lstStyle/>
          <a:p>
            <a:pPr algn="ctr" indent="0" marL="0">
              <a:buNone/>
            </a:pPr>
            <a:r>
              <a:rPr lang="en-US" sz="1300" dirty="0">
                <a:solidFill>
                  <a:srgbClr val="E8EDF2"/>
                </a:solidFill>
                <a:latin typeface="Calibri" pitchFamily="34" charset="0"/>
                <a:ea typeface="Calibri" pitchFamily="34" charset="-122"/>
                <a:cs typeface="Calibri" pitchFamily="34" charset="-120"/>
              </a:rPr>
              <a:t>User Question</a:t>
            </a:r>
            <a:endParaRPr lang="en-US" sz="1300" dirty="0"/>
          </a:p>
        </p:txBody>
      </p:sp>
      <p:sp>
        <p:nvSpPr>
          <p:cNvPr id="5" name="Shape 3"/>
          <p:cNvSpPr/>
          <p:nvPr/>
        </p:nvSpPr>
        <p:spPr>
          <a:xfrm>
            <a:off x="1645920" y="1600200"/>
            <a:ext cx="2926080" cy="438912"/>
          </a:xfrm>
          <a:prstGeom prst="rect">
            <a:avLst/>
          </a:prstGeom>
          <a:solidFill>
            <a:srgbClr val="152235"/>
          </a:solidFill>
          <a:ln w="12700">
            <a:solidFill>
              <a:srgbClr val="018BFF"/>
            </a:solidFill>
            <a:prstDash val="solid"/>
          </a:ln>
        </p:spPr>
      </p:sp>
      <p:sp>
        <p:nvSpPr>
          <p:cNvPr id="6" name="Text 4"/>
          <p:cNvSpPr/>
          <p:nvPr/>
        </p:nvSpPr>
        <p:spPr>
          <a:xfrm>
            <a:off x="1645920" y="1600200"/>
            <a:ext cx="2926080" cy="438912"/>
          </a:xfrm>
          <a:prstGeom prst="rect">
            <a:avLst/>
          </a:prstGeom>
          <a:noFill/>
          <a:ln/>
        </p:spPr>
        <p:txBody>
          <a:bodyPr wrap="square" lIns="0" tIns="0" rIns="0" bIns="0" rtlCol="0" anchor="ctr"/>
          <a:lstStyle/>
          <a:p>
            <a:pPr algn="ctr" indent="0" marL="0">
              <a:buNone/>
            </a:pPr>
            <a:r>
              <a:rPr lang="en-US" sz="1300" dirty="0">
                <a:solidFill>
                  <a:srgbClr val="E8EDF2"/>
                </a:solidFill>
                <a:latin typeface="Calibri" pitchFamily="34" charset="0"/>
                <a:ea typeface="Calibri" pitchFamily="34" charset="-122"/>
                <a:cs typeface="Calibri" pitchFamily="34" charset="-120"/>
              </a:rPr>
              <a:t>Embed  (text-embedding-3-small)</a:t>
            </a:r>
            <a:endParaRPr lang="en-US" sz="1300" dirty="0"/>
          </a:p>
        </p:txBody>
      </p:sp>
      <p:sp>
        <p:nvSpPr>
          <p:cNvPr id="7" name="Shape 5"/>
          <p:cNvSpPr/>
          <p:nvPr/>
        </p:nvSpPr>
        <p:spPr>
          <a:xfrm>
            <a:off x="1645920" y="2286000"/>
            <a:ext cx="2926080" cy="438912"/>
          </a:xfrm>
          <a:prstGeom prst="rect">
            <a:avLst/>
          </a:prstGeom>
          <a:solidFill>
            <a:srgbClr val="152235"/>
          </a:solidFill>
          <a:ln w="12700">
            <a:solidFill>
              <a:srgbClr val="018BFF"/>
            </a:solidFill>
            <a:prstDash val="solid"/>
          </a:ln>
        </p:spPr>
      </p:sp>
      <p:sp>
        <p:nvSpPr>
          <p:cNvPr id="8" name="Text 6"/>
          <p:cNvSpPr/>
          <p:nvPr/>
        </p:nvSpPr>
        <p:spPr>
          <a:xfrm>
            <a:off x="1645920" y="2286000"/>
            <a:ext cx="2926080" cy="438912"/>
          </a:xfrm>
          <a:prstGeom prst="rect">
            <a:avLst/>
          </a:prstGeom>
          <a:noFill/>
          <a:ln/>
        </p:spPr>
        <p:txBody>
          <a:bodyPr wrap="square" lIns="0" tIns="0" rIns="0" bIns="0" rtlCol="0" anchor="ctr"/>
          <a:lstStyle/>
          <a:p>
            <a:pPr algn="ctr" indent="0" marL="0">
              <a:buNone/>
            </a:pPr>
            <a:r>
              <a:rPr lang="en-US" sz="1300" dirty="0">
                <a:solidFill>
                  <a:srgbClr val="E8EDF2"/>
                </a:solidFill>
                <a:latin typeface="Calibri" pitchFamily="34" charset="0"/>
                <a:ea typeface="Calibri" pitchFamily="34" charset="-122"/>
                <a:cs typeface="Calibri" pitchFamily="34" charset="-120"/>
              </a:rPr>
              <a:t>Vector Search — Neo4j</a:t>
            </a:r>
            <a:endParaRPr lang="en-US" sz="1300" dirty="0"/>
          </a:p>
        </p:txBody>
      </p:sp>
      <p:sp>
        <p:nvSpPr>
          <p:cNvPr id="9" name="Shape 7"/>
          <p:cNvSpPr/>
          <p:nvPr/>
        </p:nvSpPr>
        <p:spPr>
          <a:xfrm>
            <a:off x="1645920" y="3246120"/>
            <a:ext cx="2926080" cy="438912"/>
          </a:xfrm>
          <a:prstGeom prst="rect">
            <a:avLst/>
          </a:prstGeom>
          <a:solidFill>
            <a:srgbClr val="152235"/>
          </a:solidFill>
          <a:ln w="12700">
            <a:solidFill>
              <a:srgbClr val="018BFF"/>
            </a:solidFill>
            <a:prstDash val="solid"/>
          </a:ln>
        </p:spPr>
      </p:sp>
      <p:sp>
        <p:nvSpPr>
          <p:cNvPr id="10" name="Text 8"/>
          <p:cNvSpPr/>
          <p:nvPr/>
        </p:nvSpPr>
        <p:spPr>
          <a:xfrm>
            <a:off x="1645920" y="3246120"/>
            <a:ext cx="2926080" cy="438912"/>
          </a:xfrm>
          <a:prstGeom prst="rect">
            <a:avLst/>
          </a:prstGeom>
          <a:noFill/>
          <a:ln/>
        </p:spPr>
        <p:txBody>
          <a:bodyPr wrap="square" lIns="0" tIns="0" rIns="0" bIns="0" rtlCol="0" anchor="ctr"/>
          <a:lstStyle/>
          <a:p>
            <a:pPr algn="ctr" indent="0" marL="0">
              <a:buNone/>
            </a:pPr>
            <a:r>
              <a:rPr lang="en-US" sz="1300" dirty="0">
                <a:solidFill>
                  <a:srgbClr val="E8EDF2"/>
                </a:solidFill>
                <a:latin typeface="Calibri" pitchFamily="34" charset="0"/>
                <a:ea typeface="Calibri" pitchFamily="34" charset="-122"/>
                <a:cs typeface="Calibri" pitchFamily="34" charset="-120"/>
              </a:rPr>
              <a:t>LLM + Context</a:t>
            </a:r>
            <a:endParaRPr lang="en-US" sz="1300" dirty="0"/>
          </a:p>
        </p:txBody>
      </p:sp>
      <p:sp>
        <p:nvSpPr>
          <p:cNvPr id="11" name="Shape 9"/>
          <p:cNvSpPr/>
          <p:nvPr/>
        </p:nvSpPr>
        <p:spPr>
          <a:xfrm>
            <a:off x="1645920" y="3931920"/>
            <a:ext cx="2926080" cy="438912"/>
          </a:xfrm>
          <a:prstGeom prst="rect">
            <a:avLst/>
          </a:prstGeom>
          <a:solidFill>
            <a:srgbClr val="152235"/>
          </a:solidFill>
          <a:ln w="12700">
            <a:solidFill>
              <a:srgbClr val="018BFF"/>
            </a:solidFill>
            <a:prstDash val="solid"/>
          </a:ln>
        </p:spPr>
      </p:sp>
      <p:sp>
        <p:nvSpPr>
          <p:cNvPr id="12" name="Text 10"/>
          <p:cNvSpPr/>
          <p:nvPr/>
        </p:nvSpPr>
        <p:spPr>
          <a:xfrm>
            <a:off x="1645920" y="3931920"/>
            <a:ext cx="2926080" cy="438912"/>
          </a:xfrm>
          <a:prstGeom prst="rect">
            <a:avLst/>
          </a:prstGeom>
          <a:noFill/>
          <a:ln/>
        </p:spPr>
        <p:txBody>
          <a:bodyPr wrap="square" lIns="0" tIns="0" rIns="0" bIns="0" rtlCol="0" anchor="ctr"/>
          <a:lstStyle/>
          <a:p>
            <a:pPr algn="ctr" indent="0" marL="0">
              <a:buNone/>
            </a:pPr>
            <a:r>
              <a:rPr lang="en-US" sz="1300" dirty="0">
                <a:solidFill>
                  <a:srgbClr val="E8EDF2"/>
                </a:solidFill>
                <a:latin typeface="Calibri" pitchFamily="34" charset="0"/>
                <a:ea typeface="Calibri" pitchFamily="34" charset="-122"/>
                <a:cs typeface="Calibri" pitchFamily="34" charset="-120"/>
              </a:rPr>
              <a:t>Answer</a:t>
            </a:r>
            <a:endParaRPr lang="en-US" sz="1300" dirty="0"/>
          </a:p>
        </p:txBody>
      </p:sp>
      <p:sp>
        <p:nvSpPr>
          <p:cNvPr id="13" name="Shape 11"/>
          <p:cNvSpPr/>
          <p:nvPr/>
        </p:nvSpPr>
        <p:spPr>
          <a:xfrm>
            <a:off x="3108960" y="1353312"/>
            <a:ext cx="0" cy="246888"/>
          </a:xfrm>
          <a:prstGeom prst="line">
            <a:avLst/>
          </a:prstGeom>
          <a:noFill/>
          <a:ln w="19050">
            <a:solidFill>
              <a:srgbClr val="7A8FA6"/>
            </a:solidFill>
            <a:prstDash val="solid"/>
          </a:ln>
        </p:spPr>
      </p:sp>
      <p:sp>
        <p:nvSpPr>
          <p:cNvPr id="14" name="Shape 12"/>
          <p:cNvSpPr/>
          <p:nvPr/>
        </p:nvSpPr>
        <p:spPr>
          <a:xfrm>
            <a:off x="3108960" y="2039112"/>
            <a:ext cx="0" cy="246888"/>
          </a:xfrm>
          <a:prstGeom prst="line">
            <a:avLst/>
          </a:prstGeom>
          <a:noFill/>
          <a:ln w="19050">
            <a:solidFill>
              <a:srgbClr val="7A8FA6"/>
            </a:solidFill>
            <a:prstDash val="solid"/>
          </a:ln>
        </p:spPr>
      </p:sp>
      <p:sp>
        <p:nvSpPr>
          <p:cNvPr id="15" name="Shape 13"/>
          <p:cNvSpPr/>
          <p:nvPr/>
        </p:nvSpPr>
        <p:spPr>
          <a:xfrm>
            <a:off x="3108960" y="2770632"/>
            <a:ext cx="0" cy="475488"/>
          </a:xfrm>
          <a:prstGeom prst="line">
            <a:avLst/>
          </a:prstGeom>
          <a:noFill/>
          <a:ln w="19050">
            <a:solidFill>
              <a:srgbClr val="7A8FA6"/>
            </a:solidFill>
            <a:prstDash val="solid"/>
          </a:ln>
        </p:spPr>
      </p:sp>
      <p:sp>
        <p:nvSpPr>
          <p:cNvPr id="16" name="Shape 14"/>
          <p:cNvSpPr/>
          <p:nvPr/>
        </p:nvSpPr>
        <p:spPr>
          <a:xfrm>
            <a:off x="3108960" y="3685032"/>
            <a:ext cx="0" cy="246888"/>
          </a:xfrm>
          <a:prstGeom prst="line">
            <a:avLst/>
          </a:prstGeom>
          <a:noFill/>
          <a:ln w="19050">
            <a:solidFill>
              <a:srgbClr val="7A8FA6"/>
            </a:solidFill>
            <a:prstDash val="solid"/>
          </a:ln>
        </p:spPr>
      </p:sp>
      <p:sp>
        <p:nvSpPr>
          <p:cNvPr id="17" name="Shape 15"/>
          <p:cNvSpPr/>
          <p:nvPr/>
        </p:nvSpPr>
        <p:spPr>
          <a:xfrm>
            <a:off x="5303520" y="2286000"/>
            <a:ext cx="2926080" cy="438912"/>
          </a:xfrm>
          <a:prstGeom prst="rect">
            <a:avLst/>
          </a:prstGeom>
          <a:solidFill>
            <a:srgbClr val="0A2A18"/>
          </a:solidFill>
          <a:ln w="19050">
            <a:solidFill>
              <a:srgbClr val="00CC76"/>
            </a:solidFill>
            <a:prstDash val="solid"/>
          </a:ln>
        </p:spPr>
      </p:sp>
      <p:sp>
        <p:nvSpPr>
          <p:cNvPr id="18" name="Text 16"/>
          <p:cNvSpPr/>
          <p:nvPr/>
        </p:nvSpPr>
        <p:spPr>
          <a:xfrm>
            <a:off x="5303520" y="2286000"/>
            <a:ext cx="2926080" cy="438912"/>
          </a:xfrm>
          <a:prstGeom prst="rect">
            <a:avLst/>
          </a:prstGeom>
          <a:noFill/>
          <a:ln/>
        </p:spPr>
        <p:txBody>
          <a:bodyPr wrap="square" lIns="0" tIns="0" rIns="0" bIns="0" rtlCol="0" anchor="ctr"/>
          <a:lstStyle/>
          <a:p>
            <a:pPr algn="ctr" indent="0" marL="0">
              <a:buNone/>
            </a:pPr>
            <a:r>
              <a:rPr lang="en-US" sz="1300" b="1" dirty="0">
                <a:solidFill>
                  <a:srgbClr val="00CC76"/>
                </a:solidFill>
                <a:latin typeface="Calibri" pitchFamily="34" charset="0"/>
                <a:ea typeface="Calibri" pitchFamily="34" charset="-122"/>
                <a:cs typeface="Calibri" pitchFamily="34" charset="-120"/>
              </a:rPr>
              <a:t>Graph RAG Agent</a:t>
            </a:r>
            <a:endParaRPr lang="en-US" sz="1300" dirty="0"/>
          </a:p>
        </p:txBody>
      </p:sp>
      <p:sp>
        <p:nvSpPr>
          <p:cNvPr id="19" name="Text 17"/>
          <p:cNvSpPr/>
          <p:nvPr/>
        </p:nvSpPr>
        <p:spPr>
          <a:xfrm>
            <a:off x="5303520" y="2743200"/>
            <a:ext cx="2926080" cy="274320"/>
          </a:xfrm>
          <a:prstGeom prst="rect">
            <a:avLst/>
          </a:prstGeom>
          <a:noFill/>
          <a:ln/>
        </p:spPr>
        <p:txBody>
          <a:bodyPr wrap="square" lIns="0" tIns="0" rIns="0" bIns="0" rtlCol="0" anchor="ctr"/>
          <a:lstStyle/>
          <a:p>
            <a:pPr algn="ctr" indent="0" marL="0">
              <a:buNone/>
            </a:pPr>
            <a:r>
              <a:rPr lang="en-US" sz="1000" dirty="0">
                <a:solidFill>
                  <a:srgbClr val="7A8FA6"/>
                </a:solidFill>
                <a:latin typeface="Calibri" pitchFamily="34" charset="0"/>
                <a:ea typeface="Calibri" pitchFamily="34" charset="-122"/>
                <a:cs typeface="Calibri" pitchFamily="34" charset="-120"/>
              </a:rPr>
              <a:t>vector_search  ·  cypher_query  ·  sequence_context</a:t>
            </a:r>
            <a:endParaRPr lang="en-US" sz="1000" dirty="0"/>
          </a:p>
        </p:txBody>
      </p:sp>
      <p:sp>
        <p:nvSpPr>
          <p:cNvPr id="20" name="Shape 18"/>
          <p:cNvSpPr/>
          <p:nvPr/>
        </p:nvSpPr>
        <p:spPr>
          <a:xfrm>
            <a:off x="4572000" y="2505456"/>
            <a:ext cx="731520" cy="0"/>
          </a:xfrm>
          <a:prstGeom prst="line">
            <a:avLst/>
          </a:prstGeom>
          <a:noFill/>
          <a:ln w="19050">
            <a:solidFill>
              <a:srgbClr val="00CC76"/>
            </a:solidFill>
            <a:prstDash val="dash"/>
          </a:ln>
        </p:spPr>
      </p:sp>
      <p:sp>
        <p:nvSpPr>
          <p:cNvPr id="21" name="Text 19"/>
          <p:cNvSpPr/>
          <p:nvPr/>
        </p:nvSpPr>
        <p:spPr>
          <a:xfrm>
            <a:off x="5303520" y="2075688"/>
            <a:ext cx="2926080" cy="201168"/>
          </a:xfrm>
          <a:prstGeom prst="rect">
            <a:avLst/>
          </a:prstGeom>
          <a:noFill/>
          <a:ln/>
        </p:spPr>
        <p:txBody>
          <a:bodyPr wrap="square" lIns="0" tIns="0" rIns="0" bIns="0" rtlCol="0" anchor="ctr"/>
          <a:lstStyle/>
          <a:p>
            <a:pPr algn="ctr" indent="0" marL="0">
              <a:buNone/>
            </a:pPr>
            <a:r>
              <a:rPr lang="en-US" sz="1000" i="1" dirty="0">
                <a:solidFill>
                  <a:srgbClr val="00CC76"/>
                </a:solidFill>
                <a:latin typeface="Calibri" pitchFamily="34" charset="0"/>
                <a:ea typeface="Calibri" pitchFamily="34" charset="-122"/>
                <a:cs typeface="Calibri" pitchFamily="34" charset="-120"/>
              </a:rPr>
              <a:t>right column</a:t>
            </a:r>
            <a:endParaRPr lang="en-US" sz="1000" dirty="0"/>
          </a:p>
        </p:txBody>
      </p:sp>
      <p:sp>
        <p:nvSpPr>
          <p:cNvPr id="22" name="Shape 20"/>
          <p:cNvSpPr/>
          <p:nvPr/>
        </p:nvSpPr>
        <p:spPr>
          <a:xfrm>
            <a:off x="6766560" y="2724912"/>
            <a:ext cx="0" cy="521208"/>
          </a:xfrm>
          <a:prstGeom prst="line">
            <a:avLst/>
          </a:prstGeom>
          <a:noFill/>
          <a:ln w="19050">
            <a:solidFill>
              <a:srgbClr val="00CC76"/>
            </a:solidFill>
            <a:prstDash val="dash"/>
          </a:ln>
        </p:spPr>
      </p:sp>
      <p:sp>
        <p:nvSpPr>
          <p:cNvPr id="23" name="Shape 21"/>
          <p:cNvSpPr/>
          <p:nvPr/>
        </p:nvSpPr>
        <p:spPr>
          <a:xfrm>
            <a:off x="3108960" y="3246120"/>
            <a:ext cx="3657600" cy="0"/>
          </a:xfrm>
          <a:prstGeom prst="line">
            <a:avLst/>
          </a:prstGeom>
          <a:noFill/>
          <a:ln w="19050">
            <a:solidFill>
              <a:srgbClr val="7A8FA6"/>
            </a:solidFill>
            <a:prstDash val="solid"/>
          </a:ln>
        </p:spPr>
      </p:sp>
      <p:sp>
        <p:nvSpPr>
          <p:cNvPr id="24" name="Text 22"/>
          <p:cNvSpPr/>
          <p:nvPr/>
        </p:nvSpPr>
        <p:spPr>
          <a:xfrm>
            <a:off x="457200" y="4663440"/>
            <a:ext cx="8229600" cy="274320"/>
          </a:xfrm>
          <a:prstGeom prst="rect">
            <a:avLst/>
          </a:prstGeom>
          <a:noFill/>
          <a:ln/>
        </p:spPr>
        <p:txBody>
          <a:bodyPr wrap="square" lIns="0" tIns="0" rIns="0" bIns="0" rtlCol="0" anchor="ctr"/>
          <a:lstStyle/>
          <a:p>
            <a:pPr algn="ctr" indent="0" marL="0">
              <a:buNone/>
            </a:pPr>
            <a:r>
              <a:rPr lang="en-US" sz="1100" i="1" dirty="0">
                <a:solidFill>
                  <a:srgbClr val="7A8FA6"/>
                </a:solidFill>
                <a:latin typeface="Calibri" pitchFamily="34" charset="0"/>
                <a:ea typeface="Calibri" pitchFamily="34" charset="-122"/>
                <a:cs typeface="Calibri" pitchFamily="34" charset="-120"/>
              </a:rPr>
              <a:t>Vector index and graph live in the same Neo4j database. Both run on every question — answers shown side by side.</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457200" y="228600"/>
            <a:ext cx="8229600" cy="502920"/>
          </a:xfrm>
          <a:prstGeom prst="rect">
            <a:avLst/>
          </a:prstGeom>
          <a:noFill/>
          <a:ln/>
        </p:spPr>
        <p:txBody>
          <a:bodyPr wrap="square" lIns="0" tIns="0" rIns="0" bIns="0" rtlCol="0" anchor="ctr"/>
          <a:lstStyle/>
          <a:p>
            <a:pPr algn="l" indent="0" marL="0">
              <a:buNone/>
            </a:pPr>
            <a:r>
              <a:rPr lang="en-US" sz="2600" b="1" dirty="0">
                <a:solidFill>
                  <a:srgbClr val="018BFF"/>
                </a:solidFill>
                <a:latin typeface="Calibri" pitchFamily="34" charset="0"/>
                <a:ea typeface="Calibri" pitchFamily="34" charset="-122"/>
                <a:cs typeface="Calibri" pitchFamily="34" charset="-120"/>
              </a:rPr>
              <a:t>The Lewis &amp; Clark knowledge graph</a:t>
            </a:r>
            <a:endParaRPr lang="en-US" sz="2600" dirty="0"/>
          </a:p>
        </p:txBody>
      </p:sp>
      <p:sp>
        <p:nvSpPr>
          <p:cNvPr id="3" name="Text 1"/>
          <p:cNvSpPr/>
          <p:nvPr/>
        </p:nvSpPr>
        <p:spPr>
          <a:xfrm>
            <a:off x="457200" y="960120"/>
            <a:ext cx="3931920" cy="274320"/>
          </a:xfrm>
          <a:prstGeom prst="rect">
            <a:avLst/>
          </a:prstGeom>
          <a:noFill/>
          <a:ln/>
        </p:spPr>
        <p:txBody>
          <a:bodyPr wrap="square" lIns="0" tIns="0" rIns="0" bIns="0" rtlCol="0" anchor="ctr"/>
          <a:lstStyle/>
          <a:p>
            <a:pPr indent="0" marL="0">
              <a:buNone/>
            </a:pPr>
            <a:r>
              <a:rPr lang="en-US" sz="1100" b="1" spc="300" kern="0" dirty="0">
                <a:solidFill>
                  <a:srgbClr val="018BFF"/>
                </a:solidFill>
                <a:latin typeface="Calibri" pitchFamily="34" charset="0"/>
                <a:ea typeface="Calibri" pitchFamily="34" charset="-122"/>
                <a:cs typeface="Calibri" pitchFamily="34" charset="-120"/>
              </a:rPr>
              <a:t>NODES</a:t>
            </a:r>
            <a:endParaRPr lang="en-US" sz="1100" dirty="0"/>
          </a:p>
        </p:txBody>
      </p:sp>
      <p:sp>
        <p:nvSpPr>
          <p:cNvPr id="4" name="Shape 2"/>
          <p:cNvSpPr/>
          <p:nvPr/>
        </p:nvSpPr>
        <p:spPr>
          <a:xfrm>
            <a:off x="475488" y="1371600"/>
            <a:ext cx="164592" cy="164592"/>
          </a:xfrm>
          <a:prstGeom prst="ellipse">
            <a:avLst/>
          </a:prstGeom>
          <a:solidFill>
            <a:srgbClr val="018BFF">
              <a:alpha val="70000"/>
            </a:srgbClr>
          </a:solidFill>
          <a:ln w="12700">
            <a:solidFill>
              <a:srgbClr val="018BFF"/>
            </a:solidFill>
            <a:prstDash val="solid"/>
          </a:ln>
        </p:spPr>
        <p:txBody>
          <a:bodyPr/>
          <a:p/>
        </p:txBody>
      </p:sp>
      <p:sp>
        <p:nvSpPr>
          <p:cNvPr id="5" name="Text 3"/>
          <p:cNvSpPr/>
          <p:nvPr/>
        </p:nvSpPr>
        <p:spPr>
          <a:xfrm>
            <a:off x="749808" y="1298448"/>
            <a:ext cx="3474720" cy="320040"/>
          </a:xfrm>
          <a:prstGeom prst="rect">
            <a:avLst/>
          </a:prstGeom>
          <a:noFill/>
          <a:ln/>
        </p:spPr>
        <p:txBody>
          <a:bodyPr wrap="square" lIns="0" tIns="0" rIns="0" bIns="0" rtlCol="0" anchor="ctr"/>
          <a:lstStyle/>
          <a:p>
            <a:pPr indent="0" marL="0">
              <a:buNone/>
            </a:pPr>
            <a:r>
              <a:rPr lang="en-US" sz="1400" dirty="0">
                <a:solidFill>
                  <a:srgbClr val="018BFF"/>
                </a:solidFill>
                <a:latin typeface="Calibri" pitchFamily="34" charset="0"/>
                <a:ea typeface="Calibri" pitchFamily="34" charset="-122"/>
                <a:cs typeface="Calibri" pitchFamily="34" charset="-120"/>
              </a:rPr>
              <a:t>Person</a:t>
            </a:r>
            <a:endParaRPr lang="en-US" sz="1400" dirty="0"/>
          </a:p>
        </p:txBody>
      </p:sp>
      <p:sp>
        <p:nvSpPr>
          <p:cNvPr id="6" name="Shape 4"/>
          <p:cNvSpPr/>
          <p:nvPr/>
        </p:nvSpPr>
        <p:spPr>
          <a:xfrm>
            <a:off x="475488" y="1755648"/>
            <a:ext cx="164592" cy="164592"/>
          </a:xfrm>
          <a:prstGeom prst="ellipse">
            <a:avLst/>
          </a:prstGeom>
          <a:solidFill>
            <a:srgbClr val="E8EDF2">
              <a:alpha val="70000"/>
            </a:srgbClr>
          </a:solidFill>
          <a:ln w="12700">
            <a:solidFill>
              <a:srgbClr val="E8EDF2"/>
            </a:solidFill>
            <a:prstDash val="solid"/>
          </a:ln>
        </p:spPr>
        <p:txBody>
          <a:bodyPr/>
          <a:p/>
        </p:txBody>
      </p:sp>
      <p:sp>
        <p:nvSpPr>
          <p:cNvPr id="7" name="Text 5"/>
          <p:cNvSpPr/>
          <p:nvPr/>
        </p:nvSpPr>
        <p:spPr>
          <a:xfrm>
            <a:off x="749808" y="1682496"/>
            <a:ext cx="3474720" cy="320040"/>
          </a:xfrm>
          <a:prstGeom prst="rect">
            <a:avLst/>
          </a:prstGeom>
          <a:noFill/>
          <a:ln/>
        </p:spPr>
        <p:txBody>
          <a:bodyPr wrap="square" lIns="0" tIns="0" rIns="0" bIns="0" rtlCol="0" anchor="ctr"/>
          <a:lstStyle/>
          <a:p>
            <a:pPr indent="0" marL="0">
              <a:buNone/>
            </a:pPr>
            <a:r>
              <a:rPr lang="en-US" sz="1400" dirty="0">
                <a:solidFill>
                  <a:srgbClr val="E8EDF2"/>
                </a:solidFill>
                <a:latin typeface="Calibri" pitchFamily="34" charset="0"/>
                <a:ea typeface="Calibri" pitchFamily="34" charset="-122"/>
                <a:cs typeface="Calibri" pitchFamily="34" charset="-120"/>
              </a:rPr>
              <a:t>Place · WaterBody</a:t>
            </a:r>
            <a:endParaRPr lang="en-US" sz="1400" dirty="0"/>
          </a:p>
        </p:txBody>
      </p:sp>
      <p:sp>
        <p:nvSpPr>
          <p:cNvPr id="8" name="Shape 6"/>
          <p:cNvSpPr/>
          <p:nvPr/>
        </p:nvSpPr>
        <p:spPr>
          <a:xfrm>
            <a:off x="475488" y="2139696"/>
            <a:ext cx="164592" cy="164592"/>
          </a:xfrm>
          <a:prstGeom prst="ellipse">
            <a:avLst/>
          </a:prstGeom>
          <a:solidFill>
            <a:srgbClr val="00CC76">
              <a:alpha val="70000"/>
            </a:srgbClr>
          </a:solidFill>
          <a:ln w="12700">
            <a:solidFill>
              <a:srgbClr val="00CC76"/>
            </a:solidFill>
            <a:prstDash val="solid"/>
          </a:ln>
        </p:spPr>
        <p:txBody>
          <a:bodyPr/>
          <a:p/>
        </p:txBody>
      </p:sp>
      <p:sp>
        <p:nvSpPr>
          <p:cNvPr id="9" name="Text 7"/>
          <p:cNvSpPr/>
          <p:nvPr/>
        </p:nvSpPr>
        <p:spPr>
          <a:xfrm>
            <a:off x="749808" y="2066544"/>
            <a:ext cx="3474720" cy="320040"/>
          </a:xfrm>
          <a:prstGeom prst="rect">
            <a:avLst/>
          </a:prstGeom>
          <a:noFill/>
          <a:ln/>
        </p:spPr>
        <p:txBody>
          <a:bodyPr wrap="square" lIns="0" tIns="0" rIns="0" bIns="0" rtlCol="0" anchor="ctr"/>
          <a:lstStyle/>
          <a:p>
            <a:pPr indent="0" marL="0">
              <a:buNone/>
            </a:pPr>
            <a:r>
              <a:rPr lang="en-US" sz="1400" dirty="0">
                <a:solidFill>
                  <a:srgbClr val="00CC76"/>
                </a:solidFill>
                <a:latin typeface="Calibri" pitchFamily="34" charset="0"/>
                <a:ea typeface="Calibri" pitchFamily="34" charset="-122"/>
                <a:cs typeface="Calibri" pitchFamily="34" charset="-120"/>
              </a:rPr>
              <a:t>AnimalSpecies · PlantSpecies</a:t>
            </a:r>
            <a:endParaRPr lang="en-US" sz="1400" dirty="0"/>
          </a:p>
        </p:txBody>
      </p:sp>
      <p:sp>
        <p:nvSpPr>
          <p:cNvPr id="10" name="Shape 8"/>
          <p:cNvSpPr/>
          <p:nvPr/>
        </p:nvSpPr>
        <p:spPr>
          <a:xfrm>
            <a:off x="475488" y="2523744"/>
            <a:ext cx="164592" cy="164592"/>
          </a:xfrm>
          <a:prstGeom prst="ellipse">
            <a:avLst/>
          </a:prstGeom>
          <a:solidFill>
            <a:srgbClr val="E8EDF2">
              <a:alpha val="70000"/>
            </a:srgbClr>
          </a:solidFill>
          <a:ln w="12700">
            <a:solidFill>
              <a:srgbClr val="E8EDF2"/>
            </a:solidFill>
            <a:prstDash val="solid"/>
          </a:ln>
        </p:spPr>
        <p:txBody>
          <a:bodyPr/>
          <a:p/>
        </p:txBody>
      </p:sp>
      <p:sp>
        <p:nvSpPr>
          <p:cNvPr id="11" name="Text 9"/>
          <p:cNvSpPr/>
          <p:nvPr/>
        </p:nvSpPr>
        <p:spPr>
          <a:xfrm>
            <a:off x="749808" y="2450592"/>
            <a:ext cx="3474720" cy="320040"/>
          </a:xfrm>
          <a:prstGeom prst="rect">
            <a:avLst/>
          </a:prstGeom>
          <a:noFill/>
          <a:ln/>
        </p:spPr>
        <p:txBody>
          <a:bodyPr wrap="square" lIns="0" tIns="0" rIns="0" bIns="0" rtlCol="0" anchor="ctr"/>
          <a:lstStyle/>
          <a:p>
            <a:pPr indent="0" marL="0">
              <a:buNone/>
            </a:pPr>
            <a:r>
              <a:rPr lang="en-US" sz="1400" dirty="0">
                <a:solidFill>
                  <a:srgbClr val="E8EDF2"/>
                </a:solidFill>
                <a:latin typeface="Calibri" pitchFamily="34" charset="0"/>
                <a:ea typeface="Calibri" pitchFamily="34" charset="-122"/>
                <a:cs typeface="Calibri" pitchFamily="34" charset="-120"/>
              </a:rPr>
              <a:t>NativeNation · Event · Taxon · Chunk</a:t>
            </a:r>
            <a:endParaRPr lang="en-US" sz="1400" dirty="0"/>
          </a:p>
        </p:txBody>
      </p:sp>
      <p:sp>
        <p:nvSpPr>
          <p:cNvPr id="12" name="Text 10"/>
          <p:cNvSpPr/>
          <p:nvPr/>
        </p:nvSpPr>
        <p:spPr>
          <a:xfrm>
            <a:off x="457200" y="3017520"/>
            <a:ext cx="3931920" cy="274320"/>
          </a:xfrm>
          <a:prstGeom prst="rect">
            <a:avLst/>
          </a:prstGeom>
          <a:noFill/>
          <a:ln/>
        </p:spPr>
        <p:txBody>
          <a:bodyPr wrap="square" lIns="0" tIns="0" rIns="0" bIns="0" rtlCol="0" anchor="ctr"/>
          <a:lstStyle/>
          <a:p>
            <a:pPr indent="0" marL="0">
              <a:buNone/>
            </a:pPr>
            <a:r>
              <a:rPr lang="en-US" sz="1100" b="1" spc="300" kern="0" dirty="0">
                <a:solidFill>
                  <a:srgbClr val="00CC76"/>
                </a:solidFill>
                <a:latin typeface="Calibri" pitchFamily="34" charset="0"/>
                <a:ea typeface="Calibri" pitchFamily="34" charset="-122"/>
                <a:cs typeface="Calibri" pitchFamily="34" charset="-120"/>
              </a:rPr>
              <a:t>RELATIONSHIPS</a:t>
            </a:r>
            <a:endParaRPr lang="en-US" sz="1100" dirty="0"/>
          </a:p>
        </p:txBody>
      </p:sp>
      <p:sp>
        <p:nvSpPr>
          <p:cNvPr id="13" name="Text 11"/>
          <p:cNvSpPr/>
          <p:nvPr/>
        </p:nvSpPr>
        <p:spPr>
          <a:xfrm>
            <a:off x="457200" y="3364992"/>
            <a:ext cx="4114800" cy="320040"/>
          </a:xfrm>
          <a:prstGeom prst="rect">
            <a:avLst/>
          </a:prstGeom>
          <a:noFill/>
          <a:ln/>
        </p:spPr>
        <p:txBody>
          <a:bodyPr wrap="square" lIns="0" tIns="0" rIns="0" bIns="0" rtlCol="0" anchor="ctr"/>
          <a:lstStyle/>
          <a:p>
            <a:pPr indent="0" marL="0">
              <a:buNone/>
            </a:pPr>
            <a:r>
              <a:rPr lang="en-US" sz="1300" dirty="0">
                <a:solidFill>
                  <a:srgbClr val="7A8FA6"/>
                </a:solidFill>
                <a:latin typeface="Calibri" pitchFamily="34" charset="0"/>
                <a:ea typeface="Calibri" pitchFamily="34" charset="-122"/>
                <a:cs typeface="Calibri" pitchFamily="34" charset="-120"/>
              </a:rPr>
              <a:t>→  MENTIONED_IN · NEXT_CHUNK</a:t>
            </a:r>
            <a:endParaRPr lang="en-US" sz="1300" dirty="0"/>
          </a:p>
        </p:txBody>
      </p:sp>
      <p:sp>
        <p:nvSpPr>
          <p:cNvPr id="14" name="Text 12"/>
          <p:cNvSpPr/>
          <p:nvPr/>
        </p:nvSpPr>
        <p:spPr>
          <a:xfrm>
            <a:off x="457200" y="3712464"/>
            <a:ext cx="4114800" cy="320040"/>
          </a:xfrm>
          <a:prstGeom prst="rect">
            <a:avLst/>
          </a:prstGeom>
          <a:noFill/>
          <a:ln/>
        </p:spPr>
        <p:txBody>
          <a:bodyPr wrap="square" lIns="0" tIns="0" rIns="0" bIns="0" rtlCol="0" anchor="ctr"/>
          <a:lstStyle/>
          <a:p>
            <a:pPr indent="0" marL="0">
              <a:buNone/>
            </a:pPr>
            <a:r>
              <a:rPr lang="en-US" sz="1300" dirty="0">
                <a:solidFill>
                  <a:srgbClr val="7A8FA6"/>
                </a:solidFill>
                <a:latin typeface="Calibri" pitchFamily="34" charset="0"/>
                <a:ea typeface="Calibri" pitchFamily="34" charset="-122"/>
                <a:cs typeface="Calibri" pitchFamily="34" charset="-120"/>
              </a:rPr>
              <a:t>→  OBSERVED · CAMPED_AT · VISITED</a:t>
            </a:r>
            <a:endParaRPr lang="en-US" sz="1300" dirty="0"/>
          </a:p>
        </p:txBody>
      </p:sp>
      <p:sp>
        <p:nvSpPr>
          <p:cNvPr id="15" name="Text 13"/>
          <p:cNvSpPr/>
          <p:nvPr/>
        </p:nvSpPr>
        <p:spPr>
          <a:xfrm>
            <a:off x="457200" y="4059936"/>
            <a:ext cx="4114800" cy="320040"/>
          </a:xfrm>
          <a:prstGeom prst="rect">
            <a:avLst/>
          </a:prstGeom>
          <a:noFill/>
          <a:ln/>
        </p:spPr>
        <p:txBody>
          <a:bodyPr wrap="square" lIns="0" tIns="0" rIns="0" bIns="0" rtlCol="0" anchor="ctr"/>
          <a:lstStyle/>
          <a:p>
            <a:pPr indent="0" marL="0">
              <a:buNone/>
            </a:pPr>
            <a:r>
              <a:rPr lang="en-US" sz="1300" dirty="0">
                <a:solidFill>
                  <a:srgbClr val="7A8FA6"/>
                </a:solidFill>
                <a:latin typeface="Calibri" pitchFamily="34" charset="0"/>
                <a:ea typeface="Calibri" pitchFamily="34" charset="-122"/>
                <a:cs typeface="Calibri" pitchFamily="34" charset="-120"/>
              </a:rPr>
              <a:t>→  TRADED_WITH · MET_WITH</a:t>
            </a:r>
            <a:endParaRPr lang="en-US" sz="1300" dirty="0"/>
          </a:p>
        </p:txBody>
      </p:sp>
      <p:sp>
        <p:nvSpPr>
          <p:cNvPr id="16" name="Text 14"/>
          <p:cNvSpPr/>
          <p:nvPr/>
        </p:nvSpPr>
        <p:spPr>
          <a:xfrm>
            <a:off x="457200" y="4407408"/>
            <a:ext cx="4114800" cy="320040"/>
          </a:xfrm>
          <a:prstGeom prst="rect">
            <a:avLst/>
          </a:prstGeom>
          <a:noFill/>
          <a:ln/>
        </p:spPr>
        <p:txBody>
          <a:bodyPr wrap="square" lIns="0" tIns="0" rIns="0" bIns="0" rtlCol="0" anchor="ctr"/>
          <a:lstStyle/>
          <a:p>
            <a:pPr indent="0" marL="0">
              <a:buNone/>
            </a:pPr>
            <a:r>
              <a:rPr lang="en-US" sz="1300" dirty="0">
                <a:solidFill>
                  <a:srgbClr val="7A8FA6"/>
                </a:solidFill>
                <a:latin typeface="Calibri" pitchFamily="34" charset="0"/>
                <a:ea typeface="Calibri" pitchFamily="34" charset="-122"/>
                <a:cs typeface="Calibri" pitchFamily="34" charset="-120"/>
              </a:rPr>
              <a:t>→  BELONGS_TO  (taxonomy)</a:t>
            </a:r>
            <a:endParaRPr lang="en-US" sz="1300" dirty="0"/>
          </a:p>
          <a:p>
            <a:pPr indent="0" marL="0">
              <a:buNone/>
            </a:pPr>
            <a:endParaRPr lang="en-US" sz="1300" dirty="0"/>
            <a:r>
              <a:rPr lang="en-US" sz="1300" dirty="0">
                <a:solidFill>
                  <a:srgbClr val="7A8FA6"/>
                </a:solidFill>
                <a:latin typeface="Calibri" pitchFamily="34" charset="0"/>
                <a:ea typeface="Calibri" pitchFamily="34" charset="-122"/>
                <a:cs typeface="Calibri" pitchFamily="34" charset="-120"/>
              </a:rPr>
              <a:t>→  activity rels carry {date, chunkId}  (OBSERVED, CAMPED_AT, VISITED…)</a:t>
            </a:r>
          </a:p>
        </p:txBody>
      </p:sp>
      <p:sp>
        <p:nvSpPr>
          <p:cNvPr id="17" name="Shape 15"/>
          <p:cNvSpPr/>
          <p:nvPr/>
        </p:nvSpPr>
        <p:spPr>
          <a:xfrm>
            <a:off x="4663440" y="777240"/>
            <a:ext cx="4206240" cy="4023360"/>
          </a:xfrm>
          <a:prstGeom prst="roundRect">
            <a:avLst>
              <a:gd name="adj" fmla="val 2727"/>
            </a:avLst>
          </a:prstGeom>
          <a:solidFill>
            <a:srgbClr val="FFFFFF"/>
          </a:solidFill>
          <a:ln w="12700">
            <a:solidFill>
              <a:srgbClr val="DDDDDD"/>
            </a:solidFill>
            <a:prstDash val="solid"/>
          </a:ln>
        </p:spPr>
        <p:txBody>
          <a:bodyPr/>
          <a:p/>
        </p:txBody>
      </p:sp>
      <p:sp>
        <p:nvSpPr>
          <p:cNvPr id="18" name="Text 16"/>
          <p:cNvSpPr/>
          <p:nvPr/>
        </p:nvSpPr>
        <p:spPr>
          <a:xfrm>
            <a:off x="4663440" y="1984248"/>
            <a:ext cx="4206240" cy="365760"/>
          </a:xfrm>
          <a:prstGeom prst="rect">
            <a:avLst/>
          </a:prstGeom>
          <a:noFill/>
          <a:ln/>
        </p:spPr>
        <p:txBody>
          <a:bodyPr wrap="square" lIns="0" tIns="0" rIns="0" bIns="0" rtlCol="0" anchor="ctr"/>
          <a:lstStyle/>
          <a:p>
            <a:pPr algn="ctr" indent="0" marL="0">
              <a:buNone/>
            </a:pPr>
            <a:r>
              <a:rPr lang="en-US" sz="1300" b="1" i="1" dirty="0">
                <a:solidFill>
                  <a:srgbClr val="7A8FA6"/>
                </a:solidFill>
                <a:latin typeface="Calibri" pitchFamily="34" charset="0"/>
                <a:ea typeface="Calibri" pitchFamily="34" charset="-122"/>
                <a:cs typeface="Calibri" pitchFamily="34" charset="-120"/>
              </a:rPr>
              <a:t>[ ARROWS.APP DIAGRAM ]</a:t>
            </a:r>
            <a:endParaRPr lang="en-US" sz="1300" dirty="0"/>
          </a:p>
        </p:txBody>
      </p:sp>
      <p:sp>
        <p:nvSpPr>
          <p:cNvPr id="19" name="Text 17"/>
          <p:cNvSpPr/>
          <p:nvPr/>
        </p:nvSpPr>
        <p:spPr>
          <a:xfrm>
            <a:off x="4663440" y="2368296"/>
            <a:ext cx="4206240" cy="548640"/>
          </a:xfrm>
          <a:prstGeom prst="rect">
            <a:avLst/>
          </a:prstGeom>
          <a:noFill/>
          <a:ln/>
        </p:spPr>
        <p:txBody>
          <a:bodyPr wrap="square" lIns="0" tIns="0" rIns="0" bIns="0" rtlCol="0" anchor="ctr"/>
          <a:lstStyle/>
          <a:p>
            <a:pPr algn="ctr" indent="0" marL="0">
              <a:buNone/>
            </a:pPr>
            <a:r>
              <a:rPr lang="en-US" sz="1100" i="1" dirty="0">
                <a:solidFill>
                  <a:srgbClr val="888888"/>
                </a:solidFill>
                <a:latin typeface="Calibri" pitchFamily="34" charset="0"/>
                <a:ea typeface="Calibri" pitchFamily="34" charset="-122"/>
                <a:cs typeface="Calibri" pitchFamily="34" charset="-120"/>
              </a:rPr>
              <a:t>Schema diagram: 8 node types as colored circles with key relationships.</a:t>
            </a:r>
            <a:endParaRPr lang="en-US" sz="1100" dirty="0"/>
          </a:p>
          <a:p>
            <a:pPr algn="ctr" indent="0" marL="0">
              <a:buNone/>
            </a:pPr>
            <a:r>
              <a:rPr lang="en-US" sz="1100" i="1" dirty="0">
                <a:solidFill>
                  <a:srgbClr val="888888"/>
                </a:solidFill>
                <a:latin typeface="Calibri" pitchFamily="34" charset="0"/>
                <a:ea typeface="Calibri" pitchFamily="34" charset="-122"/>
                <a:cs typeface="Calibri" pitchFamily="34" charset="-120"/>
              </a:rPr>
              <a:t>Person=blue, Place=amber, WaterBody=cyan, AnimalSpecies=green,</a:t>
            </a:r>
            <a:endParaRPr lang="en-US" sz="1100" dirty="0"/>
          </a:p>
          <a:p>
            <a:pPr algn="ctr" indent="0" marL="0">
              <a:buNone/>
            </a:pPr>
            <a:r>
              <a:rPr lang="en-US" sz="1100" i="1" dirty="0">
                <a:solidFill>
                  <a:srgbClr val="888888"/>
                </a:solidFill>
                <a:latin typeface="Calibri" pitchFamily="34" charset="0"/>
                <a:ea typeface="Calibri" pitchFamily="34" charset="-122"/>
                <a:cs typeface="Calibri" pitchFamily="34" charset="-120"/>
              </a:rPr>
              <a:t>PlantSpecies=lime, NativeNation=purple, Event=orange, Chunk=gray</a:t>
            </a:r>
            <a:endParaRPr lang="en-US" sz="1100" dirty="0"/>
          </a:p>
          <a:p>
            <a:pPr algn="ctr" indent="0" marL="0">
              <a:buNone/>
            </a:pPr>
            <a:r>
              <a:rPr lang="en-US" sz="1100" i="1" dirty="0">
                <a:solidFill>
                  <a:srgbClr val="888888"/>
                </a:solidFill>
                <a:latin typeface="Calibri" pitchFamily="34" charset="0"/>
                <a:ea typeface="Calibri" pitchFamily="34" charset="-122"/>
                <a:cs typeface="Calibri" pitchFamily="34" charset="-120"/>
              </a:rPr>
              <a:t>NativeNation=purple, Chunk=gray</a:t>
            </a:r>
            <a:endParaRPr lang="en-US" sz="1100" dirty="0"/>
          </a:p>
          <a:p>
            <a:pPr algn="ctr" indent="0" marL="0">
              <a:buNone/>
            </a:pPr>
            <a:endParaRPr lang="en-US" sz="1100" dirty="0"/>
            <a:r>
              <a:rPr lang="en-US" sz="1100" i="1" dirty="0">
                <a:solidFill>
                  <a:srgbClr val="888888"/>
                </a:solidFill>
                <a:latin typeface="Calibri" pitchFamily="34" charset="0"/>
                <a:ea typeface="Calibri" pitchFamily="34" charset="-122"/>
                <a:cs typeface="Calibri" pitchFamily="34" charset="-120"/>
              </a:rPr>
              <a:t>Entity nodes carry per-label vector indexes (taxon_embeddings, event_embeddings, etc.) for concept matching, and per-label full-text indexes (person_search, location_search covering Place+WaterBody, native_nation_search) for proper-noun matching. Separate indexes eliminate cross-label noise at query time.</a:t>
            </a:r>
          </a:p>
        </p:txBody>
      </p:sp>
      <p:sp>
        <p:nvSpPr>
          <p:cNvPr id="20" name="Text 18"/>
          <p:cNvSpPr/>
          <p:nvPr/>
        </p:nvSpPr>
        <p:spPr>
          <a:xfrm>
            <a:off x="4663440" y="4846320"/>
            <a:ext cx="4206240" cy="274320"/>
          </a:xfrm>
          <a:prstGeom prst="rect">
            <a:avLst/>
          </a:prstGeom>
          <a:noFill/>
          <a:ln/>
        </p:spPr>
        <p:txBody>
          <a:bodyPr wrap="square" lIns="0" tIns="0" rIns="0" bIns="0" rtlCol="0" anchor="ctr"/>
          <a:lstStyle/>
          <a:p>
            <a:pPr algn="l" indent="0" marL="0">
              <a:buNone/>
            </a:pPr>
            <a:r>
              <a:rPr lang="en-US" sz="1000" i="1" dirty="0">
                <a:solidFill>
                  <a:srgbClr val="00CC76"/>
                </a:solidFill>
                <a:latin typeface="Calibri" pitchFamily="34" charset="0"/>
                <a:ea typeface="Calibri" pitchFamily="34" charset="-122"/>
                <a:cs typeface="Calibri" pitchFamily="34" charset="-120"/>
              </a:rPr>
              <a:t>→ Create the data model in arrows.app</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457200" y="228600"/>
            <a:ext cx="8229600" cy="502920"/>
          </a:xfrm>
          <a:prstGeom prst="rect">
            <a:avLst/>
          </a:prstGeom>
          <a:noFill/>
          <a:ln/>
        </p:spPr>
        <p:txBody>
          <a:bodyPr wrap="square" lIns="0" tIns="0" rIns="0" bIns="0" rtlCol="0" anchor="ctr"/>
          <a:lstStyle/>
          <a:p>
            <a:pPr algn="l" indent="0" marL="0">
              <a:buNone/>
            </a:pPr>
            <a:r>
              <a:rPr lang="en-US" sz="2600" b="1" dirty="0">
                <a:solidFill>
                  <a:srgbClr val="018BFF"/>
                </a:solidFill>
                <a:latin typeface="Calibri" pitchFamily="34" charset="0"/>
                <a:ea typeface="Calibri" pitchFamily="34" charset="-122"/>
                <a:cs typeface="Calibri" pitchFamily="34" charset="-120"/>
              </a:rPr>
              <a:t>What it actually took</a:t>
            </a:r>
            <a:endParaRPr lang="en-US" sz="2600" dirty="0"/>
          </a:p>
        </p:txBody>
      </p:sp>
      <p:sp>
        <p:nvSpPr>
          <p:cNvPr id="3" name="Shape 1"/>
          <p:cNvSpPr/>
          <p:nvPr/>
        </p:nvSpPr>
        <p:spPr>
          <a:xfrm>
            <a:off x="457200" y="987552"/>
            <a:ext cx="365760" cy="365760"/>
          </a:xfrm>
          <a:prstGeom prst="ellipse">
            <a:avLst/>
          </a:prstGeom>
          <a:solidFill>
            <a:srgbClr val="018BFF"/>
          </a:solidFill>
          <a:ln w="12700">
            <a:solidFill>
              <a:srgbClr val="018BFF"/>
            </a:solidFill>
            <a:prstDash val="solid"/>
          </a:ln>
        </p:spPr>
        <p:txBody>
          <a:bodyPr/>
          <a:p/>
        </p:txBody>
      </p:sp>
      <p:sp>
        <p:nvSpPr>
          <p:cNvPr id="4" name="Text 2"/>
          <p:cNvSpPr/>
          <p:nvPr/>
        </p:nvSpPr>
        <p:spPr>
          <a:xfrm>
            <a:off x="457200" y="98755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5" name="Text 3"/>
          <p:cNvSpPr/>
          <p:nvPr/>
        </p:nvSpPr>
        <p:spPr>
          <a:xfrm>
            <a:off x="978408" y="960120"/>
            <a:ext cx="1463040" cy="420624"/>
          </a:xfrm>
          <a:prstGeom prst="rect">
            <a:avLst/>
          </a:prstGeom>
          <a:noFill/>
          <a:ln/>
        </p:spPr>
        <p:txBody>
          <a:bodyPr wrap="square" lIns="0" tIns="0" rIns="0" bIns="0" rtlCol="0" anchor="ctr"/>
          <a:lstStyle/>
          <a:p>
            <a:pPr indent="0" marL="0">
              <a:buNone/>
            </a:pPr>
            <a:r>
              <a:rPr lang="en-US" sz="1500" b="1" dirty="0">
                <a:solidFill>
                  <a:srgbClr val="E8EDF2"/>
                </a:solidFill>
                <a:latin typeface="Calibri" pitchFamily="34" charset="0"/>
                <a:ea typeface="Calibri" pitchFamily="34" charset="-122"/>
                <a:cs typeface="Calibri" pitchFamily="34" charset="-120"/>
              </a:rPr>
              <a:t>Ingest</a:t>
            </a:r>
            <a:endParaRPr lang="en-US" sz="1500" dirty="0"/>
          </a:p>
        </p:txBody>
      </p:sp>
      <p:sp>
        <p:nvSpPr>
          <p:cNvPr id="6" name="Text 4"/>
          <p:cNvSpPr/>
          <p:nvPr/>
        </p:nvSpPr>
        <p:spPr>
          <a:xfrm>
            <a:off x="2514600" y="960120"/>
            <a:ext cx="6126480" cy="420624"/>
          </a:xfrm>
          <a:prstGeom prst="rect">
            <a:avLst/>
          </a:prstGeom>
          <a:noFill/>
          <a:ln/>
        </p:spPr>
        <p:txBody>
          <a:bodyPr wrap="square" lIns="0" tIns="0" rIns="0" bIns="0" rtlCol="0" anchor="ctr"/>
          <a:lstStyle/>
          <a:p>
            <a:pPr indent="0" marL="0">
              <a:buNone/>
            </a:pPr>
            <a:r>
              <a:rPr lang="en-US" sz="1300" dirty="0">
                <a:solidFill>
                  <a:srgbClr val="7A8FA6"/>
                </a:solidFill>
                <a:latin typeface="Calibri" pitchFamily="34" charset="0"/>
                <a:ea typeface="Calibri" pitchFamily="34" charset="-122"/>
                <a:cs typeface="Calibri" pitchFamily="34" charset="-120"/>
              </a:rPr>
              <a:t>Chunk by journal entry, embed, load Chunk nodes   ~1 hr · ~$5 embeddings</a:t>
            </a:r>
            <a:endParaRPr lang="en-US" sz="1300" dirty="0"/>
          </a:p>
        </p:txBody>
      </p:sp>
      <p:sp>
        <p:nvSpPr>
          <p:cNvPr id="7" name="Shape 5"/>
          <p:cNvSpPr/>
          <p:nvPr/>
        </p:nvSpPr>
        <p:spPr>
          <a:xfrm>
            <a:off x="457200" y="1572768"/>
            <a:ext cx="365760" cy="365760"/>
          </a:xfrm>
          <a:prstGeom prst="ellipse">
            <a:avLst/>
          </a:prstGeom>
          <a:solidFill>
            <a:srgbClr val="018BFF"/>
          </a:solidFill>
          <a:ln w="12700">
            <a:solidFill>
              <a:srgbClr val="018BFF"/>
            </a:solidFill>
            <a:prstDash val="solid"/>
          </a:ln>
        </p:spPr>
        <p:txBody>
          <a:bodyPr/>
          <a:p/>
        </p:txBody>
      </p:sp>
      <p:sp>
        <p:nvSpPr>
          <p:cNvPr id="8" name="Text 6"/>
          <p:cNvSpPr/>
          <p:nvPr/>
        </p:nvSpPr>
        <p:spPr>
          <a:xfrm>
            <a:off x="457200" y="157276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9" name="Text 7"/>
          <p:cNvSpPr/>
          <p:nvPr/>
        </p:nvSpPr>
        <p:spPr>
          <a:xfrm>
            <a:off x="978408" y="1545336"/>
            <a:ext cx="1463040" cy="420624"/>
          </a:xfrm>
          <a:prstGeom prst="rect">
            <a:avLst/>
          </a:prstGeom>
          <a:noFill/>
          <a:ln/>
        </p:spPr>
        <p:txBody>
          <a:bodyPr wrap="square" lIns="0" tIns="0" rIns="0" bIns="0" rtlCol="0" anchor="ctr"/>
          <a:lstStyle/>
          <a:p>
            <a:pPr indent="0" marL="0">
              <a:buNone/>
            </a:pPr>
            <a:r>
              <a:rPr lang="en-US" sz="1500" b="1" dirty="0">
                <a:solidFill>
                  <a:srgbClr val="E8EDF2"/>
                </a:solidFill>
                <a:latin typeface="Calibri" pitchFamily="34" charset="0"/>
                <a:ea typeface="Calibri" pitchFamily="34" charset="-122"/>
                <a:cs typeface="Calibri" pitchFamily="34" charset="-120"/>
              </a:rPr>
              <a:t>Extract</a:t>
            </a:r>
            <a:endParaRPr lang="en-US" sz="1500" dirty="0"/>
          </a:p>
        </p:txBody>
      </p:sp>
      <p:sp>
        <p:nvSpPr>
          <p:cNvPr id="10" name="Text 8"/>
          <p:cNvSpPr/>
          <p:nvPr/>
        </p:nvSpPr>
        <p:spPr>
          <a:xfrm>
            <a:off x="2514600" y="1545336"/>
            <a:ext cx="6126480" cy="420624"/>
          </a:xfrm>
          <a:prstGeom prst="rect">
            <a:avLst/>
          </a:prstGeom>
          <a:noFill/>
          <a:ln/>
        </p:spPr>
        <p:txBody>
          <a:bodyPr wrap="square" lIns="0" tIns="0" rIns="0" bIns="0" rtlCol="0" anchor="ctr"/>
          <a:lstStyle/>
          <a:p>
            <a:pPr indent="0" marL="0">
              <a:buNone/>
            </a:pPr>
            <a:r>
              <a:rPr lang="en-US" sz="1300" dirty="0">
                <a:solidFill>
                  <a:srgbClr val="7A8FA6"/>
                </a:solidFill>
                <a:latin typeface="Calibri" pitchFamily="34" charset="0"/>
                <a:ea typeface="Calibri" pitchFamily="34" charset="-122"/>
                <a:cs typeface="Calibri" pitchFamily="34" charset="-120"/>
              </a:rPr>
              <a:t>LLM entity + relationship extraction per chunk   ~$8  (gpt-4o-mini, full corpus)</a:t>
            </a:r>
            <a:endParaRPr lang="en-US" sz="1300" dirty="0"/>
          </a:p>
        </p:txBody>
      </p:sp>
      <p:sp>
        <p:nvSpPr>
          <p:cNvPr id="11" name="Shape 9"/>
          <p:cNvSpPr/>
          <p:nvPr/>
        </p:nvSpPr>
        <p:spPr>
          <a:xfrm>
            <a:off x="457200" y="2157984"/>
            <a:ext cx="365760" cy="365760"/>
          </a:xfrm>
          <a:prstGeom prst="ellipse">
            <a:avLst/>
          </a:prstGeom>
          <a:solidFill>
            <a:srgbClr val="018BFF"/>
          </a:solidFill>
          <a:ln w="12700">
            <a:solidFill>
              <a:srgbClr val="018BFF"/>
            </a:solidFill>
            <a:prstDash val="solid"/>
          </a:ln>
        </p:spPr>
        <p:txBody>
          <a:bodyPr/>
          <a:p/>
        </p:txBody>
      </p:sp>
      <p:sp>
        <p:nvSpPr>
          <p:cNvPr id="12" name="Text 10"/>
          <p:cNvSpPr/>
          <p:nvPr/>
        </p:nvSpPr>
        <p:spPr>
          <a:xfrm>
            <a:off x="457200" y="215798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3" name="Text 11"/>
          <p:cNvSpPr/>
          <p:nvPr/>
        </p:nvSpPr>
        <p:spPr>
          <a:xfrm>
            <a:off x="978408" y="2130552"/>
            <a:ext cx="1463040" cy="420624"/>
          </a:xfrm>
          <a:prstGeom prst="rect">
            <a:avLst/>
          </a:prstGeom>
          <a:noFill/>
          <a:ln/>
        </p:spPr>
        <p:txBody>
          <a:bodyPr wrap="square" lIns="0" tIns="0" rIns="0" bIns="0" rtlCol="0" anchor="ctr"/>
          <a:lstStyle/>
          <a:p>
            <a:pPr indent="0" marL="0">
              <a:buNone/>
            </a:pPr>
            <a:r>
              <a:rPr lang="en-US" sz="1500" b="1" dirty="0">
                <a:solidFill>
                  <a:srgbClr val="E8EDF2"/>
                </a:solidFill>
                <a:latin typeface="Calibri" pitchFamily="34" charset="0"/>
                <a:ea typeface="Calibri" pitchFamily="34" charset="-122"/>
                <a:cs typeface="Calibri" pitchFamily="34" charset="-120"/>
              </a:rPr>
              <a:t>Disambiguate</a:t>
            </a:r>
            <a:endParaRPr lang="en-US" sz="1500" dirty="0"/>
          </a:p>
        </p:txBody>
      </p:sp>
      <p:sp>
        <p:nvSpPr>
          <p:cNvPr id="14" name="Text 12"/>
          <p:cNvSpPr/>
          <p:nvPr/>
        </p:nvSpPr>
        <p:spPr>
          <a:xfrm>
            <a:off x="2514600" y="2130552"/>
            <a:ext cx="6126480" cy="420624"/>
          </a:xfrm>
          <a:prstGeom prst="rect">
            <a:avLst/>
          </a:prstGeom>
          <a:noFill/>
          <a:ln/>
        </p:spPr>
        <p:txBody>
          <a:bodyPr wrap="square" lIns="0" tIns="0" rIns="0" bIns="0" rtlCol="0" anchor="ctr"/>
          <a:lstStyle/>
          <a:p>
            <a:pPr indent="0" marL="0">
              <a:buNone/>
            </a:pPr>
            <a:r>
              <a:rPr lang="en-US" sz="1300" dirty="0">
                <a:solidFill>
                  <a:srgbClr val="7A8FA6"/>
                </a:solidFill>
                <a:latin typeface="Calibri" pitchFamily="34" charset="0"/>
                <a:ea typeface="Calibri" pitchFamily="34" charset="-122"/>
                <a:cs typeface="Calibri" pitchFamily="34" charset="-120"/>
              </a:rPr>
              <a:t>Two-pass LLM merge of CLARK / CAPTAIN CLARK / WILLIAM CLARK → one node</a:t>
            </a:r>
            <a:endParaRPr lang="en-US" sz="1300" dirty="0"/>
          </a:p>
        </p:txBody>
      </p:sp>
      <p:sp>
        <p:nvSpPr>
          <p:cNvPr id="15" name="Shape 13"/>
          <p:cNvSpPr/>
          <p:nvPr/>
        </p:nvSpPr>
        <p:spPr>
          <a:xfrm>
            <a:off x="457200" y="2743200"/>
            <a:ext cx="365760" cy="365760"/>
          </a:xfrm>
          <a:prstGeom prst="ellipse">
            <a:avLst/>
          </a:prstGeom>
          <a:solidFill>
            <a:srgbClr val="018BFF"/>
          </a:solidFill>
          <a:ln w="12700">
            <a:solidFill>
              <a:srgbClr val="018BFF"/>
            </a:solidFill>
            <a:prstDash val="solid"/>
          </a:ln>
        </p:spPr>
        <p:txBody>
          <a:bodyPr/>
          <a:p/>
        </p:txBody>
      </p:sp>
      <p:sp>
        <p:nvSpPr>
          <p:cNvPr id="16" name="Text 14"/>
          <p:cNvSpPr/>
          <p:nvPr/>
        </p:nvSpPr>
        <p:spPr>
          <a:xfrm>
            <a:off x="457200" y="274320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7" name="Text 15"/>
          <p:cNvSpPr/>
          <p:nvPr/>
        </p:nvSpPr>
        <p:spPr>
          <a:xfrm>
            <a:off x="978408" y="2715768"/>
            <a:ext cx="1463040" cy="420624"/>
          </a:xfrm>
          <a:prstGeom prst="rect">
            <a:avLst/>
          </a:prstGeom>
          <a:noFill/>
          <a:ln/>
        </p:spPr>
        <p:txBody>
          <a:bodyPr wrap="square" lIns="0" tIns="0" rIns="0" bIns="0" rtlCol="0" anchor="ctr"/>
          <a:lstStyle/>
          <a:p>
            <a:pPr indent="0" marL="0">
              <a:buNone/>
            </a:pPr>
            <a:r>
              <a:rPr lang="en-US" sz="1500" b="1" dirty="0">
                <a:solidFill>
                  <a:srgbClr val="E8EDF2"/>
                </a:solidFill>
                <a:latin typeface="Calibri" pitchFamily="34" charset="0"/>
                <a:ea typeface="Calibri" pitchFamily="34" charset="-122"/>
                <a:cs typeface="Calibri" pitchFamily="34" charset="-120"/>
              </a:rPr>
              <a:t>Enrich</a:t>
            </a:r>
            <a:endParaRPr lang="en-US" sz="1500" dirty="0"/>
          </a:p>
        </p:txBody>
      </p:sp>
      <p:sp>
        <p:nvSpPr>
          <p:cNvPr id="18" name="Text 16"/>
          <p:cNvSpPr/>
          <p:nvPr/>
        </p:nvSpPr>
        <p:spPr>
          <a:xfrm>
            <a:off x="2514600" y="2715768"/>
            <a:ext cx="6126480" cy="420624"/>
          </a:xfrm>
          <a:prstGeom prst="rect">
            <a:avLst/>
          </a:prstGeom>
          <a:noFill/>
          <a:ln/>
        </p:spPr>
        <p:txBody>
          <a:bodyPr wrap="square" lIns="0" tIns="0" rIns="0" bIns="0" rtlCol="0" anchor="ctr"/>
          <a:lstStyle/>
          <a:p>
            <a:pPr indent="0" marL="0">
              <a:buNone/>
            </a:pPr>
            <a:r>
              <a:rPr lang="en-US" sz="1300" dirty="0">
                <a:solidFill>
                  <a:srgbClr val="7A8FA6"/>
                </a:solidFill>
                <a:latin typeface="Calibri" pitchFamily="34" charset="0"/>
                <a:ea typeface="Calibri" pitchFamily="34" charset="-122"/>
                <a:cs typeface="Calibri" pitchFamily="34" charset="-120"/>
              </a:rPr>
              <a:t>GBIF taxonomy lookups · Sacagawea reference matching</a:t>
            </a:r>
            <a:endParaRPr lang="en-US" sz="1300" dirty="0"/>
          </a:p>
        </p:txBody>
      </p:sp>
      <p:sp>
        <p:nvSpPr>
          <p:cNvPr id="19" name="Shape 17"/>
          <p:cNvSpPr/>
          <p:nvPr/>
        </p:nvSpPr>
        <p:spPr>
          <a:xfrm>
            <a:off x="457200" y="3328416"/>
            <a:ext cx="365760" cy="365760"/>
          </a:xfrm>
          <a:prstGeom prst="ellipse">
            <a:avLst/>
          </a:prstGeom>
          <a:solidFill>
            <a:srgbClr val="018BFF"/>
          </a:solidFill>
          <a:ln w="12700">
            <a:solidFill>
              <a:srgbClr val="018BFF"/>
            </a:solidFill>
            <a:prstDash val="solid"/>
          </a:ln>
        </p:spPr>
        <p:txBody>
          <a:bodyPr/>
          <a:p/>
        </p:txBody>
      </p:sp>
      <p:sp>
        <p:nvSpPr>
          <p:cNvPr id="20" name="Text 18"/>
          <p:cNvSpPr/>
          <p:nvPr/>
        </p:nvSpPr>
        <p:spPr>
          <a:xfrm>
            <a:off x="457200" y="332841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1" name="Text 19"/>
          <p:cNvSpPr/>
          <p:nvPr/>
        </p:nvSpPr>
        <p:spPr>
          <a:xfrm>
            <a:off x="978408" y="3300984"/>
            <a:ext cx="1463040" cy="420624"/>
          </a:xfrm>
          <a:prstGeom prst="rect">
            <a:avLst/>
          </a:prstGeom>
          <a:noFill/>
          <a:ln/>
        </p:spPr>
        <p:txBody>
          <a:bodyPr wrap="square" lIns="0" tIns="0" rIns="0" bIns="0" rtlCol="0" anchor="ctr"/>
          <a:lstStyle/>
          <a:p>
            <a:pPr indent="0" marL="0">
              <a:buNone/>
            </a:pPr>
            <a:r>
              <a:rPr lang="en-US" sz="1500" b="1" dirty="0">
                <a:solidFill>
                  <a:srgbClr val="E8EDF2"/>
                </a:solidFill>
                <a:latin typeface="Calibri" pitchFamily="34" charset="0"/>
                <a:ea typeface="Calibri" pitchFamily="34" charset="-122"/>
                <a:cs typeface="Calibri" pitchFamily="34" charset="-120"/>
              </a:rPr>
              <a:t>Flag</a:t>
            </a:r>
            <a:endParaRPr lang="en-US" sz="1500" dirty="0"/>
          </a:p>
        </p:txBody>
      </p:sp>
      <p:sp>
        <p:nvSpPr>
          <p:cNvPr id="22" name="Text 20"/>
          <p:cNvSpPr/>
          <p:nvPr/>
        </p:nvSpPr>
        <p:spPr>
          <a:xfrm>
            <a:off x="2514600" y="3300984"/>
            <a:ext cx="6126480" cy="420624"/>
          </a:xfrm>
          <a:prstGeom prst="rect">
            <a:avLst/>
          </a:prstGeom>
          <a:noFill/>
          <a:ln/>
        </p:spPr>
        <p:txBody>
          <a:bodyPr wrap="square" lIns="0" tIns="0" rIns="0" bIns="0" rtlCol="0" anchor="ctr"/>
          <a:lstStyle/>
          <a:p>
            <a:pPr indent="0" marL="0">
              <a:buNone/>
            </a:pPr>
            <a:r>
              <a:rPr lang="en-US" sz="1300" dirty="0">
                <a:solidFill>
                  <a:srgbClr val="7A8FA6"/>
                </a:solidFill>
                <a:latin typeface="Calibri" pitchFamily="34" charset="0"/>
                <a:ea typeface="Calibri" pitchFamily="34" charset="-122"/>
                <a:cs typeface="Calibri" pitchFamily="34" charset="-120"/>
              </a:rPr>
              <a:t>Tag generic place names (:GenericLocation) so queries return real places</a:t>
            </a:r>
            <a:endParaRPr lang="en-US" sz="1300" dirty="0"/>
          </a:p>
        </p:txBody>
      </p:sp>
      <p:sp>
        <p:nvSpPr>
          <p:cNvPr id="23" name="Shape 21"/>
          <p:cNvSpPr/>
          <p:nvPr/>
        </p:nvSpPr>
        <p:spPr>
          <a:xfrm>
            <a:off x="457200" y="4114800"/>
            <a:ext cx="8229600" cy="749808"/>
          </a:xfrm>
          <a:prstGeom prst="rect">
            <a:avLst/>
          </a:prstGeom>
          <a:solidFill>
            <a:srgbClr val="0A2A18"/>
          </a:solidFill>
          <a:ln w="19050">
            <a:solidFill>
              <a:srgbClr val="00CC76"/>
            </a:solidFill>
            <a:prstDash val="solid"/>
          </a:ln>
        </p:spPr>
        <p:txBody>
          <a:bodyPr/>
          <a:p/>
        </p:txBody>
      </p:sp>
      <p:sp>
        <p:nvSpPr>
          <p:cNvPr id="24" name="Text 22"/>
          <p:cNvSpPr/>
          <p:nvPr/>
        </p:nvSpPr>
        <p:spPr>
          <a:xfrm>
            <a:off x="640080" y="4160520"/>
            <a:ext cx="7863840" cy="640080"/>
          </a:xfrm>
          <a:prstGeom prst="rect">
            <a:avLst/>
          </a:prstGeom>
          <a:noFill/>
          <a:ln/>
        </p:spPr>
        <p:txBody>
          <a:bodyPr wrap="square" lIns="0" tIns="0" rIns="0" bIns="0" rtlCol="0" anchor="ctr"/>
          <a:lstStyle/>
          <a:p>
            <a:pPr algn="ctr" indent="0" marL="0">
              <a:buNone/>
            </a:pPr>
            <a:r>
              <a:rPr lang="en-US" sz="1500" dirty="0">
                <a:solidFill>
                  <a:srgbClr val="7A8FA6"/>
                </a:solidFill>
                <a:latin typeface="Calibri" pitchFamily="34" charset="0"/>
                <a:ea typeface="Calibri" pitchFamily="34" charset="-122"/>
                <a:cs typeface="Calibri" pitchFamily="34" charset="-120"/>
              </a:rPr>
              <a:t>Greenfield corpus this size: 2–3 days.  Existing chunked+embedded corpus: ~1 day to add the graph layer.</a:t>
            </a:r>
            <a:pPr algn="ctr" indent="0" marL="0">
              <a:buNone/>
            </a:pPr>
            <a:r>
              <a:rPr lang="en-US" sz="1500" b="1" dirty="0">
                <a:solidFill>
                  <a:srgbClr val="00CC76"/>
                </a:solidFill>
                <a:latin typeface="Calibri" pitchFamily="34" charset="0"/>
                <a:ea typeface="Calibri" pitchFamily="34" charset="-122"/>
                <a:cs typeface="Calibri" pitchFamily="34" charset="-120"/>
              </a:rPr>
              <a:t/>
            </a:r>
            <a:pPr algn="ctr" indent="0" marL="0">
              <a:buNone/>
            </a:pPr>
            <a:r>
              <a:rPr lang="en-US" sz="1500" dirty="0">
                <a:solidFill>
                  <a:srgbClr val="7A8FA6"/>
                </a:solidFill>
                <a:latin typeface="Calibri" pitchFamily="34" charset="0"/>
                <a:ea typeface="Calibri" pitchFamily="34" charset="-122"/>
                <a:cs typeface="Calibri" pitchFamily="34" charset="-120"/>
              </a:rPr>
              <a:t/>
            </a:r>
            <a:pPr algn="ctr" indent="0" marL="0">
              <a:buNone/>
            </a:pPr>
            <a:r>
              <a:rPr lang="en-US" sz="1500" b="1" dirty="0">
                <a:solidFill>
                  <a:srgbClr val="00CC76"/>
                </a:solidFill>
                <a:latin typeface="Calibri" pitchFamily="34" charset="0"/>
                <a:ea typeface="Calibri" pitchFamily="34" charset="-122"/>
                <a:cs typeface="Calibri" pitchFamily="34" charset="-120"/>
              </a:rPr>
              <a:t/>
            </a:r>
            <a:endParaRPr lang="en-US" sz="1500" dirty="0"/>
          </a:p>
          <a:p>
            <a:pPr algn="ctr" indent="0" marL="0">
              <a:buNone/>
            </a:pPr>
            <a:pPr algn="ctr" indent="0" marL="0">
              <a:buNone/>
            </a:pPr>
            <a:pPr algn="ctr" indent="0" marL="0">
              <a:buNone/>
            </a:pPr>
            <a:pPr algn="ctr" indent="0" marL="0">
              <a:buNone/>
            </a:pPr>
            <a:endParaRPr lang="en-US" sz="1500" dirty="0"/>
            <a:r>
              <a:rPr lang="en-US" sz="1500" dirty="0">
                <a:solidFill>
                  <a:srgbClr val="7A8FA6"/>
                </a:solidFill>
                <a:latin typeface="Calibri" pitchFamily="34" charset="0"/>
                <a:ea typeface="Calibri" pitchFamily="34" charset="-122"/>
                <a:cs typeface="Calibri" pitchFamily="34" charset="-120"/>
              </a:rPr>
              <a:t>Step 4 note: The graph build is the right time to join structured external data to your corpus. Taxonomy from GBIF lands as a traversable BELONGS_TO* hierarchy — not flattened metadata. Sacagawea's aliases resolve to a single canonical node with relationships intact. In a vector store you'd flatten this into chunk metadata: workable for simple tags, but taxonomy breaks down — "what rodents?" requires knowing which species fall under Rodentia at query time, and there's no clean way to store an arbitrary-depth hierarchy as metadata.
Step 6 (new): Embed entities + build per-label vector and full-text indexes. Each declared Cypher parameter is resolved against only its matching index — no cross-label contamination.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1920240"/>
            <a:ext cx="9144000" cy="1280160"/>
          </a:xfrm>
          <a:prstGeom prst="rect">
            <a:avLst/>
          </a:prstGeom>
          <a:solidFill>
            <a:srgbClr val="152235"/>
          </a:solidFill>
          <a:ln w="12700">
            <a:solidFill>
              <a:srgbClr val="152235"/>
            </a:solidFill>
            <a:prstDash val="solid"/>
          </a:ln>
        </p:spPr>
      </p:sp>
      <p:sp>
        <p:nvSpPr>
          <p:cNvPr id="3" name="Text 1"/>
          <p:cNvSpPr/>
          <p:nvPr/>
        </p:nvSpPr>
        <p:spPr>
          <a:xfrm>
            <a:off x="457200" y="1965960"/>
            <a:ext cx="8229600" cy="731520"/>
          </a:xfrm>
          <a:prstGeom prst="rect">
            <a:avLst/>
          </a:prstGeom>
          <a:noFill/>
          <a:ln/>
        </p:spPr>
        <p:txBody>
          <a:bodyPr wrap="square" lIns="0" tIns="0" rIns="0" bIns="0" rtlCol="0" anchor="ctr"/>
          <a:lstStyle/>
          <a:p>
            <a:pPr algn="ctr" indent="0" marL="0">
              <a:buNone/>
            </a:pPr>
            <a:r>
              <a:rPr lang="en-US" sz="4000" b="1" dirty="0">
                <a:solidFill>
                  <a:srgbClr val="E8EDF2"/>
                </a:solidFill>
                <a:latin typeface="Calibri" pitchFamily="34" charset="0"/>
                <a:ea typeface="Calibri" pitchFamily="34" charset="-122"/>
                <a:cs typeface="Calibri" pitchFamily="34" charset="-120"/>
              </a:rPr>
              <a:t>Let's look at the graph</a:t>
            </a:r>
            <a:endParaRPr lang="en-US" sz="4000" dirty="0"/>
          </a:p>
        </p:txBody>
      </p:sp>
      <p:sp>
        <p:nvSpPr>
          <p:cNvPr id="4" name="Text 2"/>
          <p:cNvSpPr/>
          <p:nvPr/>
        </p:nvSpPr>
        <p:spPr>
          <a:xfrm>
            <a:off x="457200" y="2743200"/>
            <a:ext cx="8229600" cy="365760"/>
          </a:xfrm>
          <a:prstGeom prst="rect">
            <a:avLst/>
          </a:prstGeom>
          <a:noFill/>
          <a:ln/>
        </p:spPr>
        <p:txBody>
          <a:bodyPr wrap="square" lIns="0" tIns="0" rIns="0" bIns="0" rtlCol="0" anchor="ctr"/>
          <a:lstStyle/>
          <a:p>
            <a:pPr algn="ctr" indent="0" marL="0">
              <a:buNone/>
            </a:pPr>
            <a:r>
              <a:rPr lang="en-US" sz="2000" dirty="0">
                <a:solidFill>
                  <a:srgbClr val="7A8FA6"/>
                </a:solidFill>
                <a:latin typeface="Calibri" pitchFamily="34" charset="0"/>
                <a:ea typeface="Calibri" pitchFamily="34" charset="-122"/>
                <a:cs typeface="Calibri" pitchFamily="34" charset="-120"/>
              </a:rPr>
              <a:t>Neo4j Bloom</a:t>
            </a:r>
            <a:endParaRPr lang="en-US" sz="2000" dirty="0"/>
          </a:p>
        </p:txBody>
      </p:sp>
      <p:sp>
        <p:nvSpPr>
          <p:cNvPr id="5" name="Text 3"/>
          <p:cNvSpPr/>
          <p:nvPr/>
        </p:nvSpPr>
        <p:spPr>
          <a:xfrm>
            <a:off x="457200" y="4663440"/>
            <a:ext cx="8229600" cy="320040"/>
          </a:xfrm>
          <a:prstGeom prst="rect">
            <a:avLst/>
          </a:prstGeom>
          <a:noFill/>
          <a:ln/>
        </p:spPr>
        <p:txBody>
          <a:bodyPr wrap="square" lIns="0" tIns="0" rIns="0" bIns="0" rtlCol="0" anchor="ctr"/>
          <a:lstStyle/>
          <a:p>
            <a:pPr algn="ctr" indent="0" marL="0">
              <a:buNone/>
            </a:pPr>
            <a:r>
              <a:rPr lang="en-US" sz="1300" i="1" dirty="0">
                <a:solidFill>
                  <a:srgbClr val="018BFF"/>
                </a:solidFill>
                <a:latin typeface="Calibri" pitchFamily="34" charset="0"/>
                <a:ea typeface="Calibri" pitchFamily="34" charset="-122"/>
                <a:cs typeface="Calibri" pitchFamily="34" charset="-120"/>
              </a:rPr>
              <a:t>[ switch to Bloom ]</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1920240"/>
            <a:ext cx="9144000" cy="1280160"/>
          </a:xfrm>
          <a:prstGeom prst="rect">
            <a:avLst/>
          </a:prstGeom>
          <a:solidFill>
            <a:srgbClr val="152235"/>
          </a:solidFill>
          <a:ln w="12700">
            <a:solidFill>
              <a:srgbClr val="152235"/>
            </a:solidFill>
            <a:prstDash val="solid"/>
          </a:ln>
        </p:spPr>
      </p:sp>
      <p:sp>
        <p:nvSpPr>
          <p:cNvPr id="3" name="Text 1"/>
          <p:cNvSpPr/>
          <p:nvPr/>
        </p:nvSpPr>
        <p:spPr>
          <a:xfrm>
            <a:off x="457200" y="1965960"/>
            <a:ext cx="8229600" cy="731520"/>
          </a:xfrm>
          <a:prstGeom prst="rect">
            <a:avLst/>
          </a:prstGeom>
          <a:noFill/>
          <a:ln/>
        </p:spPr>
        <p:txBody>
          <a:bodyPr wrap="square" lIns="0" tIns="0" rIns="0" bIns="0" rtlCol="0" anchor="ctr"/>
          <a:lstStyle/>
          <a:p>
            <a:pPr algn="ctr" indent="0" marL="0">
              <a:buNone/>
            </a:pPr>
            <a:r>
              <a:rPr lang="en-US" sz="4000" b="1" dirty="0">
                <a:solidFill>
                  <a:srgbClr val="E8EDF2"/>
                </a:solidFill>
                <a:latin typeface="Calibri" pitchFamily="34" charset="0"/>
                <a:ea typeface="Calibri" pitchFamily="34" charset="-122"/>
                <a:cs typeface="Calibri" pitchFamily="34" charset="-120"/>
              </a:rPr>
              <a:t>Live Demo</a:t>
            </a:r>
            <a:endParaRPr lang="en-US" sz="4000" dirty="0"/>
          </a:p>
        </p:txBody>
      </p:sp>
      <p:sp>
        <p:nvSpPr>
          <p:cNvPr id="4" name="Text 2"/>
          <p:cNvSpPr/>
          <p:nvPr/>
        </p:nvSpPr>
        <p:spPr>
          <a:xfrm>
            <a:off x="457200" y="2743200"/>
            <a:ext cx="8229600" cy="365760"/>
          </a:xfrm>
          <a:prstGeom prst="rect">
            <a:avLst/>
          </a:prstGeom>
          <a:noFill/>
          <a:ln/>
        </p:spPr>
        <p:txBody>
          <a:bodyPr wrap="square" lIns="0" tIns="0" rIns="0" bIns="0" rtlCol="0" anchor="ctr"/>
          <a:lstStyle/>
          <a:p>
            <a:pPr algn="ctr" indent="0" marL="0">
              <a:buNone/>
            </a:pPr>
            <a:r>
              <a:rPr lang="en-US" sz="2000" dirty="0">
                <a:solidFill>
                  <a:srgbClr val="7A8FA6"/>
                </a:solidFill>
                <a:latin typeface="Calibri" pitchFamily="34" charset="0"/>
                <a:ea typeface="Calibri" pitchFamily="34" charset="-122"/>
                <a:cs typeface="Calibri" pitchFamily="34" charset="-120"/>
              </a:rPr>
              <a:t>Lewis &amp; Clark GraphRAG  ·  localhost:3000</a:t>
            </a:r>
            <a:endParaRPr lang="en-US" sz="2000" dirty="0"/>
          </a:p>
        </p:txBody>
      </p:sp>
      <p:sp>
        <p:nvSpPr>
          <p:cNvPr id="5" name="Text 3"/>
          <p:cNvSpPr/>
          <p:nvPr/>
        </p:nvSpPr>
        <p:spPr>
          <a:xfrm>
            <a:off x="457200" y="4663440"/>
            <a:ext cx="8229600" cy="320040"/>
          </a:xfrm>
          <a:prstGeom prst="rect">
            <a:avLst/>
          </a:prstGeom>
          <a:noFill/>
          <a:ln/>
        </p:spPr>
        <p:txBody>
          <a:bodyPr wrap="square" lIns="0" tIns="0" rIns="0" bIns="0" rtlCol="0" anchor="ctr"/>
          <a:lstStyle/>
          <a:p>
            <a:pPr algn="ctr" indent="0" marL="0">
              <a:buNone/>
            </a:pPr>
            <a:r>
              <a:rPr lang="en-US" sz="1300" i="1" dirty="0">
                <a:solidFill>
                  <a:srgbClr val="018BFF"/>
                </a:solidFill>
                <a:latin typeface="Calibri" pitchFamily="34" charset="0"/>
                <a:ea typeface="Calibri" pitchFamily="34" charset="-122"/>
                <a:cs typeface="Calibri" pitchFamily="34" charset="-120"/>
              </a:rPr>
              <a:t>Side-by-side: Vector RAG  |  Graph RAG  —  both run on every question</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457200" y="228600"/>
            <a:ext cx="8229600" cy="502920"/>
          </a:xfrm>
          <a:prstGeom prst="rect">
            <a:avLst/>
          </a:prstGeom>
          <a:noFill/>
          <a:ln/>
        </p:spPr>
        <p:txBody>
          <a:bodyPr wrap="square" lIns="0" tIns="0" rIns="0" bIns="0" rtlCol="0" anchor="ctr"/>
          <a:lstStyle/>
          <a:p>
            <a:pPr algn="l" indent="0" marL="0">
              <a:buNone/>
            </a:pPr>
            <a:r>
              <a:rPr lang="en-US" sz="2600" b="1" dirty="0">
                <a:solidFill>
                  <a:srgbClr val="018BFF"/>
                </a:solidFill>
                <a:latin typeface="Calibri" pitchFamily="34" charset="0"/>
                <a:ea typeface="Calibri" pitchFamily="34" charset="-122"/>
                <a:cs typeface="Calibri" pitchFamily="34" charset="-120"/>
              </a:rPr>
              <a:t>"What species did Lewis observe near the Columbia River?"</a:t>
            </a:r>
            <a:endParaRPr lang="en-US" sz="2600" dirty="0"/>
          </a:p>
        </p:txBody>
      </p:sp>
      <p:sp>
        <p:nvSpPr>
          <p:cNvPr id="3" name="Shape 1"/>
          <p:cNvSpPr/>
          <p:nvPr/>
        </p:nvSpPr>
        <p:spPr>
          <a:xfrm>
            <a:off x="457200" y="960120"/>
            <a:ext cx="3977640" cy="3291840"/>
          </a:xfrm>
          <a:prstGeom prst="rect">
            <a:avLst/>
          </a:prstGeom>
          <a:solidFill>
            <a:srgbClr val="152235"/>
          </a:solidFill>
          <a:ln w="12700">
            <a:solidFill>
              <a:srgbClr val="3A5068"/>
            </a:solidFill>
            <a:prstDash val="solid"/>
          </a:ln>
        </p:spPr>
        <p:txBody>
          <a:bodyPr/>
          <a:p/>
        </p:txBody>
      </p:sp>
      <p:sp>
        <p:nvSpPr>
          <p:cNvPr id="4" name="Text 2"/>
          <p:cNvSpPr/>
          <p:nvPr/>
        </p:nvSpPr>
        <p:spPr>
          <a:xfrm>
            <a:off x="594360" y="1051560"/>
            <a:ext cx="3703320" cy="274320"/>
          </a:xfrm>
          <a:prstGeom prst="rect">
            <a:avLst/>
          </a:prstGeom>
          <a:noFill/>
          <a:ln/>
        </p:spPr>
        <p:txBody>
          <a:bodyPr wrap="square" lIns="0" tIns="0" rIns="0" bIns="0" rtlCol="0" anchor="ctr"/>
          <a:lstStyle/>
          <a:p>
            <a:pPr indent="0" marL="0">
              <a:buNone/>
            </a:pPr>
            <a:r>
              <a:rPr lang="en-US" sz="1100" b="1" spc="300" kern="0" dirty="0">
                <a:solidFill>
                  <a:srgbClr val="7A8FA6"/>
                </a:solidFill>
                <a:latin typeface="Calibri" pitchFamily="34" charset="0"/>
                <a:ea typeface="Calibri" pitchFamily="34" charset="-122"/>
                <a:cs typeface="Calibri" pitchFamily="34" charset="-120"/>
              </a:rPr>
              <a:t>VECTOR RAG</a:t>
            </a:r>
            <a:endParaRPr lang="en-US" sz="1100" dirty="0"/>
          </a:p>
        </p:txBody>
      </p:sp>
      <p:sp>
        <p:nvSpPr>
          <p:cNvPr id="5" name="Text 3"/>
          <p:cNvSpPr/>
          <p:nvPr/>
        </p:nvSpPr>
        <p:spPr>
          <a:xfrm>
            <a:off x="594360" y="1417320"/>
            <a:ext cx="3703320" cy="2697480"/>
          </a:xfrm>
          <a:prstGeom prst="rect">
            <a:avLst/>
          </a:prstGeom>
          <a:noFill/>
          <a:ln/>
        </p:spPr>
        <p:txBody>
          <a:bodyPr wrap="square" lIns="0" tIns="0" rIns="0" bIns="0" rtlCol="0" anchor="t"/>
          <a:lstStyle/>
          <a:p>
            <a:pPr indent="0" marL="0">
              <a:buNone/>
            </a:pPr>
            <a:r>
              <a:rPr lang="en-US" sz="1400" b="1" dirty="0">
                <a:solidFill>
                  <a:srgbClr val="E8EDF2"/>
                </a:solidFill>
                <a:latin typeface="Calibri" pitchFamily="34" charset="0"/>
                <a:ea typeface="Calibri" pitchFamily="34" charset="-122"/>
                <a:cs typeface="Calibri" pitchFamily="34" charset="-120"/>
              </a:rPr>
              <a:t>LLM synthesises from passage similarity
Gets some species — can't tell you if it got them all
Ask the audience:
"How confident are you in this list? How would you verify it?"</a:t>
            </a:r>
            <a:pPr indent="0" marL="0">
              <a:buNone/>
            </a:pPr>
            <a:r>
              <a:rPr lang="en-US" sz="1400" dirty="0">
                <a:solidFill>
                  <a:srgbClr val="7A8FA6"/>
                </a:solidFill>
                <a:latin typeface="Calibri" pitchFamily="34" charset="0"/>
                <a:ea typeface="Calibri" pitchFamily="34" charset="-122"/>
                <a:cs typeface="Calibri" pitchFamily="34" charset="-120"/>
              </a:rPr>
              <a:t/>
            </a:r>
            <a:pPr indent="0" marL="0">
              <a:buNone/>
            </a:pPr>
            <a:r>
              <a:rPr lang="en-US" sz="1400" i="1" dirty="0">
                <a:solidFill>
                  <a:srgbClr val="7A8FA6"/>
                </a:solidFill>
                <a:latin typeface="Calibri" pitchFamily="34" charset="0"/>
                <a:ea typeface="Calibri" pitchFamily="34" charset="-122"/>
                <a:cs typeface="Calibri" pitchFamily="34" charset="-120"/>
              </a:rPr>
              <a:t/>
            </a:r>
            <a:pPr indent="0" marL="0">
              <a:buNone/>
            </a:pPr>
            <a:r>
              <a:rPr lang="en-US" sz="1400" dirty="0">
                <a:solidFill>
                  <a:srgbClr val="7A8FA6"/>
                </a:solidFill>
                <a:latin typeface="Calibri" pitchFamily="34" charset="0"/>
                <a:ea typeface="Calibri" pitchFamily="34" charset="-122"/>
                <a:cs typeface="Calibri" pitchFamily="34" charset="-120"/>
              </a:rPr>
              <a:t/>
            </a:r>
            <a:pPr indent="0" marL="0">
              <a:buNone/>
            </a:pPr>
            <a:r>
              <a:rPr lang="en-US" sz="1400" b="1" dirty="0">
                <a:solidFill>
                  <a:srgbClr val="E8EDF2"/>
                </a:solidFill>
                <a:latin typeface="Calibri" pitchFamily="34" charset="0"/>
                <a:ea typeface="Calibri" pitchFamily="34" charset="-122"/>
                <a:cs typeface="Calibri" pitchFamily="34" charset="-120"/>
              </a:rPr>
              <a:t/>
            </a:r>
            <a:pPr indent="0" marL="0">
              <a:buNone/>
            </a:pPr>
            <a:r>
              <a:rPr lang="en-US" sz="1400" i="1" dirty="0">
                <a:solidFill>
                  <a:srgbClr val="7A8FA6"/>
                </a:solidFill>
                <a:latin typeface="Calibri" pitchFamily="34" charset="0"/>
                <a:ea typeface="Calibri" pitchFamily="34" charset="-122"/>
                <a:cs typeface="Calibri" pitchFamily="34" charset="-120"/>
              </a:rPr>
              <a:t/>
            </a:r>
            <a:endParaRPr lang="en-US" sz="1400" dirty="0"/>
          </a:p>
          <a:p>
            <a:pPr indent="0" marL="0">
              <a:buNone/>
            </a:pPr>
            <a:r>
              <a:rPr lang="en-US" sz="1400" i="1" dirty="0">
                <a:solidFill>
                  <a:srgbClr val="7A8FA6"/>
                </a:solidFill>
                <a:latin typeface="Calibri" pitchFamily="34" charset="0"/>
                <a:ea typeface="Calibri" pitchFamily="34" charset="-122"/>
                <a:cs typeface="Calibri" pitchFamily="34" charset="-120"/>
              </a:rPr>
              <a:t>How would you verify it?"</a:t>
            </a:r>
            <a:endParaRPr lang="en-US" sz="1400" dirty="0"/>
          </a:p>
        </p:txBody>
      </p:sp>
      <p:sp>
        <p:nvSpPr>
          <p:cNvPr id="6" name="Shape 4"/>
          <p:cNvSpPr/>
          <p:nvPr/>
        </p:nvSpPr>
        <p:spPr>
          <a:xfrm>
            <a:off x="4709160" y="960120"/>
            <a:ext cx="3977640" cy="3291840"/>
          </a:xfrm>
          <a:prstGeom prst="rect">
            <a:avLst/>
          </a:prstGeom>
          <a:solidFill>
            <a:srgbClr val="0A2A18"/>
          </a:solidFill>
          <a:ln w="19050">
            <a:solidFill>
              <a:srgbClr val="00CC76"/>
            </a:solidFill>
            <a:prstDash val="solid"/>
          </a:ln>
        </p:spPr>
        <p:txBody>
          <a:bodyPr/>
          <a:p/>
        </p:txBody>
      </p:sp>
      <p:sp>
        <p:nvSpPr>
          <p:cNvPr id="7" name="Text 5"/>
          <p:cNvSpPr/>
          <p:nvPr/>
        </p:nvSpPr>
        <p:spPr>
          <a:xfrm>
            <a:off x="4846320" y="1051560"/>
            <a:ext cx="3703320" cy="274320"/>
          </a:xfrm>
          <a:prstGeom prst="rect">
            <a:avLst/>
          </a:prstGeom>
          <a:noFill/>
          <a:ln/>
        </p:spPr>
        <p:txBody>
          <a:bodyPr wrap="square" lIns="0" tIns="0" rIns="0" bIns="0" rtlCol="0" anchor="ctr"/>
          <a:lstStyle/>
          <a:p>
            <a:pPr indent="0" marL="0">
              <a:buNone/>
            </a:pPr>
            <a:r>
              <a:rPr lang="en-US" sz="1100" b="1" spc="300" kern="0" dirty="0">
                <a:solidFill>
                  <a:srgbClr val="00CC76"/>
                </a:solidFill>
                <a:latin typeface="Calibri" pitchFamily="34" charset="0"/>
                <a:ea typeface="Calibri" pitchFamily="34" charset="-122"/>
                <a:cs typeface="Calibri" pitchFamily="34" charset="-120"/>
              </a:rPr>
              <a:t>GRAPH RAG</a:t>
            </a:r>
            <a:endParaRPr lang="en-US" sz="1100" dirty="0"/>
          </a:p>
        </p:txBody>
      </p:sp>
      <p:sp>
        <p:nvSpPr>
          <p:cNvPr id="8" name="Text 6"/>
          <p:cNvSpPr/>
          <p:nvPr/>
        </p:nvSpPr>
        <p:spPr>
          <a:xfrm>
            <a:off x="4846320" y="1417320"/>
            <a:ext cx="3703320" cy="2697480"/>
          </a:xfrm>
          <a:prstGeom prst="rect">
            <a:avLst/>
          </a:prstGeom>
          <a:noFill/>
          <a:ln/>
        </p:spPr>
        <p:txBody>
          <a:bodyPr wrap="square" lIns="0" tIns="0" rIns="0" bIns="0" rtlCol="0" anchor="t"/>
          <a:lstStyle/>
          <a:p>
            <a:pPr indent="0" marL="0">
              <a:buNone/>
            </a:pPr>
            <a:r>
              <a:rPr lang="en-US" sz="1400" b="1" dirty="0">
                <a:solidFill>
                  <a:srgbClr val="E8EDF2"/>
                </a:solidFill>
                <a:latin typeface="Calibri" pitchFamily="34" charset="0"/>
                <a:ea typeface="Calibri" pitchFamily="34" charset="-122"/>
                <a:cs typeface="Calibri" pitchFamily="34" charset="-120"/>
              </a:rPr>
              <a:t>Agent generates Cypher first, declaring $person (Person) and $waterBody (WaterBody) as typed params. "Lewis" → MERIWETHER LEWIS via person_search; "Columbia River" → COLUMBIA RIVER via location_search (combined Place+WaterBody full-text index). Cypher traverses OBSERVED relationships.
Sources panel shows the Cypher, resolved parameters, and explicit relationships — not inferred, stored.</a:t>
            </a:r>
            <a:pPr indent="0" marL="0">
              <a:buNone/>
            </a:pPr>
            <a:r>
              <a:rPr lang="en-US" sz="1400" dirty="0">
                <a:solidFill>
                  <a:srgbClr val="018BFF"/>
                </a:solidFill>
                <a:latin typeface="Calibri" pitchFamily="34" charset="0"/>
                <a:ea typeface="Calibri" pitchFamily="34" charset="-122"/>
                <a:cs typeface="Calibri" pitchFamily="34" charset="-120"/>
              </a:rPr>
              <a:t/>
            </a:r>
            <a:pPr indent="0" marL="0">
              <a:buNone/>
            </a:pPr>
            <a:r>
              <a:rPr lang="en-US" sz="1400" dirty="0">
                <a:solidFill>
                  <a:srgbClr val="7A8FA6"/>
                </a:solidFill>
                <a:latin typeface="Calibri" pitchFamily="34" charset="0"/>
                <a:ea typeface="Calibri" pitchFamily="34" charset="-122"/>
                <a:cs typeface="Calibri" pitchFamily="34" charset="-120"/>
              </a:rPr>
              <a:t/>
            </a:r>
            <a:pPr indent="0" marL="0">
              <a:buNone/>
            </a:pPr>
            <a:r>
              <a:rPr lang="en-US" sz="1400" dirty="0">
                <a:solidFill>
                  <a:srgbClr val="00CC76"/>
                </a:solidFill>
                <a:latin typeface="Calibri" pitchFamily="34" charset="0"/>
                <a:ea typeface="Calibri" pitchFamily="34" charset="-122"/>
                <a:cs typeface="Calibri" pitchFamily="34" charset="-120"/>
              </a:rPr>
              <a:t/>
            </a:r>
            <a:pPr indent="0" marL="0">
              <a:buNone/>
            </a:pPr>
            <a:r>
              <a:rPr lang="en-US" sz="1400" dirty="0">
                <a:solidFill>
                  <a:srgbClr val="018BFF"/>
                </a:solidFill>
                <a:latin typeface="Calibri" pitchFamily="34" charset="0"/>
                <a:ea typeface="Calibri" pitchFamily="34" charset="-122"/>
                <a:cs typeface="Calibri" pitchFamily="34" charset="-120"/>
              </a:rPr>
              <a:t/>
            </a:r>
            <a:pPr indent="0" marL="0">
              <a:buNone/>
            </a:pPr>
            <a:r>
              <a:rPr lang="en-US" sz="1400" dirty="0">
                <a:solidFill>
                  <a:srgbClr val="7A8FA6"/>
                </a:solidFill>
                <a:latin typeface="Calibri" pitchFamily="34" charset="0"/>
                <a:ea typeface="Calibri" pitchFamily="34" charset="-122"/>
                <a:cs typeface="Calibri" pitchFamily="34" charset="-120"/>
              </a:rPr>
              <a:t/>
            </a:r>
            <a:pPr indent="0" marL="0">
              <a:buNone/>
            </a:pPr>
            <a:r>
              <a:rPr lang="en-US" sz="1400" dirty="0">
                <a:solidFill>
                  <a:srgbClr val="00CC76"/>
                </a:solidFill>
                <a:latin typeface="Calibri" pitchFamily="34" charset="0"/>
                <a:ea typeface="Calibri" pitchFamily="34" charset="-122"/>
                <a:cs typeface="Calibri" pitchFamily="34" charset="-120"/>
              </a:rPr>
              <a:t/>
            </a:r>
            <a:pPr indent="0" marL="0">
              <a:buNone/>
            </a:pPr>
            <a:r>
              <a:rPr lang="en-US" sz="1400" dirty="0">
                <a:solidFill>
                  <a:srgbClr val="018BFF"/>
                </a:solidFill>
                <a:latin typeface="Calibri" pitchFamily="34" charset="0"/>
                <a:ea typeface="Calibri" pitchFamily="34" charset="-122"/>
                <a:cs typeface="Calibri" pitchFamily="34" charset="-120"/>
              </a:rPr>
              <a:t/>
            </a:r>
            <a:pPr indent="0" marL="0">
              <a:buNone/>
            </a:pPr>
            <a:r>
              <a:rPr lang="en-US" sz="1400" dirty="0">
                <a:solidFill>
                  <a:srgbClr val="7A8FA6"/>
                </a:solidFill>
                <a:latin typeface="Calibri" pitchFamily="34" charset="0"/>
                <a:ea typeface="Calibri" pitchFamily="34" charset="-122"/>
                <a:cs typeface="Calibri" pitchFamily="34" charset="-120"/>
              </a:rPr>
              <a:t/>
            </a:r>
            <a:pPr indent="0" marL="0">
              <a:buNone/>
            </a:pPr>
            <a:r>
              <a:rPr lang="en-US" sz="1400" dirty="0">
                <a:solidFill>
                  <a:srgbClr val="00CC76"/>
                </a:solidFill>
                <a:latin typeface="Calibri" pitchFamily="34" charset="0"/>
                <a:ea typeface="Calibri" pitchFamily="34" charset="-122"/>
                <a:cs typeface="Calibri" pitchFamily="34" charset="-120"/>
              </a:rPr>
              <a:t/>
            </a:r>
            <a:pPr indent="0" marL="0">
              <a:buNone/>
            </a:pPr>
            <a:r>
              <a:rPr lang="en-US" sz="1400" i="1" dirty="0">
                <a:solidFill>
                  <a:srgbClr val="7A8FA6"/>
                </a:solidFill>
                <a:latin typeface="Calibri" pitchFamily="34" charset="0"/>
                <a:ea typeface="Calibri" pitchFamily="34" charset="-122"/>
                <a:cs typeface="Calibri" pitchFamily="34" charset="-120"/>
              </a:rPr>
              <a:t/>
            </a:r>
            <a:endParaRPr lang="en-US" sz="1400" dirty="0"/>
          </a:p>
        </p:txBody>
      </p:sp>
      <p:sp>
        <p:nvSpPr>
          <p:cNvPr id="9" name="Text 7"/>
          <p:cNvSpPr/>
          <p:nvPr/>
        </p:nvSpPr>
        <p:spPr>
          <a:xfrm>
            <a:off x="457200" y="4480560"/>
            <a:ext cx="8229600" cy="347472"/>
          </a:xfrm>
          <a:prstGeom prst="rect">
            <a:avLst/>
          </a:prstGeom>
          <a:noFill/>
          <a:ln/>
        </p:spPr>
        <p:txBody>
          <a:bodyPr wrap="square" lIns="0" tIns="0" rIns="0" bIns="0" rtlCol="0" anchor="ctr"/>
          <a:lstStyle/>
          <a:p>
            <a:pPr algn="ctr" indent="0" marL="0">
              <a:buNone/>
            </a:pPr>
            <a:r>
              <a:rPr lang="en-US" sz="1500" b="1" i="1" dirty="0">
                <a:solidFill>
                  <a:srgbClr val="E8EDF2"/>
                </a:solidFill>
                <a:latin typeface="Calibri" pitchFamily="34" charset="0"/>
                <a:ea typeface="Calibri" pitchFamily="34" charset="-122"/>
                <a:cs typeface="Calibri" pitchFamily="34" charset="-120"/>
              </a:rPr>
              <a:t>The graph turns a fuzzy synthesis into a verifiable lookup. The Cypher query is the audit trail.</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457200" y="228600"/>
            <a:ext cx="8229600" cy="502920"/>
          </a:xfrm>
          <a:prstGeom prst="rect">
            <a:avLst/>
          </a:prstGeom>
          <a:noFill/>
          <a:ln/>
        </p:spPr>
        <p:txBody>
          <a:bodyPr wrap="square" lIns="0" tIns="0" rIns="0" bIns="0" rtlCol="0" anchor="ctr"/>
          <a:lstStyle/>
          <a:p>
            <a:pPr algn="l" indent="0" marL="0">
              <a:buNone/>
            </a:pPr>
            <a:r>
              <a:rPr lang="en-US" sz="2600" b="1" dirty="0">
                <a:solidFill>
                  <a:srgbClr val="018BFF"/>
                </a:solidFill>
                <a:latin typeface="Calibri" pitchFamily="34" charset="0"/>
                <a:ea typeface="Calibri" pitchFamily="34" charset="-122"/>
                <a:cs typeface="Calibri" pitchFamily="34" charset="-120"/>
              </a:rPr>
              <a:t>Questions that need the graph</a:t>
            </a:r>
            <a:endParaRPr lang="en-US" sz="2600" dirty="0"/>
          </a:p>
        </p:txBody>
      </p:sp>
      <p:sp>
        <p:nvSpPr>
          <p:cNvPr id="3" name="Shape 1"/>
          <p:cNvSpPr/>
          <p:nvPr/>
        </p:nvSpPr>
        <p:spPr>
          <a:xfrm>
            <a:off x="457200" y="960120"/>
            <a:ext cx="8229600" cy="1691640"/>
          </a:xfrm>
          <a:prstGeom prst="rect">
            <a:avLst/>
          </a:prstGeom>
          <a:solidFill>
            <a:srgbClr val="152235"/>
          </a:solidFill>
          <a:ln w="12700">
            <a:solidFill>
              <a:srgbClr val="3A5068"/>
            </a:solidFill>
            <a:prstDash val="solid"/>
          </a:ln>
        </p:spPr>
        <p:txBody>
          <a:bodyPr/>
          <a:p/>
        </p:txBody>
      </p:sp>
      <p:sp>
        <p:nvSpPr>
          <p:cNvPr id="4" name="Text 2"/>
          <p:cNvSpPr/>
          <p:nvPr/>
        </p:nvSpPr>
        <p:spPr>
          <a:xfrm>
            <a:off x="640080" y="1024128"/>
            <a:ext cx="7863840" cy="365760"/>
          </a:xfrm>
          <a:prstGeom prst="rect">
            <a:avLst/>
          </a:prstGeom>
          <a:noFill/>
          <a:ln/>
        </p:spPr>
        <p:txBody>
          <a:bodyPr wrap="square" lIns="0" tIns="0" rIns="0" bIns="0" rtlCol="0" anchor="ctr"/>
          <a:lstStyle/>
          <a:p>
            <a:pPr indent="0" marL="0">
              <a:buNone/>
            </a:pPr>
            <a:r>
              <a:rPr lang="en-US" sz="1600" b="1" dirty="0">
                <a:solidFill>
                  <a:srgbClr val="E8EDF2"/>
                </a:solidFill>
                <a:latin typeface="Calibri" pitchFamily="34" charset="0"/>
                <a:ea typeface="Calibri" pitchFamily="34" charset="-122"/>
                <a:cs typeface="Calibri" pitchFamily="34" charset="-120"/>
              </a:rPr>
              <a:t>"What places did the corps visit in the three weeks before Sergeant Floyd died?"</a:t>
            </a:r>
            <a:endParaRPr lang="en-US" sz="1600" dirty="0"/>
          </a:p>
        </p:txBody>
      </p:sp>
      <p:sp>
        <p:nvSpPr>
          <p:cNvPr id="5" name="Text 3"/>
          <p:cNvSpPr/>
          <p:nvPr/>
        </p:nvSpPr>
        <p:spPr>
          <a:xfrm>
            <a:off x="640080" y="1435608"/>
            <a:ext cx="7863840" cy="1097280"/>
          </a:xfrm>
          <a:prstGeom prst="rect">
            <a:avLst/>
          </a:prstGeom>
          <a:noFill/>
          <a:ln/>
        </p:spPr>
        <p:txBody>
          <a:bodyPr wrap="square" lIns="0" tIns="0" rIns="0" bIns="0" rtlCol="0" anchor="t"/>
          <a:lstStyle/>
          <a:p>
            <a:pPr indent="0" marL="0">
              <a:buNone/>
            </a:pPr>
            <a:r>
              <a:rPr lang="en-US" sz="1400" b="1" dirty="0">
                <a:solidFill>
                  <a:srgbClr val="7A8FA6"/>
                </a:solidFill>
                <a:latin typeface="Calibri" pitchFamily="34" charset="0"/>
                <a:ea typeface="Calibri" pitchFamily="34" charset="-122"/>
                <a:cs typeface="Calibri" pitchFamily="34" charset="-120"/>
              </a:rPr>
              <a:t>Vector RAG: finds chunks about Floyd's death — no concept of "the three weeks before this event"
Graph RAG: generates Cypher declaring $event (Event). Resolves via event_embeddings (per-label vector — full-text would miss a concept query like this). Derives the date from the Event node's MENTIONED_IN chunk, then filters on r.date — the relationship's own date property.
The answer is a dated list of campsites.</a:t>
            </a:r>
            <a:pPr indent="0" marL="0">
              <a:buNone/>
            </a:pPr>
            <a:r>
              <a:rPr lang="en-US" sz="1400" dirty="0">
                <a:solidFill>
                  <a:srgbClr val="7A8FA6"/>
                </a:solidFill>
                <a:latin typeface="Calibri" pitchFamily="34" charset="0"/>
                <a:ea typeface="Calibri" pitchFamily="34" charset="-122"/>
                <a:cs typeface="Calibri" pitchFamily="34" charset="-120"/>
              </a:rPr>
              <a:t/>
            </a:r>
            <a:pPr indent="0" marL="0">
              <a:buNone/>
            </a:pPr>
            <a:r>
              <a:rPr lang="en-US" sz="1400" b="1" dirty="0">
                <a:solidFill>
                  <a:srgbClr val="00CC76"/>
                </a:solidFill>
                <a:latin typeface="Calibri" pitchFamily="34" charset="0"/>
                <a:ea typeface="Calibri" pitchFamily="34" charset="-122"/>
                <a:cs typeface="Calibri" pitchFamily="34" charset="-120"/>
              </a:rPr>
              <a:t/>
            </a:r>
            <a:pPr indent="0" marL="0">
              <a:buNone/>
            </a:pPr>
            <a:r>
              <a:rPr lang="en-US" sz="1400" dirty="0">
                <a:solidFill>
                  <a:srgbClr val="7A8FA6"/>
                </a:solidFill>
                <a:latin typeface="Calibri" pitchFamily="34" charset="0"/>
                <a:ea typeface="Calibri" pitchFamily="34" charset="-122"/>
                <a:cs typeface="Calibri" pitchFamily="34" charset="-120"/>
              </a:rPr>
              <a:t/>
            </a:r>
            <a:pPr indent="0" marL="0">
              <a:buNone/>
            </a:pPr>
            <a:r>
              <a:rPr lang="en-US" sz="1400" i="1" dirty="0">
                <a:solidFill>
                  <a:srgbClr val="E8EDF2"/>
                </a:solidFill>
                <a:latin typeface="Calibri" pitchFamily="34" charset="0"/>
                <a:ea typeface="Calibri" pitchFamily="34" charset="-122"/>
                <a:cs typeface="Calibri" pitchFamily="34" charset="-120"/>
              </a:rPr>
              <a:t/>
            </a:r>
            <a:endParaRPr lang="en-US" sz="1400" dirty="0"/>
          </a:p>
        </p:txBody>
      </p:sp>
      <p:sp>
        <p:nvSpPr>
          <p:cNvPr id="6" name="Shape 4"/>
          <p:cNvSpPr/>
          <p:nvPr/>
        </p:nvSpPr>
        <p:spPr>
          <a:xfrm>
            <a:off x="457200" y="2834640"/>
            <a:ext cx="8229600" cy="0"/>
          </a:xfrm>
          <a:prstGeom prst="line">
            <a:avLst/>
          </a:prstGeom>
          <a:noFill/>
          <a:ln w="12700">
            <a:solidFill>
              <a:srgbClr val="018BFF"/>
            </a:solidFill>
            <a:prstDash val="solid"/>
          </a:ln>
        </p:spPr>
        <p:txBody>
          <a:bodyPr/>
          <a:p/>
        </p:txBody>
      </p:sp>
      <p:sp>
        <p:nvSpPr>
          <p:cNvPr id="7" name="Shape 5"/>
          <p:cNvSpPr/>
          <p:nvPr/>
        </p:nvSpPr>
        <p:spPr>
          <a:xfrm>
            <a:off x="457200" y="2926080"/>
            <a:ext cx="8229600" cy="1691640"/>
          </a:xfrm>
          <a:prstGeom prst="rect">
            <a:avLst/>
          </a:prstGeom>
          <a:solidFill>
            <a:srgbClr val="152235"/>
          </a:solidFill>
          <a:ln w="12700">
            <a:solidFill>
              <a:srgbClr val="3A5068"/>
            </a:solidFill>
            <a:prstDash val="solid"/>
          </a:ln>
        </p:spPr>
        <p:txBody>
          <a:bodyPr/>
          <a:p/>
        </p:txBody>
      </p:sp>
      <p:sp>
        <p:nvSpPr>
          <p:cNvPr id="8" name="Text 6"/>
          <p:cNvSpPr/>
          <p:nvPr/>
        </p:nvSpPr>
        <p:spPr>
          <a:xfrm>
            <a:off x="640080" y="2990088"/>
            <a:ext cx="7863840" cy="365760"/>
          </a:xfrm>
          <a:prstGeom prst="rect">
            <a:avLst/>
          </a:prstGeom>
          <a:noFill/>
          <a:ln/>
        </p:spPr>
        <p:txBody>
          <a:bodyPr wrap="square" lIns="0" tIns="0" rIns="0" bIns="0" rtlCol="0" anchor="ctr"/>
          <a:lstStyle/>
          <a:p>
            <a:pPr indent="0" marL="0">
              <a:buNone/>
            </a:pPr>
            <a:r>
              <a:rPr lang="en-US" sz="1600" b="1" dirty="0">
                <a:solidFill>
                  <a:srgbClr val="E8EDF2"/>
                </a:solidFill>
                <a:latin typeface="Calibri" pitchFamily="34" charset="0"/>
                <a:ea typeface="Calibri" pitchFamily="34" charset="-122"/>
                <a:cs typeface="Calibri" pitchFamily="34" charset="-120"/>
              </a:rPr>
              <a:t>"What rodent species were mentioned before they reached the Rocky Mountains?"</a:t>
            </a:r>
            <a:endParaRPr lang="en-US" sz="1600" dirty="0"/>
          </a:p>
        </p:txBody>
      </p:sp>
      <p:sp>
        <p:nvSpPr>
          <p:cNvPr id="9" name="Text 7"/>
          <p:cNvSpPr/>
          <p:nvPr/>
        </p:nvSpPr>
        <p:spPr>
          <a:xfrm>
            <a:off x="640080" y="3401568"/>
            <a:ext cx="7863840" cy="1097280"/>
          </a:xfrm>
          <a:prstGeom prst="rect">
            <a:avLst/>
          </a:prstGeom>
          <a:noFill/>
          <a:ln/>
        </p:spPr>
        <p:txBody>
          <a:bodyPr wrap="square" lIns="0" tIns="0" rIns="0" bIns="0" rtlCol="0" anchor="t"/>
          <a:lstStyle/>
          <a:p>
            <a:pPr indent="0" marL="0">
              <a:buNone/>
            </a:pPr>
            <a:r>
              <a:rPr lang="en-US" sz="1400" b="1" dirty="0">
                <a:solidFill>
                  <a:srgbClr val="7A8FA6"/>
                </a:solidFill>
                <a:latin typeface="Calibri" pitchFamily="34" charset="0"/>
                <a:ea typeface="Calibri" pitchFamily="34" charset="-122"/>
                <a:cs typeface="Calibri" pitchFamily="34" charset="-120"/>
              </a:rPr>
              <a:t>Vector RAG: 'rodent' as a concept won't surface the right chunks reliably; no way to enforce a date boundary.
Graph RAG: $taxon resolves 'rodents' → Rodentia via taxon_embeddings. $place resolves 'Rocky Mountains' → GATES OF THE ROCKY MOUNTAINS via location_search. BELONGS_TO* finds all member species; r.date filters to before that Place's first mention date.
Results: beaver, prairie dog, porcupine, muskrat. Two graph features in one query: taxonomy traversal + temporal filtering.</a:t>
            </a:r>
            <a:pPr indent="0" marL="0">
              <a:buNone/>
            </a:pPr>
            <a:r>
              <a:rPr lang="en-US" sz="1400" dirty="0">
                <a:solidFill>
                  <a:srgbClr val="7A8FA6"/>
                </a:solidFill>
                <a:latin typeface="Calibri" pitchFamily="34" charset="0"/>
                <a:ea typeface="Calibri" pitchFamily="34" charset="-122"/>
                <a:cs typeface="Calibri" pitchFamily="34" charset="-120"/>
              </a:rPr>
              <a:t/>
            </a:r>
            <a:pPr indent="0" marL="0">
              <a:buNone/>
            </a:pPr>
            <a:r>
              <a:rPr lang="en-US" sz="1400" b="1" dirty="0">
                <a:solidFill>
                  <a:srgbClr val="00CC76"/>
                </a:solidFill>
                <a:latin typeface="Calibri" pitchFamily="34" charset="0"/>
                <a:ea typeface="Calibri" pitchFamily="34" charset="-122"/>
                <a:cs typeface="Calibri" pitchFamily="34" charset="-120"/>
              </a:rPr>
              <a:t/>
            </a:r>
            <a:pPr indent="0" marL="0">
              <a:buNone/>
            </a:pPr>
            <a:r>
              <a:rPr lang="en-US" sz="1400" dirty="0">
                <a:solidFill>
                  <a:srgbClr val="7A8FA6"/>
                </a:solidFill>
                <a:latin typeface="Calibri" pitchFamily="34" charset="0"/>
                <a:ea typeface="Calibri" pitchFamily="34" charset="-122"/>
                <a:cs typeface="Calibri" pitchFamily="34" charset="-120"/>
              </a:rPr>
              <a:t/>
            </a:r>
            <a:pPr indent="0" marL="0">
              <a:buNone/>
            </a:pPr>
            <a:r>
              <a:rPr lang="en-US" sz="1400" i="1" dirty="0">
                <a:solidFill>
                  <a:srgbClr val="E8EDF2"/>
                </a:solidFill>
                <a:latin typeface="Calibri" pitchFamily="34" charset="0"/>
                <a:ea typeface="Calibri" pitchFamily="34" charset="-122"/>
                <a:cs typeface="Calibri" pitchFamily="34" charset="-120"/>
              </a:rPr>
              <a:t/>
            </a:r>
            <a:endParaRPr lang="en-US" sz="1400" dirty="0"/>
          </a:p>
        </p:txBody>
      </p:sp>
      <p:sp>
        <p:nvSpPr>
          <p:cNvPr id="10" name="Shape 8"/>
          <p:cNvSpPr/>
          <p:nvPr/>
        </p:nvSpPr>
        <p:spPr>
          <a:xfrm>
            <a:off x="457200" y="4800960"/>
            <a:ext cx="8229600" cy="0"/>
          </a:xfrm>
          <a:prstGeom prst="line">
            <a:avLst/>
          </a:prstGeom>
          <a:noFill/>
          <a:ln w="12700">
            <a:solidFill>
              <a:srgbClr val="00CC76"/>
            </a:solidFill>
            <a:prstDash val="solid"/>
          </a:ln>
        </p:spPr>
        <p:txBody>
          <a:bodyPr/>
          <a:p/>
        </p:txBody>
      </p:sp>
      <p:sp>
        <p:nvSpPr>
          <p:cNvPr id="11" name="Text 9b"/>
          <p:cNvSpPr/>
          <p:nvPr/>
        </p:nvSpPr>
        <p:spPr>
          <a:xfrm>
            <a:off x="640080" y="4855680"/>
            <a:ext cx="7863840" cy="320040"/>
          </a:xfrm>
          <a:prstGeom prst="rect">
            <a:avLst/>
          </a:prstGeom>
          <a:noFill/>
          <a:ln/>
        </p:spPr>
        <p:txBody>
          <a:bodyPr wrap="square" lIns="0" tIns="0" rIns="0" bIns="0" rtlCol="0" anchor="ctr"/>
          <a:lstStyle/>
          <a:p>
            <a:pPr indent="0" marL="0">
              <a:buNone/>
            </a:pPr>
            <a:r>
              <a:rPr lang="en-US" sz="1500" b="1" dirty="0">
                <a:solidFill>
                  <a:srgbClr val="E8EDF2"/>
                </a:solidFill>
                <a:latin typeface="Calibri" pitchFamily="34" charset="0"/>
              </a:rPr>
              <a:t>“Which Native Nations did Sacagawea interpret for?”</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457200" y="228600"/>
            <a:ext cx="8229600" cy="502920"/>
          </a:xfrm>
          <a:prstGeom prst="rect">
            <a:avLst/>
          </a:prstGeom>
          <a:noFill/>
          <a:ln/>
        </p:spPr>
        <p:txBody>
          <a:bodyPr wrap="square" lIns="0" tIns="0" rIns="0" bIns="0" rtlCol="0" anchor="ctr"/>
          <a:lstStyle/>
          <a:p>
            <a:pPr algn="l" indent="0" marL="0">
              <a:buNone/>
            </a:pPr>
            <a:r>
              <a:rPr lang="en-US" sz="2600" b="1" dirty="0">
                <a:solidFill>
                  <a:srgbClr val="018BFF"/>
                </a:solidFill>
                <a:latin typeface="Calibri" pitchFamily="34" charset="0"/>
                <a:ea typeface="Calibri" pitchFamily="34" charset="-122"/>
                <a:cs typeface="Calibri" pitchFamily="34" charset="-120"/>
              </a:rPr>
              <a:t>What BELONGS_TO* looks like</a:t>
            </a:r>
            <a:endParaRPr lang="en-US" sz="2600" dirty="0"/>
          </a:p>
        </p:txBody>
      </p:sp>
      <p:sp>
        <p:nvSpPr>
          <p:cNvPr id="3" name="Shape 1"/>
          <p:cNvSpPr/>
          <p:nvPr/>
        </p:nvSpPr>
        <p:spPr>
          <a:xfrm>
            <a:off x="457200" y="868680"/>
            <a:ext cx="8229600" cy="3200400"/>
          </a:xfrm>
          <a:prstGeom prst="roundRect">
            <a:avLst>
              <a:gd name="adj" fmla="val 3429"/>
            </a:avLst>
          </a:prstGeom>
          <a:solidFill>
            <a:srgbClr val="FFFFFF"/>
          </a:solidFill>
          <a:ln w="12700">
            <a:solidFill>
              <a:srgbClr val="DDDDDD"/>
            </a:solidFill>
            <a:prstDash val="solid"/>
          </a:ln>
        </p:spPr>
      </p:sp>
      <p:sp>
        <p:nvSpPr>
          <p:cNvPr id="4" name="Text 2"/>
          <p:cNvSpPr/>
          <p:nvPr/>
        </p:nvSpPr>
        <p:spPr>
          <a:xfrm>
            <a:off x="457200" y="1828800"/>
            <a:ext cx="8229600" cy="365760"/>
          </a:xfrm>
          <a:prstGeom prst="rect">
            <a:avLst/>
          </a:prstGeom>
          <a:noFill/>
          <a:ln/>
        </p:spPr>
        <p:txBody>
          <a:bodyPr wrap="square" lIns="0" tIns="0" rIns="0" bIns="0" rtlCol="0" anchor="ctr"/>
          <a:lstStyle/>
          <a:p>
            <a:pPr algn="ctr" indent="0" marL="0">
              <a:buNone/>
            </a:pPr>
            <a:r>
              <a:rPr lang="en-US" sz="1300" b="1" i="1" dirty="0">
                <a:solidFill>
                  <a:srgbClr val="7A8FA6"/>
                </a:solidFill>
                <a:latin typeface="Calibri" pitchFamily="34" charset="0"/>
                <a:ea typeface="Calibri" pitchFamily="34" charset="-122"/>
                <a:cs typeface="Calibri" pitchFamily="34" charset="-120"/>
              </a:rPr>
              <a:t>[ ARROWS.APP DIAGRAM ]</a:t>
            </a:r>
            <a:endParaRPr lang="en-US" sz="1300" dirty="0"/>
          </a:p>
        </p:txBody>
      </p:sp>
      <p:sp>
        <p:nvSpPr>
          <p:cNvPr id="5" name="Text 3"/>
          <p:cNvSpPr/>
          <p:nvPr/>
        </p:nvSpPr>
        <p:spPr>
          <a:xfrm>
            <a:off x="457200" y="2212848"/>
            <a:ext cx="8229600" cy="548640"/>
          </a:xfrm>
          <a:prstGeom prst="rect">
            <a:avLst/>
          </a:prstGeom>
          <a:noFill/>
          <a:ln/>
        </p:spPr>
        <p:txBody>
          <a:bodyPr wrap="square" lIns="0" tIns="0" rIns="0" bIns="0" rtlCol="0" anchor="ctr"/>
          <a:lstStyle/>
          <a:p>
            <a:pPr algn="ctr" indent="0" marL="0">
              <a:buNone/>
            </a:pPr>
            <a:r>
              <a:rPr lang="en-US" sz="1100" i="1" dirty="0">
                <a:solidFill>
                  <a:srgbClr val="888888"/>
                </a:solidFill>
                <a:latin typeface="Calibri" pitchFamily="34" charset="0"/>
                <a:ea typeface="Calibri" pitchFamily="34" charset="-122"/>
                <a:cs typeface="Calibri" pitchFamily="34" charset="-120"/>
              </a:rPr>
              <a:t>(Trumpeter Swan :AnimalSpecies)-[:BELONGS_TO]-&gt;(Cygnus :Genus)</a:t>
            </a:r>
            <a:endParaRPr lang="en-US" sz="1100" dirty="0"/>
          </a:p>
          <a:p>
            <a:pPr algn="ctr" indent="0" marL="0">
              <a:buNone/>
            </a:pPr>
            <a:r>
              <a:rPr lang="en-US" sz="1100" i="1" dirty="0">
                <a:solidFill>
                  <a:srgbClr val="888888"/>
                </a:solidFill>
                <a:latin typeface="Calibri" pitchFamily="34" charset="0"/>
                <a:ea typeface="Calibri" pitchFamily="34" charset="-122"/>
                <a:cs typeface="Calibri" pitchFamily="34" charset="-120"/>
              </a:rPr>
              <a:t>-[:BELONGS_TO]-&gt;(Anatidae :Family)-[:BELONGS_TO]-&gt;(Anseriformes :Order)-[:BELONGS_TO]-&gt;(Aves :Class)</a:t>
            </a:r>
            <a:endParaRPr lang="en-US" sz="1100" dirty="0"/>
          </a:p>
          <a:p>
            <a:pPr algn="ctr" indent="0" marL="0">
              <a:buNone/>
            </a:pPr>
            <a:r>
              <a:rPr lang="en-US" sz="1100" i="1" dirty="0">
                <a:solidFill>
                  <a:srgbClr val="888888"/>
                </a:solidFill>
                <a:latin typeface="Calibri" pitchFamily="34" charset="0"/>
                <a:ea typeface="Calibri" pitchFamily="34" charset="-122"/>
                <a:cs typeface="Calibri" pitchFamily="34" charset="-120"/>
              </a:rPr>
              <a:t>Each node a lighter shade of green/teal going up the hierarchy. White background.</a:t>
            </a:r>
            <a:endParaRPr lang="en-US" sz="1100" dirty="0"/>
          </a:p>
        </p:txBody>
      </p:sp>
      <p:sp>
        <p:nvSpPr>
          <p:cNvPr id="6" name="Text 4"/>
          <p:cNvSpPr/>
          <p:nvPr/>
        </p:nvSpPr>
        <p:spPr>
          <a:xfrm>
            <a:off x="457200" y="4114800"/>
            <a:ext cx="8229600" cy="274320"/>
          </a:xfrm>
          <a:prstGeom prst="rect">
            <a:avLst/>
          </a:prstGeom>
          <a:noFill/>
          <a:ln/>
        </p:spPr>
        <p:txBody>
          <a:bodyPr wrap="square" lIns="0" tIns="0" rIns="0" bIns="0" rtlCol="0" anchor="ctr"/>
          <a:lstStyle/>
          <a:p>
            <a:pPr algn="l" indent="0" marL="0">
              <a:buNone/>
            </a:pPr>
            <a:r>
              <a:rPr lang="en-US" sz="1000" i="1" dirty="0">
                <a:solidFill>
                  <a:srgbClr val="00CC76"/>
                </a:solidFill>
                <a:latin typeface="Calibri" pitchFamily="34" charset="0"/>
                <a:ea typeface="Calibri" pitchFamily="34" charset="-122"/>
                <a:cs typeface="Calibri" pitchFamily="34" charset="-120"/>
              </a:rPr>
              <a:t>→ Build this taxonomy chain in arrows.app · arrows.app</a:t>
            </a:r>
            <a:endParaRPr lang="en-US" sz="1000" dirty="0"/>
          </a:p>
        </p:txBody>
      </p:sp>
      <p:sp>
        <p:nvSpPr>
          <p:cNvPr id="7" name="Shape 5"/>
          <p:cNvSpPr/>
          <p:nvPr/>
        </p:nvSpPr>
        <p:spPr>
          <a:xfrm>
            <a:off x="457200" y="4251960"/>
            <a:ext cx="8229600" cy="621792"/>
          </a:xfrm>
          <a:prstGeom prst="rect">
            <a:avLst/>
          </a:prstGeom>
          <a:solidFill>
            <a:srgbClr val="0A2540"/>
          </a:solidFill>
          <a:ln w="12700">
            <a:solidFill>
              <a:srgbClr val="3A5068"/>
            </a:solidFill>
            <a:prstDash val="solid"/>
          </a:ln>
        </p:spPr>
      </p:sp>
      <p:sp>
        <p:nvSpPr>
          <p:cNvPr id="8" name="Text 6"/>
          <p:cNvSpPr/>
          <p:nvPr/>
        </p:nvSpPr>
        <p:spPr>
          <a:xfrm>
            <a:off x="640080" y="4315968"/>
            <a:ext cx="7863840" cy="475488"/>
          </a:xfrm>
          <a:prstGeom prst="rect">
            <a:avLst/>
          </a:prstGeom>
          <a:noFill/>
          <a:ln/>
        </p:spPr>
        <p:txBody>
          <a:bodyPr wrap="square" lIns="0" tIns="0" rIns="0" bIns="0" rtlCol="0" anchor="ctr"/>
          <a:lstStyle/>
          <a:p>
            <a:pPr indent="0" marL="0">
              <a:buNone/>
            </a:pPr>
            <a:r>
              <a:rPr lang="en-US" sz="1300" dirty="0">
                <a:solidFill>
                  <a:srgbClr val="00CC76"/>
                </a:solidFill>
                <a:latin typeface="Courier New" pitchFamily="34" charset="0"/>
                <a:ea typeface="Courier New" pitchFamily="34" charset="-122"/>
                <a:cs typeface="Courier New" pitchFamily="34" charset="-120"/>
              </a:rPr>
              <a:t>MATCH (s:AnimalSpecies)-[:BELONGS_TO*]-&gt;(ancestor)  RETURN ancestor.rank, ancestor.canonicalName</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457200" y="228600"/>
            <a:ext cx="8229600" cy="502920"/>
          </a:xfrm>
          <a:prstGeom prst="rect">
            <a:avLst/>
          </a:prstGeom>
          <a:noFill/>
          <a:ln/>
        </p:spPr>
        <p:txBody>
          <a:bodyPr wrap="square" lIns="0" tIns="0" rIns="0" bIns="0" rtlCol="0" anchor="ctr"/>
          <a:lstStyle/>
          <a:p>
            <a:pPr algn="l" indent="0" marL="0">
              <a:buNone/>
            </a:pPr>
            <a:r>
              <a:rPr lang="en-US" sz="2600" b="1" dirty="0">
                <a:solidFill>
                  <a:srgbClr val="018BFF"/>
                </a:solidFill>
                <a:latin typeface="Calibri" pitchFamily="34" charset="0"/>
                <a:ea typeface="Calibri" pitchFamily="34" charset="-122"/>
                <a:cs typeface="Calibri" pitchFamily="34" charset="-120"/>
              </a:rPr>
              <a:t>Four things a property graph does that SQL does awkwardly</a:t>
            </a:r>
            <a:endParaRPr lang="en-US" sz="2600" dirty="0"/>
          </a:p>
        </p:txBody>
      </p:sp>
      <p:sp>
        <p:nvSpPr>
          <p:cNvPr id="3" name="Shape 1"/>
          <p:cNvSpPr/>
          <p:nvPr/>
        </p:nvSpPr>
        <p:spPr>
          <a:xfrm>
            <a:off x="457200" y="996696"/>
            <a:ext cx="347472" cy="347472"/>
          </a:xfrm>
          <a:prstGeom prst="ellipse">
            <a:avLst/>
          </a:prstGeom>
          <a:solidFill>
            <a:srgbClr val="018BFF"/>
          </a:solidFill>
          <a:ln w="12700">
            <a:solidFill>
              <a:srgbClr val="018BFF"/>
            </a:solidFill>
            <a:prstDash val="solid"/>
          </a:ln>
        </p:spPr>
        <p:txBody>
          <a:bodyPr/>
          <a:p/>
        </p:txBody>
      </p:sp>
      <p:sp>
        <p:nvSpPr>
          <p:cNvPr id="4" name="Text 2"/>
          <p:cNvSpPr/>
          <p:nvPr/>
        </p:nvSpPr>
        <p:spPr>
          <a:xfrm>
            <a:off x="457200" y="996696"/>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5" name="Text 3"/>
          <p:cNvSpPr/>
          <p:nvPr/>
        </p:nvSpPr>
        <p:spPr>
          <a:xfrm>
            <a:off x="969264" y="960120"/>
            <a:ext cx="2743200" cy="420624"/>
          </a:xfrm>
          <a:prstGeom prst="rect">
            <a:avLst/>
          </a:prstGeom>
          <a:noFill/>
          <a:ln/>
        </p:spPr>
        <p:txBody>
          <a:bodyPr wrap="square" lIns="0" tIns="0" rIns="0" bIns="0" rtlCol="0" anchor="ctr"/>
          <a:lstStyle/>
          <a:p>
            <a:pPr indent="0" marL="0">
              <a:buNone/>
            </a:pPr>
            <a:r>
              <a:rPr lang="en-US" sz="1400" b="1" dirty="0">
                <a:solidFill>
                  <a:srgbClr val="E8EDF2"/>
                </a:solidFill>
                <a:latin typeface="Calibri" pitchFamily="34" charset="0"/>
                <a:ea typeface="Calibri" pitchFamily="34" charset="-122"/>
                <a:cs typeface="Calibri" pitchFamily="34" charset="-120"/>
              </a:rPr>
              <a:t>Variable-depth traversal</a:t>
            </a:r>
            <a:endParaRPr lang="en-US" sz="1400" dirty="0"/>
          </a:p>
        </p:txBody>
      </p:sp>
      <p:sp>
        <p:nvSpPr>
          <p:cNvPr id="6" name="Text 4"/>
          <p:cNvSpPr/>
          <p:nvPr/>
        </p:nvSpPr>
        <p:spPr>
          <a:xfrm>
            <a:off x="3794760" y="960120"/>
            <a:ext cx="4846320" cy="420624"/>
          </a:xfrm>
          <a:prstGeom prst="rect">
            <a:avLst/>
          </a:prstGeom>
          <a:noFill/>
          <a:ln/>
        </p:spPr>
        <p:txBody>
          <a:bodyPr wrap="square" lIns="0" tIns="0" rIns="0" bIns="0" rtlCol="0" anchor="ctr"/>
          <a:lstStyle/>
          <a:p>
            <a:pPr indent="0" marL="0">
              <a:buNone/>
            </a:pPr>
            <a:r>
              <a:rPr lang="en-US" sz="1200" dirty="0">
                <a:solidFill>
                  <a:srgbClr val="7A8FA6"/>
                </a:solidFill>
                <a:latin typeface="Calibri" pitchFamily="34" charset="0"/>
                <a:ea typeface="Calibri" pitchFamily="34" charset="-122"/>
                <a:cs typeface="Calibri" pitchFamily="34" charset="-120"/>
              </a:rPr>
              <a:t>[:BELONGS_TO*] is one token. SQL needs WITH RECURSIVE — awkward, rarely optimized, requires a known max depth.</a:t>
            </a:r>
            <a:endParaRPr lang="en-US" sz="1200" dirty="0"/>
          </a:p>
        </p:txBody>
      </p:sp>
      <p:sp>
        <p:nvSpPr>
          <p:cNvPr id="7" name="Shape 5"/>
          <p:cNvSpPr/>
          <p:nvPr/>
        </p:nvSpPr>
        <p:spPr>
          <a:xfrm>
            <a:off x="457200" y="1673352"/>
            <a:ext cx="347472" cy="347472"/>
          </a:xfrm>
          <a:prstGeom prst="ellipse">
            <a:avLst/>
          </a:prstGeom>
          <a:solidFill>
            <a:srgbClr val="018BFF"/>
          </a:solidFill>
          <a:ln w="12700">
            <a:solidFill>
              <a:srgbClr val="018BFF"/>
            </a:solidFill>
            <a:prstDash val="solid"/>
          </a:ln>
        </p:spPr>
        <p:txBody>
          <a:bodyPr/>
          <a:p/>
        </p:txBody>
      </p:sp>
      <p:sp>
        <p:nvSpPr>
          <p:cNvPr id="8" name="Text 6"/>
          <p:cNvSpPr/>
          <p:nvPr/>
        </p:nvSpPr>
        <p:spPr>
          <a:xfrm>
            <a:off x="457200" y="1673352"/>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9" name="Text 7"/>
          <p:cNvSpPr/>
          <p:nvPr/>
        </p:nvSpPr>
        <p:spPr>
          <a:xfrm>
            <a:off x="969264" y="1636776"/>
            <a:ext cx="2743200" cy="420624"/>
          </a:xfrm>
          <a:prstGeom prst="rect">
            <a:avLst/>
          </a:prstGeom>
          <a:noFill/>
          <a:ln/>
        </p:spPr>
        <p:txBody>
          <a:bodyPr wrap="square" lIns="0" tIns="0" rIns="0" bIns="0" rtlCol="0" anchor="ctr"/>
          <a:lstStyle/>
          <a:p>
            <a:pPr indent="0" marL="0">
              <a:buNone/>
            </a:pPr>
            <a:r>
              <a:rPr lang="en-US" sz="1400" b="1" dirty="0">
                <a:solidFill>
                  <a:srgbClr val="E8EDF2"/>
                </a:solidFill>
                <a:latin typeface="Calibri" pitchFamily="34" charset="0"/>
                <a:ea typeface="Calibri" pitchFamily="34" charset="-122"/>
                <a:cs typeface="Calibri" pitchFamily="34" charset="-120"/>
              </a:rPr>
              <a:t>Schema-free relationships</a:t>
            </a:r>
            <a:endParaRPr lang="en-US" sz="1400" dirty="0"/>
          </a:p>
        </p:txBody>
      </p:sp>
      <p:sp>
        <p:nvSpPr>
          <p:cNvPr id="10" name="Text 8"/>
          <p:cNvSpPr/>
          <p:nvPr/>
        </p:nvSpPr>
        <p:spPr>
          <a:xfrm>
            <a:off x="3794760" y="1636776"/>
            <a:ext cx="4846320" cy="420624"/>
          </a:xfrm>
          <a:prstGeom prst="rect">
            <a:avLst/>
          </a:prstGeom>
          <a:noFill/>
          <a:ln/>
        </p:spPr>
        <p:txBody>
          <a:bodyPr wrap="square" lIns="0" tIns="0" rIns="0" bIns="0" rtlCol="0" anchor="ctr"/>
          <a:lstStyle/>
          <a:p>
            <a:pPr indent="0" marL="0">
              <a:buNone/>
            </a:pPr>
            <a:r>
              <a:rPr lang="en-US" sz="1200" dirty="0">
                <a:solidFill>
                  <a:srgbClr val="7A8FA6"/>
                </a:solidFill>
                <a:latin typeface="Calibri" pitchFamily="34" charset="0"/>
                <a:ea typeface="Calibri" pitchFamily="34" charset="-122"/>
                <a:cs typeface="Calibri" pitchFamily="34" charset="-120"/>
              </a:rPr>
              <a:t>New relationship type in Neo4j: just write it. In SQL: new junction table, migration, foreign keys everywhere.</a:t>
            </a:r>
            <a:endParaRPr lang="en-US" sz="1200" dirty="0"/>
          </a:p>
        </p:txBody>
      </p:sp>
      <p:sp>
        <p:nvSpPr>
          <p:cNvPr id="11" name="Shape 9"/>
          <p:cNvSpPr/>
          <p:nvPr/>
        </p:nvSpPr>
        <p:spPr>
          <a:xfrm>
            <a:off x="457200" y="2350008"/>
            <a:ext cx="347472" cy="347472"/>
          </a:xfrm>
          <a:prstGeom prst="ellipse">
            <a:avLst/>
          </a:prstGeom>
          <a:solidFill>
            <a:srgbClr val="018BFF"/>
          </a:solidFill>
          <a:ln w="12700">
            <a:solidFill>
              <a:srgbClr val="018BFF"/>
            </a:solidFill>
            <a:prstDash val="solid"/>
          </a:ln>
        </p:spPr>
        <p:txBody>
          <a:bodyPr/>
          <a:p/>
        </p:txBody>
      </p:sp>
      <p:sp>
        <p:nvSpPr>
          <p:cNvPr id="12" name="Text 10"/>
          <p:cNvSpPr/>
          <p:nvPr/>
        </p:nvSpPr>
        <p:spPr>
          <a:xfrm>
            <a:off x="457200" y="2350008"/>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3" name="Text 11"/>
          <p:cNvSpPr/>
          <p:nvPr/>
        </p:nvSpPr>
        <p:spPr>
          <a:xfrm>
            <a:off x="969264" y="2313432"/>
            <a:ext cx="2743200" cy="420624"/>
          </a:xfrm>
          <a:prstGeom prst="rect">
            <a:avLst/>
          </a:prstGeom>
          <a:noFill/>
          <a:ln/>
        </p:spPr>
        <p:txBody>
          <a:bodyPr wrap="square" lIns="0" tIns="0" rIns="0" bIns="0" rtlCol="0" anchor="ctr"/>
          <a:lstStyle/>
          <a:p>
            <a:pPr indent="0" marL="0">
              <a:buNone/>
            </a:pPr>
            <a:r>
              <a:rPr lang="en-US" sz="1400" b="1" dirty="0">
                <a:solidFill>
                  <a:srgbClr val="E8EDF2"/>
                </a:solidFill>
                <a:latin typeface="Calibri" pitchFamily="34" charset="0"/>
                <a:ea typeface="Calibri" pitchFamily="34" charset="-122"/>
                <a:cs typeface="Calibri" pitchFamily="34" charset="-120"/>
              </a:rPr>
              <a:t>Multi-hop at scale</a:t>
            </a:r>
            <a:endParaRPr lang="en-US" sz="1400" dirty="0"/>
          </a:p>
        </p:txBody>
      </p:sp>
      <p:sp>
        <p:nvSpPr>
          <p:cNvPr id="14" name="Text 12"/>
          <p:cNvSpPr/>
          <p:nvPr/>
        </p:nvSpPr>
        <p:spPr>
          <a:xfrm>
            <a:off x="3794760" y="2313432"/>
            <a:ext cx="4846320" cy="420624"/>
          </a:xfrm>
          <a:prstGeom prst="rect">
            <a:avLst/>
          </a:prstGeom>
          <a:noFill/>
          <a:ln/>
        </p:spPr>
        <p:txBody>
          <a:bodyPr wrap="square" lIns="0" tIns="0" rIns="0" bIns="0" rtlCol="0" anchor="ctr"/>
          <a:lstStyle/>
          <a:p>
            <a:pPr indent="0" marL="0">
              <a:buNone/>
            </a:pPr>
            <a:r>
              <a:rPr lang="en-US" sz="1200" dirty="0">
                <a:solidFill>
                  <a:srgbClr val="7A8FA6"/>
                </a:solidFill>
                <a:latin typeface="Calibri" pitchFamily="34" charset="0"/>
                <a:ea typeface="Calibri" pitchFamily="34" charset="-122"/>
                <a:cs typeface="Calibri" pitchFamily="34" charset="-120"/>
              </a:rPr>
              <a:t>Each SQL JOIN compounds in cost. Graph traversal is O(1) per hop — relationships stored as direct pointers.</a:t>
            </a:r>
            <a:endParaRPr lang="en-US" sz="1200" dirty="0"/>
          </a:p>
        </p:txBody>
      </p:sp>
      <p:sp>
        <p:nvSpPr>
          <p:cNvPr id="15" name="Shape 13"/>
          <p:cNvSpPr/>
          <p:nvPr/>
        </p:nvSpPr>
        <p:spPr>
          <a:xfrm>
            <a:off x="457200" y="3026664"/>
            <a:ext cx="347472" cy="347472"/>
          </a:xfrm>
          <a:prstGeom prst="ellipse">
            <a:avLst/>
          </a:prstGeom>
          <a:solidFill>
            <a:srgbClr val="018BFF"/>
          </a:solidFill>
          <a:ln w="12700">
            <a:solidFill>
              <a:srgbClr val="018BFF"/>
            </a:solidFill>
            <a:prstDash val="solid"/>
          </a:ln>
        </p:spPr>
        <p:txBody>
          <a:bodyPr/>
          <a:p/>
        </p:txBody>
      </p:sp>
      <p:sp>
        <p:nvSpPr>
          <p:cNvPr id="16" name="Text 14"/>
          <p:cNvSpPr/>
          <p:nvPr/>
        </p:nvSpPr>
        <p:spPr>
          <a:xfrm>
            <a:off x="457200" y="3026664"/>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7" name="Text 15"/>
          <p:cNvSpPr/>
          <p:nvPr/>
        </p:nvSpPr>
        <p:spPr>
          <a:xfrm>
            <a:off x="969264" y="2990088"/>
            <a:ext cx="2743200" cy="420624"/>
          </a:xfrm>
          <a:prstGeom prst="rect">
            <a:avLst/>
          </a:prstGeom>
          <a:noFill/>
          <a:ln/>
        </p:spPr>
        <p:txBody>
          <a:bodyPr wrap="square" lIns="0" tIns="0" rIns="0" bIns="0" rtlCol="0" anchor="ctr"/>
          <a:lstStyle/>
          <a:p>
            <a:pPr indent="0" marL="0">
              <a:buNone/>
            </a:pPr>
            <a:r>
              <a:rPr lang="en-US" sz="1400" b="1" dirty="0">
                <a:solidFill>
                  <a:srgbClr val="E8EDF2"/>
                </a:solidFill>
                <a:latin typeface="Calibri" pitchFamily="34" charset="0"/>
                <a:ea typeface="Calibri" pitchFamily="34" charset="-122"/>
                <a:cs typeface="Calibri" pitchFamily="34" charset="-120"/>
              </a:rPr>
              <a:t>Text-to-query accuracy</a:t>
            </a:r>
            <a:endParaRPr lang="en-US" sz="1400" dirty="0"/>
          </a:p>
        </p:txBody>
      </p:sp>
      <p:sp>
        <p:nvSpPr>
          <p:cNvPr id="18" name="Text 16"/>
          <p:cNvSpPr/>
          <p:nvPr/>
        </p:nvSpPr>
        <p:spPr>
          <a:xfrm>
            <a:off x="3794760" y="2990088"/>
            <a:ext cx="4846320" cy="420624"/>
          </a:xfrm>
          <a:prstGeom prst="rect">
            <a:avLst/>
          </a:prstGeom>
          <a:noFill/>
          <a:ln/>
        </p:spPr>
        <p:txBody>
          <a:bodyPr wrap="square" lIns="0" tIns="0" rIns="0" bIns="0" rtlCol="0" anchor="ctr"/>
          <a:lstStyle/>
          <a:p>
            <a:pPr indent="0" marL="0">
              <a:buNone/>
            </a:pPr>
            <a:r>
              <a:rPr lang="en-US" sz="1200" dirty="0">
                <a:solidFill>
                  <a:srgbClr val="7A8FA6"/>
                </a:solidFill>
                <a:latin typeface="Calibri" pitchFamily="34" charset="0"/>
                <a:ea typeface="Calibri" pitchFamily="34" charset="-122"/>
                <a:cs typeface="Calibri" pitchFamily="34" charset="-120"/>
              </a:rPr>
              <a:t>(Lewis)-[:OBSERVED]-&gt;(Bear) reads like English. A recursive CTE does not. LLMs generate correct Cypher more reliably on the queries that matter.</a:t>
            </a:r>
            <a:endParaRPr lang="en-US" sz="1200" dirty="0"/>
          </a:p>
        </p:txBody>
      </p:sp>
      <p:sp>
        <p:nvSpPr>
          <p:cNvPr id="19" name="Shape 17"/>
          <p:cNvSpPr/>
          <p:nvPr/>
        </p:nvSpPr>
        <p:spPr>
          <a:xfrm>
            <a:off x="457200" y="4498848"/>
            <a:ext cx="8229600" cy="393192"/>
          </a:xfrm>
          <a:prstGeom prst="rect">
            <a:avLst/>
          </a:prstGeom>
          <a:solidFill>
            <a:srgbClr val="152235"/>
          </a:solidFill>
          <a:ln w="12700">
            <a:solidFill>
              <a:srgbClr val="3A5068"/>
            </a:solidFill>
            <a:prstDash val="solid"/>
          </a:ln>
        </p:spPr>
        <p:txBody>
          <a:bodyPr/>
          <a:p/>
        </p:txBody>
      </p:sp>
      <p:sp>
        <p:nvSpPr>
          <p:cNvPr id="20" name="Text 18"/>
          <p:cNvSpPr/>
          <p:nvPr/>
        </p:nvSpPr>
        <p:spPr>
          <a:xfrm>
            <a:off x="640080" y="4526280"/>
            <a:ext cx="7863840" cy="338328"/>
          </a:xfrm>
          <a:prstGeom prst="rect">
            <a:avLst/>
          </a:prstGeom>
          <a:noFill/>
          <a:ln/>
        </p:spPr>
        <p:txBody>
          <a:bodyPr wrap="square" lIns="0" tIns="0" rIns="0" bIns="0" rtlCol="0" anchor="ctr"/>
          <a:lstStyle/>
          <a:p>
            <a:pPr algn="ctr" indent="0" marL="0">
              <a:buNone/>
            </a:pPr>
            <a:r>
              <a:rPr lang="en-US" sz="1200" i="1" dirty="0">
                <a:solidFill>
                  <a:srgbClr val="7A8FA6"/>
                </a:solidFill>
                <a:latin typeface="Calibri" pitchFamily="34" charset="0"/>
                <a:ea typeface="Calibri" pitchFamily="34" charset="-122"/>
                <a:cs typeface="Calibri" pitchFamily="34" charset="-120"/>
              </a:rPr>
              <a:t>5
Structured data enrichment
External structured data (taxonomy hierarchies, curated entity lists) joins naturally as graph nodes and relationships. In a vector store you'd flatten it to chunk metadata — which works for simple tags but can't represent arbitrary-depth hierarchies or relationships between enriched entities.
If your "graph" is really metadata filtering on vector results — use pgvector. Graphs earn their keep when you need to traverse.</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457200" y="228600"/>
            <a:ext cx="8229600" cy="502920"/>
          </a:xfrm>
          <a:prstGeom prst="rect">
            <a:avLst/>
          </a:prstGeom>
          <a:noFill/>
          <a:ln/>
        </p:spPr>
        <p:txBody>
          <a:bodyPr wrap="square" lIns="0" tIns="0" rIns="0" bIns="0" rtlCol="0" anchor="ctr"/>
          <a:lstStyle/>
          <a:p>
            <a:pPr algn="l" indent="0" marL="0">
              <a:buNone/>
            </a:pPr>
            <a:r>
              <a:rPr lang="en-US" sz="2600" b="1" dirty="0">
                <a:solidFill>
                  <a:srgbClr val="018BFF"/>
                </a:solidFill>
                <a:latin typeface="Calibri" pitchFamily="34" charset="0"/>
                <a:ea typeface="Calibri" pitchFamily="34" charset="-122"/>
                <a:cs typeface="Calibri" pitchFamily="34" charset="-120"/>
              </a:rPr>
              <a:t>Is your use case a good fit?</a:t>
            </a:r>
            <a:endParaRPr lang="en-US" sz="2600" dirty="0"/>
          </a:p>
        </p:txBody>
      </p:sp>
      <p:sp>
        <p:nvSpPr>
          <p:cNvPr id="3" name="Shape 1"/>
          <p:cNvSpPr/>
          <p:nvPr/>
        </p:nvSpPr>
        <p:spPr>
          <a:xfrm>
            <a:off x="457200" y="960120"/>
            <a:ext cx="3977640" cy="2788920"/>
          </a:xfrm>
          <a:prstGeom prst="rect">
            <a:avLst/>
          </a:prstGeom>
          <a:solidFill>
            <a:srgbClr val="0A2A18"/>
          </a:solidFill>
          <a:ln w="19050">
            <a:solidFill>
              <a:srgbClr val="00CC76"/>
            </a:solidFill>
            <a:prstDash val="solid"/>
          </a:ln>
        </p:spPr>
      </p:sp>
      <p:sp>
        <p:nvSpPr>
          <p:cNvPr id="4" name="Text 2"/>
          <p:cNvSpPr/>
          <p:nvPr/>
        </p:nvSpPr>
        <p:spPr>
          <a:xfrm>
            <a:off x="594360" y="1024128"/>
            <a:ext cx="3703320" cy="347472"/>
          </a:xfrm>
          <a:prstGeom prst="rect">
            <a:avLst/>
          </a:prstGeom>
          <a:noFill/>
          <a:ln/>
        </p:spPr>
        <p:txBody>
          <a:bodyPr wrap="square" lIns="0" tIns="0" rIns="0" bIns="0" rtlCol="0" anchor="ctr"/>
          <a:lstStyle/>
          <a:p>
            <a:pPr indent="0" marL="0">
              <a:buNone/>
            </a:pPr>
            <a:r>
              <a:rPr lang="en-US" sz="1500" b="1" dirty="0">
                <a:solidFill>
                  <a:srgbClr val="00CC76"/>
                </a:solidFill>
                <a:latin typeface="Calibri" pitchFamily="34" charset="0"/>
                <a:ea typeface="Calibri" pitchFamily="34" charset="-122"/>
                <a:cs typeface="Calibri" pitchFamily="34" charset="-120"/>
              </a:rPr>
              <a:t>Strong signal ✓</a:t>
            </a:r>
            <a:endParaRPr lang="en-US" sz="1500" dirty="0"/>
          </a:p>
        </p:txBody>
      </p:sp>
      <p:sp>
        <p:nvSpPr>
          <p:cNvPr id="5" name="Text 3"/>
          <p:cNvSpPr/>
          <p:nvPr/>
        </p:nvSpPr>
        <p:spPr>
          <a:xfrm>
            <a:off x="594360" y="1463040"/>
            <a:ext cx="3657600" cy="2148840"/>
          </a:xfrm>
          <a:prstGeom prst="rect">
            <a:avLst/>
          </a:prstGeom>
          <a:noFill/>
          <a:ln/>
        </p:spPr>
        <p:txBody>
          <a:bodyPr wrap="square" lIns="0" tIns="0" rIns="0" bIns="0" rtlCol="0" anchor="t"/>
          <a:lstStyle/>
          <a:p>
            <a:pPr marL="342900" indent="-342900">
              <a:buSzPct val="100000"/>
              <a:buChar char="•"/>
            </a:pPr>
            <a:r>
              <a:rPr lang="en-US" sz="1300" dirty="0">
                <a:solidFill>
                  <a:srgbClr val="E8EDF2"/>
                </a:solidFill>
                <a:latin typeface="Calibri" pitchFamily="34" charset="0"/>
                <a:ea typeface="Calibri" pitchFamily="34" charset="-122"/>
                <a:cs typeface="Calibri" pitchFamily="34" charset="-120"/>
              </a:rPr>
              <a:t>Answers require traversal, not just retrieval</a:t>
            </a:r>
            <a:endParaRPr lang="en-US" sz="1300" dirty="0"/>
          </a:p>
          <a:p>
            <a:pPr marL="342900" indent="-342900">
              <a:buSzPct val="100000"/>
              <a:buChar char="•"/>
            </a:pPr>
            <a:r>
              <a:rPr lang="en-US" sz="1300" dirty="0">
                <a:solidFill>
                  <a:srgbClr val="E8EDF2"/>
                </a:solidFill>
                <a:latin typeface="Calibri" pitchFamily="34" charset="0"/>
                <a:ea typeface="Calibri" pitchFamily="34" charset="-122"/>
                <a:cs typeface="Calibri" pitchFamily="34" charset="-120"/>
              </a:rPr>
              <a:t>Same entity named differently across documents</a:t>
            </a:r>
            <a:endParaRPr lang="en-US" sz="1300" dirty="0"/>
          </a:p>
          <a:p>
            <a:pPr marL="342900" indent="-342900">
              <a:buSzPct val="100000"/>
              <a:buChar char="•"/>
            </a:pPr>
            <a:r>
              <a:rPr lang="en-US" sz="1300" dirty="0">
                <a:solidFill>
                  <a:srgbClr val="E8EDF2"/>
                </a:solidFill>
                <a:latin typeface="Calibri" pitchFamily="34" charset="0"/>
                <a:ea typeface="Calibri" pitchFamily="34" charset="-122"/>
                <a:cs typeface="Calibri" pitchFamily="34" charset="-120"/>
              </a:rPr>
              <a:t>Hierarchy or sequence is essential</a:t>
            </a:r>
            <a:endParaRPr lang="en-US" sz="1300" dirty="0"/>
          </a:p>
          <a:p>
            <a:pPr marL="342900" indent="-342900">
              <a:buSzPct val="100000"/>
              <a:buChar char="•"/>
            </a:pPr>
            <a:r>
              <a:rPr lang="en-US" sz="1300" dirty="0">
                <a:solidFill>
                  <a:srgbClr val="E8EDF2"/>
                </a:solidFill>
                <a:latin typeface="Calibri" pitchFamily="34" charset="0"/>
                <a:ea typeface="Calibri" pitchFamily="34" charset="-122"/>
                <a:cs typeface="Calibri" pitchFamily="34" charset="-120"/>
              </a:rPr>
              <a:t>You need completeness, not just similarity</a:t>
            </a:r>
            <a:endParaRPr lang="en-US" sz="1300" dirty="0"/>
          </a:p>
        </p:txBody>
      </p:sp>
      <p:sp>
        <p:nvSpPr>
          <p:cNvPr id="6" name="Shape 4"/>
          <p:cNvSpPr/>
          <p:nvPr/>
        </p:nvSpPr>
        <p:spPr>
          <a:xfrm>
            <a:off x="4709160" y="960120"/>
            <a:ext cx="3977640" cy="2788920"/>
          </a:xfrm>
          <a:prstGeom prst="rect">
            <a:avLst/>
          </a:prstGeom>
          <a:solidFill>
            <a:srgbClr val="152235"/>
          </a:solidFill>
          <a:ln w="12700">
            <a:solidFill>
              <a:srgbClr val="3A5068"/>
            </a:solidFill>
            <a:prstDash val="solid"/>
          </a:ln>
        </p:spPr>
      </p:sp>
      <p:sp>
        <p:nvSpPr>
          <p:cNvPr id="7" name="Text 5"/>
          <p:cNvSpPr/>
          <p:nvPr/>
        </p:nvSpPr>
        <p:spPr>
          <a:xfrm>
            <a:off x="4846320" y="1024128"/>
            <a:ext cx="3703320" cy="347472"/>
          </a:xfrm>
          <a:prstGeom prst="rect">
            <a:avLst/>
          </a:prstGeom>
          <a:noFill/>
          <a:ln/>
        </p:spPr>
        <p:txBody>
          <a:bodyPr wrap="square" lIns="0" tIns="0" rIns="0" bIns="0" rtlCol="0" anchor="ctr"/>
          <a:lstStyle/>
          <a:p>
            <a:pPr indent="0" marL="0">
              <a:buNone/>
            </a:pPr>
            <a:r>
              <a:rPr lang="en-US" sz="1500" b="1" dirty="0">
                <a:solidFill>
                  <a:srgbClr val="7A8FA6"/>
                </a:solidFill>
                <a:latin typeface="Calibri" pitchFamily="34" charset="0"/>
                <a:ea typeface="Calibri" pitchFamily="34" charset="-122"/>
                <a:cs typeface="Calibri" pitchFamily="34" charset="-120"/>
              </a:rPr>
              <a:t>Probably overkill ✗</a:t>
            </a:r>
            <a:endParaRPr lang="en-US" sz="1500" dirty="0"/>
          </a:p>
        </p:txBody>
      </p:sp>
      <p:sp>
        <p:nvSpPr>
          <p:cNvPr id="8" name="Text 6"/>
          <p:cNvSpPr/>
          <p:nvPr/>
        </p:nvSpPr>
        <p:spPr>
          <a:xfrm>
            <a:off x="4846320" y="1463040"/>
            <a:ext cx="3657600" cy="2148840"/>
          </a:xfrm>
          <a:prstGeom prst="rect">
            <a:avLst/>
          </a:prstGeom>
          <a:noFill/>
          <a:ln/>
        </p:spPr>
        <p:txBody>
          <a:bodyPr wrap="square" lIns="0" tIns="0" rIns="0" bIns="0" rtlCol="0" anchor="t"/>
          <a:lstStyle/>
          <a:p>
            <a:pPr marL="342900" indent="-342900">
              <a:buSzPct val="100000"/>
              <a:buChar char="•"/>
            </a:pPr>
            <a:r>
              <a:rPr lang="en-US" sz="1300" dirty="0">
                <a:solidFill>
                  <a:srgbClr val="7A8FA6"/>
                </a:solidFill>
                <a:latin typeface="Calibri" pitchFamily="34" charset="0"/>
                <a:ea typeface="Calibri" pitchFamily="34" charset="-122"/>
                <a:cs typeface="Calibri" pitchFamily="34" charset="-120"/>
              </a:rPr>
              <a:t>All questions are factual lookups</a:t>
            </a:r>
            <a:endParaRPr lang="en-US" sz="1300" dirty="0"/>
          </a:p>
          <a:p>
            <a:pPr marL="342900" indent="-342900">
              <a:buSzPct val="100000"/>
              <a:buChar char="•"/>
            </a:pPr>
            <a:r>
              <a:rPr lang="en-US" sz="1300" dirty="0">
                <a:solidFill>
                  <a:srgbClr val="7A8FA6"/>
                </a:solidFill>
                <a:latin typeface="Calibri" pitchFamily="34" charset="0"/>
                <a:ea typeface="Calibri" pitchFamily="34" charset="-122"/>
                <a:cs typeface="Calibri" pitchFamily="34" charset="-120"/>
              </a:rPr>
              <a:t>Corpus is small (&lt; a few hundred docs)</a:t>
            </a:r>
            <a:endParaRPr lang="en-US" sz="1300" dirty="0"/>
          </a:p>
          <a:p>
            <a:pPr marL="342900" indent="-342900">
              <a:buSzPct val="100000"/>
              <a:buChar char="•"/>
            </a:pPr>
            <a:r>
              <a:rPr lang="en-US" sz="1300" dirty="0">
                <a:solidFill>
                  <a:srgbClr val="7A8FA6"/>
                </a:solidFill>
                <a:latin typeface="Calibri" pitchFamily="34" charset="0"/>
                <a:ea typeface="Calibri" pitchFamily="34" charset="-122"/>
                <a:cs typeface="Calibri" pitchFamily="34" charset="-120"/>
              </a:rPr>
              <a:t>No meaningful entities or relationships</a:t>
            </a:r>
            <a:endParaRPr lang="en-US" sz="1300" dirty="0"/>
          </a:p>
          <a:p>
            <a:pPr marL="342900" indent="-342900">
              <a:buSzPct val="100000"/>
              <a:buChar char="•"/>
            </a:pPr>
            <a:r>
              <a:rPr lang="en-US" sz="1300" dirty="0">
                <a:solidFill>
                  <a:srgbClr val="7A8FA6"/>
                </a:solidFill>
                <a:latin typeface="Calibri" pitchFamily="34" charset="0"/>
                <a:ea typeface="Calibri" pitchFamily="34" charset="-122"/>
                <a:cs typeface="Calibri" pitchFamily="34" charset="-120"/>
              </a:rPr>
              <a:t>Need a prototype by Friday</a:t>
            </a:r>
            <a:endParaRPr lang="en-US" sz="1300" dirty="0"/>
          </a:p>
        </p:txBody>
      </p:sp>
      <p:sp>
        <p:nvSpPr>
          <p:cNvPr id="9" name="Shape 7"/>
          <p:cNvSpPr/>
          <p:nvPr/>
        </p:nvSpPr>
        <p:spPr>
          <a:xfrm>
            <a:off x="457200" y="3977640"/>
            <a:ext cx="8229600" cy="868680"/>
          </a:xfrm>
          <a:prstGeom prst="rect">
            <a:avLst/>
          </a:prstGeom>
          <a:solidFill>
            <a:srgbClr val="152235"/>
          </a:solidFill>
          <a:ln w="19050">
            <a:solidFill>
              <a:srgbClr val="018BFF"/>
            </a:solidFill>
            <a:prstDash val="solid"/>
          </a:ln>
        </p:spPr>
      </p:sp>
      <p:sp>
        <p:nvSpPr>
          <p:cNvPr id="10" name="Text 8"/>
          <p:cNvSpPr/>
          <p:nvPr/>
        </p:nvSpPr>
        <p:spPr>
          <a:xfrm>
            <a:off x="640080" y="4041648"/>
            <a:ext cx="7863840" cy="731520"/>
          </a:xfrm>
          <a:prstGeom prst="rect">
            <a:avLst/>
          </a:prstGeom>
          <a:noFill/>
          <a:ln/>
        </p:spPr>
        <p:txBody>
          <a:bodyPr wrap="square" lIns="0" tIns="0" rIns="0" bIns="0" rtlCol="0" anchor="ctr"/>
          <a:lstStyle/>
          <a:p>
            <a:pPr algn="ctr" indent="0" marL="0">
              <a:buNone/>
            </a:pPr>
            <a:r>
              <a:rPr lang="en-US" sz="1700" b="1" i="1" dirty="0">
                <a:solidFill>
                  <a:srgbClr val="E8EDF2"/>
                </a:solidFill>
                <a:latin typeface="Calibri" pitchFamily="34" charset="0"/>
                <a:ea typeface="Calibri" pitchFamily="34" charset="-122"/>
                <a:cs typeface="Calibri" pitchFamily="34" charset="-120"/>
              </a:rPr>
              <a:t>"What does my user need to know that isn't in any single document?"</a:t>
            </a:r>
            <a:endParaRPr lang="en-US" sz="1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548640" y="365760"/>
            <a:ext cx="8046720" cy="548640"/>
          </a:xfrm>
          <a:prstGeom prst="rect">
            <a:avLst/>
          </a:prstGeom>
          <a:noFill/>
          <a:ln/>
        </p:spPr>
        <p:txBody>
          <a:bodyPr wrap="square" lIns="0" tIns="0" rIns="0" bIns="0" rtlCol="0" anchor="ctr"/>
          <a:lstStyle/>
          <a:p>
            <a:pPr algn="ctr" indent="0" marL="0">
              <a:buNone/>
            </a:pPr>
            <a:r>
              <a:rPr lang="en-US" sz="3200" b="1" dirty="0">
                <a:solidFill>
                  <a:srgbClr val="E8EDF2"/>
                </a:solidFill>
                <a:latin typeface="Calibri" pitchFamily="34" charset="0"/>
                <a:ea typeface="Calibri" pitchFamily="34" charset="-122"/>
                <a:cs typeface="Calibri" pitchFamily="34" charset="-120"/>
              </a:rPr>
              <a:t>Three things to take home</a:t>
            </a:r>
            <a:endParaRPr lang="en-US" sz="3200" dirty="0"/>
          </a:p>
        </p:txBody>
      </p:sp>
      <p:sp>
        <p:nvSpPr>
          <p:cNvPr id="3" name="Shape 1"/>
          <p:cNvSpPr/>
          <p:nvPr/>
        </p:nvSpPr>
        <p:spPr>
          <a:xfrm>
            <a:off x="457200" y="1207008"/>
            <a:ext cx="457200" cy="457200"/>
          </a:xfrm>
          <a:prstGeom prst="ellipse">
            <a:avLst/>
          </a:prstGeom>
          <a:solidFill>
            <a:srgbClr val="018BFF"/>
          </a:solidFill>
          <a:ln w="12700">
            <a:solidFill>
              <a:srgbClr val="018BFF"/>
            </a:solidFill>
            <a:prstDash val="solid"/>
          </a:ln>
        </p:spPr>
      </p:sp>
      <p:sp>
        <p:nvSpPr>
          <p:cNvPr id="4" name="Text 2"/>
          <p:cNvSpPr/>
          <p:nvPr/>
        </p:nvSpPr>
        <p:spPr>
          <a:xfrm>
            <a:off x="457200" y="120700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5" name="Text 3"/>
          <p:cNvSpPr/>
          <p:nvPr/>
        </p:nvSpPr>
        <p:spPr>
          <a:xfrm>
            <a:off x="1097280" y="1143000"/>
            <a:ext cx="2194560" cy="548640"/>
          </a:xfrm>
          <a:prstGeom prst="rect">
            <a:avLst/>
          </a:prstGeom>
          <a:noFill/>
          <a:ln/>
        </p:spPr>
        <p:txBody>
          <a:bodyPr wrap="square" lIns="0" tIns="0" rIns="0" bIns="0" rtlCol="0" anchor="ctr"/>
          <a:lstStyle/>
          <a:p>
            <a:pPr indent="0" marL="0">
              <a:buNone/>
            </a:pPr>
            <a:r>
              <a:rPr lang="en-US" sz="1600" b="1" dirty="0">
                <a:solidFill>
                  <a:srgbClr val="018BFF"/>
                </a:solidFill>
                <a:latin typeface="Calibri" pitchFamily="34" charset="0"/>
                <a:ea typeface="Calibri" pitchFamily="34" charset="-122"/>
                <a:cs typeface="Calibri" pitchFamily="34" charset="-120"/>
              </a:rPr>
              <a:t>Mental model</a:t>
            </a:r>
            <a:endParaRPr lang="en-US" sz="1600" dirty="0"/>
          </a:p>
        </p:txBody>
      </p:sp>
      <p:sp>
        <p:nvSpPr>
          <p:cNvPr id="6" name="Text 4"/>
          <p:cNvSpPr/>
          <p:nvPr/>
        </p:nvSpPr>
        <p:spPr>
          <a:xfrm>
            <a:off x="3383280" y="1097280"/>
            <a:ext cx="5303520" cy="685800"/>
          </a:xfrm>
          <a:prstGeom prst="rect">
            <a:avLst/>
          </a:prstGeom>
          <a:noFill/>
          <a:ln/>
        </p:spPr>
        <p:txBody>
          <a:bodyPr wrap="square" lIns="0" tIns="0" rIns="0" bIns="0" rtlCol="0" anchor="ctr"/>
          <a:lstStyle/>
          <a:p>
            <a:pPr indent="0" marL="0">
              <a:buNone/>
            </a:pPr>
            <a:r>
              <a:rPr lang="en-US" sz="1300" dirty="0">
                <a:solidFill>
                  <a:srgbClr val="7A8FA6"/>
                </a:solidFill>
                <a:latin typeface="Calibri" pitchFamily="34" charset="0"/>
                <a:ea typeface="Calibri" pitchFamily="34" charset="-122"/>
                <a:cs typeface="Calibri" pitchFamily="34" charset="-120"/>
              </a:rPr>
              <a:t>Graphs store connections explicitly. Vectors find similarity. Neither replaces the other — they cover different failure modes.</a:t>
            </a:r>
            <a:endParaRPr lang="en-US" sz="1300" dirty="0"/>
          </a:p>
        </p:txBody>
      </p:sp>
      <p:sp>
        <p:nvSpPr>
          <p:cNvPr id="7" name="Shape 5"/>
          <p:cNvSpPr/>
          <p:nvPr/>
        </p:nvSpPr>
        <p:spPr>
          <a:xfrm>
            <a:off x="457200" y="2048256"/>
            <a:ext cx="457200" cy="457200"/>
          </a:xfrm>
          <a:prstGeom prst="ellipse">
            <a:avLst/>
          </a:prstGeom>
          <a:solidFill>
            <a:srgbClr val="018BFF"/>
          </a:solidFill>
          <a:ln w="12700">
            <a:solidFill>
              <a:srgbClr val="018BFF"/>
            </a:solidFill>
            <a:prstDash val="solid"/>
          </a:ln>
        </p:spPr>
      </p:sp>
      <p:sp>
        <p:nvSpPr>
          <p:cNvPr id="8" name="Text 6"/>
          <p:cNvSpPr/>
          <p:nvPr/>
        </p:nvSpPr>
        <p:spPr>
          <a:xfrm>
            <a:off x="457200" y="2048256"/>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9" name="Text 7"/>
          <p:cNvSpPr/>
          <p:nvPr/>
        </p:nvSpPr>
        <p:spPr>
          <a:xfrm>
            <a:off x="1097280" y="1984248"/>
            <a:ext cx="2194560" cy="548640"/>
          </a:xfrm>
          <a:prstGeom prst="rect">
            <a:avLst/>
          </a:prstGeom>
          <a:noFill/>
          <a:ln/>
        </p:spPr>
        <p:txBody>
          <a:bodyPr wrap="square" lIns="0" tIns="0" rIns="0" bIns="0" rtlCol="0" anchor="ctr"/>
          <a:lstStyle/>
          <a:p>
            <a:pPr indent="0" marL="0">
              <a:buNone/>
            </a:pPr>
            <a:r>
              <a:rPr lang="en-US" sz="1600" b="1" dirty="0">
                <a:solidFill>
                  <a:srgbClr val="018BFF"/>
                </a:solidFill>
                <a:latin typeface="Calibri" pitchFamily="34" charset="0"/>
                <a:ea typeface="Calibri" pitchFamily="34" charset="-122"/>
                <a:cs typeface="Calibri" pitchFamily="34" charset="-120"/>
              </a:rPr>
              <a:t>Realistic cost</a:t>
            </a:r>
            <a:endParaRPr lang="en-US" sz="1600" dirty="0"/>
          </a:p>
        </p:txBody>
      </p:sp>
      <p:sp>
        <p:nvSpPr>
          <p:cNvPr id="10" name="Text 8"/>
          <p:cNvSpPr/>
          <p:nvPr/>
        </p:nvSpPr>
        <p:spPr>
          <a:xfrm>
            <a:off x="3383280" y="1938528"/>
            <a:ext cx="5303520" cy="685800"/>
          </a:xfrm>
          <a:prstGeom prst="rect">
            <a:avLst/>
          </a:prstGeom>
          <a:noFill/>
          <a:ln/>
        </p:spPr>
        <p:txBody>
          <a:bodyPr wrap="square" lIns="0" tIns="0" rIns="0" bIns="0" rtlCol="0" anchor="ctr"/>
          <a:lstStyle/>
          <a:p>
            <a:pPr indent="0" marL="0">
              <a:buNone/>
            </a:pPr>
            <a:r>
              <a:rPr lang="en-US" sz="1300" dirty="0">
                <a:solidFill>
                  <a:srgbClr val="7A8FA6"/>
                </a:solidFill>
                <a:latin typeface="Calibri" pitchFamily="34" charset="0"/>
                <a:ea typeface="Calibri" pitchFamily="34" charset="-122"/>
                <a:cs typeface="Calibri" pitchFamily="34" charset="-120"/>
              </a:rPr>
              <a:t>Adding a graph layer to an existing RAG pipeline is 1–3 days, not a rewrite. The extraction step is the interesting hard problem.</a:t>
            </a:r>
            <a:endParaRPr lang="en-US" sz="1300" dirty="0"/>
          </a:p>
        </p:txBody>
      </p:sp>
      <p:sp>
        <p:nvSpPr>
          <p:cNvPr id="11" name="Shape 9"/>
          <p:cNvSpPr/>
          <p:nvPr/>
        </p:nvSpPr>
        <p:spPr>
          <a:xfrm>
            <a:off x="457200" y="2889504"/>
            <a:ext cx="457200" cy="457200"/>
          </a:xfrm>
          <a:prstGeom prst="ellipse">
            <a:avLst/>
          </a:prstGeom>
          <a:solidFill>
            <a:srgbClr val="018BFF"/>
          </a:solidFill>
          <a:ln w="12700">
            <a:solidFill>
              <a:srgbClr val="018BFF"/>
            </a:solidFill>
            <a:prstDash val="solid"/>
          </a:ln>
        </p:spPr>
      </p:sp>
      <p:sp>
        <p:nvSpPr>
          <p:cNvPr id="12" name="Text 10"/>
          <p:cNvSpPr/>
          <p:nvPr/>
        </p:nvSpPr>
        <p:spPr>
          <a:xfrm>
            <a:off x="457200" y="2889504"/>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3" name="Text 11"/>
          <p:cNvSpPr/>
          <p:nvPr/>
        </p:nvSpPr>
        <p:spPr>
          <a:xfrm>
            <a:off x="1097280" y="2825496"/>
            <a:ext cx="2194560" cy="548640"/>
          </a:xfrm>
          <a:prstGeom prst="rect">
            <a:avLst/>
          </a:prstGeom>
          <a:noFill/>
          <a:ln/>
        </p:spPr>
        <p:txBody>
          <a:bodyPr wrap="square" lIns="0" tIns="0" rIns="0" bIns="0" rtlCol="0" anchor="ctr"/>
          <a:lstStyle/>
          <a:p>
            <a:pPr indent="0" marL="0">
              <a:buNone/>
            </a:pPr>
            <a:r>
              <a:rPr lang="en-US" sz="1600" b="1" dirty="0">
                <a:solidFill>
                  <a:srgbClr val="018BFF"/>
                </a:solidFill>
                <a:latin typeface="Calibri" pitchFamily="34" charset="0"/>
                <a:ea typeface="Calibri" pitchFamily="34" charset="-122"/>
                <a:cs typeface="Calibri" pitchFamily="34" charset="-120"/>
              </a:rPr>
              <a:t>Decision signal</a:t>
            </a:r>
            <a:endParaRPr lang="en-US" sz="1600" dirty="0"/>
          </a:p>
        </p:txBody>
      </p:sp>
      <p:sp>
        <p:nvSpPr>
          <p:cNvPr id="14" name="Text 12"/>
          <p:cNvSpPr/>
          <p:nvPr/>
        </p:nvSpPr>
        <p:spPr>
          <a:xfrm>
            <a:off x="3383280" y="2779776"/>
            <a:ext cx="5303520" cy="685800"/>
          </a:xfrm>
          <a:prstGeom prst="rect">
            <a:avLst/>
          </a:prstGeom>
          <a:noFill/>
          <a:ln/>
        </p:spPr>
        <p:txBody>
          <a:bodyPr wrap="square" lIns="0" tIns="0" rIns="0" bIns="0" rtlCol="0" anchor="ctr"/>
          <a:lstStyle/>
          <a:p>
            <a:pPr indent="0" marL="0">
              <a:buNone/>
            </a:pPr>
            <a:r>
              <a:rPr lang="en-US" sz="1300" dirty="0">
                <a:solidFill>
                  <a:srgbClr val="7A8FA6"/>
                </a:solidFill>
                <a:latin typeface="Calibri" pitchFamily="34" charset="0"/>
                <a:ea typeface="Calibri" pitchFamily="34" charset="-122"/>
                <a:cs typeface="Calibri" pitchFamily="34" charset="-120"/>
              </a:rPr>
              <a:t>If the answer lives in connections between documents rather than in documents themselves, a graph will pay for itself quickly.</a:t>
            </a:r>
            <a:endParaRPr lang="en-US" sz="1300" dirty="0"/>
          </a:p>
        </p:txBody>
      </p:sp>
      <p:sp>
        <p:nvSpPr>
          <p:cNvPr id="15" name="Shape 13"/>
          <p:cNvSpPr/>
          <p:nvPr/>
        </p:nvSpPr>
        <p:spPr>
          <a:xfrm>
            <a:off x="457200" y="3822192"/>
            <a:ext cx="8229600" cy="0"/>
          </a:xfrm>
          <a:prstGeom prst="line">
            <a:avLst/>
          </a:prstGeom>
          <a:noFill/>
          <a:ln w="12700">
            <a:solidFill>
              <a:srgbClr val="018BFF"/>
            </a:solidFill>
            <a:prstDash val="solid"/>
          </a:ln>
        </p:spPr>
      </p:sp>
      <p:sp>
        <p:nvSpPr>
          <p:cNvPr id="16" name="Text 14"/>
          <p:cNvSpPr/>
          <p:nvPr/>
        </p:nvSpPr>
        <p:spPr>
          <a:xfrm>
            <a:off x="457200" y="3913632"/>
            <a:ext cx="8229600" cy="365760"/>
          </a:xfrm>
          <a:prstGeom prst="rect">
            <a:avLst/>
          </a:prstGeom>
          <a:noFill/>
          <a:ln/>
        </p:spPr>
        <p:txBody>
          <a:bodyPr wrap="square" lIns="0" tIns="0" rIns="0" bIns="0" rtlCol="0" anchor="ctr"/>
          <a:lstStyle/>
          <a:p>
            <a:pPr algn="ctr" indent="0" marL="0">
              <a:buNone/>
            </a:pPr>
            <a:r>
              <a:rPr lang="en-US" sz="1600" b="1" dirty="0">
                <a:solidFill>
                  <a:srgbClr val="018BFF"/>
                </a:solidFill>
                <a:latin typeface="Calibri" pitchFamily="34" charset="0"/>
                <a:ea typeface="Calibri" pitchFamily="34" charset="-122"/>
                <a:cs typeface="Calibri" pitchFamily="34" charset="-120"/>
              </a:rPr>
              <a:t>[ github.com/YOUR_HANDLE/community-days ]</a:t>
            </a:r>
            <a:endParaRPr lang="en-US" sz="1600" dirty="0"/>
          </a:p>
        </p:txBody>
      </p:sp>
      <p:sp>
        <p:nvSpPr>
          <p:cNvPr id="17" name="Text 15"/>
          <p:cNvSpPr/>
          <p:nvPr/>
        </p:nvSpPr>
        <p:spPr>
          <a:xfrm>
            <a:off x="457200" y="4343400"/>
            <a:ext cx="8229600" cy="274320"/>
          </a:xfrm>
          <a:prstGeom prst="rect">
            <a:avLst/>
          </a:prstGeom>
          <a:noFill/>
          <a:ln/>
        </p:spPr>
        <p:txBody>
          <a:bodyPr wrap="square" lIns="0" tIns="0" rIns="0" bIns="0" rtlCol="0" anchor="ctr"/>
          <a:lstStyle/>
          <a:p>
            <a:pPr algn="ctr" indent="0" marL="0">
              <a:buNone/>
            </a:pPr>
            <a:r>
              <a:rPr lang="en-US" sz="1300" dirty="0">
                <a:solidFill>
                  <a:srgbClr val="7A8FA6"/>
                </a:solidFill>
                <a:latin typeface="Calibri" pitchFamily="34" charset="0"/>
                <a:ea typeface="Calibri" pitchFamily="34" charset="-122"/>
                <a:cs typeface="Calibri" pitchFamily="34" charset="-120"/>
              </a:rPr>
              <a:t>Fork it  ·  swap in your corpus  ·  see what becomes answerable</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1920240"/>
            <a:ext cx="9144000" cy="1280160"/>
          </a:xfrm>
          <a:prstGeom prst="rect">
            <a:avLst/>
          </a:prstGeom>
          <a:solidFill>
            <a:srgbClr val="152235"/>
          </a:solidFill>
          <a:ln w="12700">
            <a:solidFill>
              <a:srgbClr val="152235"/>
            </a:solidFill>
            <a:prstDash val="solid"/>
          </a:ln>
        </p:spPr>
      </p:sp>
      <p:sp>
        <p:nvSpPr>
          <p:cNvPr id="3" name="Text 1"/>
          <p:cNvSpPr/>
          <p:nvPr/>
        </p:nvSpPr>
        <p:spPr>
          <a:xfrm>
            <a:off x="457200" y="1965960"/>
            <a:ext cx="8229600" cy="731520"/>
          </a:xfrm>
          <a:prstGeom prst="rect">
            <a:avLst/>
          </a:prstGeom>
          <a:noFill/>
          <a:ln/>
        </p:spPr>
        <p:txBody>
          <a:bodyPr wrap="square" lIns="0" tIns="0" rIns="0" bIns="0" rtlCol="0" anchor="ctr"/>
          <a:lstStyle/>
          <a:p>
            <a:pPr algn="ctr" indent="0" marL="0">
              <a:buNone/>
            </a:pPr>
            <a:r>
              <a:rPr lang="en-US" sz="4000" b="1" dirty="0">
                <a:solidFill>
                  <a:srgbClr val="E8EDF2"/>
                </a:solidFill>
                <a:latin typeface="Calibri" pitchFamily="34" charset="0"/>
                <a:ea typeface="Calibri" pitchFamily="34" charset="-122"/>
                <a:cs typeface="Calibri" pitchFamily="34" charset="-120"/>
              </a:rPr>
              <a:t>Appendix</a:t>
            </a:r>
            <a:endParaRPr lang="en-US" sz="4000" dirty="0"/>
          </a:p>
        </p:txBody>
      </p:sp>
      <p:sp>
        <p:nvSpPr>
          <p:cNvPr id="4" name="Text 2"/>
          <p:cNvSpPr/>
          <p:nvPr/>
        </p:nvSpPr>
        <p:spPr>
          <a:xfrm>
            <a:off x="457200" y="2743200"/>
            <a:ext cx="8229600" cy="365760"/>
          </a:xfrm>
          <a:prstGeom prst="rect">
            <a:avLst/>
          </a:prstGeom>
          <a:noFill/>
          <a:ln/>
        </p:spPr>
        <p:txBody>
          <a:bodyPr wrap="square" lIns="0" tIns="0" rIns="0" bIns="0" rtlCol="0" anchor="ctr"/>
          <a:lstStyle/>
          <a:p>
            <a:pPr algn="ctr" indent="0" marL="0">
              <a:buNone/>
            </a:pPr>
            <a:r>
              <a:rPr lang="en-US" sz="2000" dirty="0">
                <a:solidFill>
                  <a:srgbClr val="7A8FA6"/>
                </a:solidFill>
                <a:latin typeface="Calibri" pitchFamily="34" charset="0"/>
                <a:ea typeface="Calibri" pitchFamily="34" charset="-122"/>
                <a:cs typeface="Calibri" pitchFamily="34" charset="-120"/>
              </a:rPr>
              <a:t>Resources &amp; Further Reading</a:t>
            </a:r>
            <a:endParaRPr lang="en-US" sz="2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457200" y="228600"/>
            <a:ext cx="8229600" cy="502920"/>
          </a:xfrm>
          <a:prstGeom prst="rect">
            <a:avLst/>
          </a:prstGeom>
          <a:noFill/>
          <a:ln/>
        </p:spPr>
        <p:txBody>
          <a:bodyPr wrap="square" lIns="0" tIns="0" rIns="0" bIns="0" rtlCol="0" anchor="ctr"/>
          <a:lstStyle/>
          <a:p>
            <a:pPr algn="l" indent="0" marL="0">
              <a:buNone/>
            </a:pPr>
            <a:r>
              <a:rPr lang="en-US" sz="2600" b="1" dirty="0">
                <a:solidFill>
                  <a:srgbClr val="018BFF"/>
                </a:solidFill>
                <a:latin typeface="Calibri" pitchFamily="34" charset="0"/>
                <a:ea typeface="Calibri" pitchFamily="34" charset="-122"/>
                <a:cs typeface="Calibri" pitchFamily="34" charset="-120"/>
              </a:rPr>
              <a:t>Where to go next</a:t>
            </a:r>
            <a:endParaRPr lang="en-US" sz="2600" dirty="0"/>
          </a:p>
        </p:txBody>
      </p:sp>
      <p:sp>
        <p:nvSpPr>
          <p:cNvPr id="3" name="Shape 1"/>
          <p:cNvSpPr/>
          <p:nvPr/>
        </p:nvSpPr>
        <p:spPr>
          <a:xfrm>
            <a:off x="457200" y="960120"/>
            <a:ext cx="3977640" cy="3886200"/>
          </a:xfrm>
          <a:prstGeom prst="rect">
            <a:avLst/>
          </a:prstGeom>
          <a:solidFill>
            <a:srgbClr val="152235"/>
          </a:solidFill>
          <a:ln w="12700">
            <a:solidFill>
              <a:srgbClr val="018BFF"/>
            </a:solidFill>
            <a:prstDash val="solid"/>
          </a:ln>
        </p:spPr>
      </p:sp>
      <p:sp>
        <p:nvSpPr>
          <p:cNvPr id="4" name="Text 2"/>
          <p:cNvSpPr/>
          <p:nvPr/>
        </p:nvSpPr>
        <p:spPr>
          <a:xfrm>
            <a:off x="594360" y="1051560"/>
            <a:ext cx="3703320" cy="384048"/>
          </a:xfrm>
          <a:prstGeom prst="rect">
            <a:avLst/>
          </a:prstGeom>
          <a:noFill/>
          <a:ln/>
        </p:spPr>
        <p:txBody>
          <a:bodyPr wrap="square" lIns="0" tIns="0" rIns="0" bIns="0" rtlCol="0" anchor="ctr"/>
          <a:lstStyle/>
          <a:p>
            <a:pPr indent="0" marL="0">
              <a:buNone/>
            </a:pPr>
            <a:r>
              <a:rPr lang="en-US" sz="1800" b="1" dirty="0">
                <a:solidFill>
                  <a:srgbClr val="018BFF"/>
                </a:solidFill>
                <a:latin typeface="Calibri" pitchFamily="34" charset="0"/>
                <a:ea typeface="Calibri" pitchFamily="34" charset="-122"/>
                <a:cs typeface="Calibri" pitchFamily="34" charset="-120"/>
              </a:rPr>
              <a:t>graphrag.com</a:t>
            </a:r>
            <a:endParaRPr lang="en-US" sz="1800" dirty="0"/>
          </a:p>
        </p:txBody>
      </p:sp>
      <p:sp>
        <p:nvSpPr>
          <p:cNvPr id="5" name="Text 3"/>
          <p:cNvSpPr/>
          <p:nvPr/>
        </p:nvSpPr>
        <p:spPr>
          <a:xfrm>
            <a:off x="594360" y="1481328"/>
            <a:ext cx="3703320" cy="502920"/>
          </a:xfrm>
          <a:prstGeom prst="rect">
            <a:avLst/>
          </a:prstGeom>
          <a:noFill/>
          <a:ln/>
        </p:spPr>
        <p:txBody>
          <a:bodyPr wrap="square" lIns="0" tIns="0" rIns="0" bIns="0" rtlCol="0" anchor="ctr"/>
          <a:lstStyle/>
          <a:p>
            <a:pPr indent="0" marL="0">
              <a:buNone/>
            </a:pPr>
            <a:r>
              <a:rPr lang="en-US" sz="1300" dirty="0">
                <a:solidFill>
                  <a:srgbClr val="7A8FA6"/>
                </a:solidFill>
                <a:latin typeface="Calibri" pitchFamily="34" charset="0"/>
                <a:ea typeface="Calibri" pitchFamily="34" charset="-122"/>
                <a:cs typeface="Calibri" pitchFamily="34" charset="-120"/>
              </a:rPr>
              <a:t>Concept guides, how-to walkthroughs, and the full research bibliography.</a:t>
            </a:r>
            <a:endParaRPr lang="en-US" sz="1300" dirty="0"/>
          </a:p>
        </p:txBody>
      </p:sp>
      <p:sp>
        <p:nvSpPr>
          <p:cNvPr id="6" name="Text 4"/>
          <p:cNvSpPr/>
          <p:nvPr/>
        </p:nvSpPr>
        <p:spPr>
          <a:xfrm>
            <a:off x="594360" y="2103120"/>
            <a:ext cx="3703320" cy="1463040"/>
          </a:xfrm>
          <a:prstGeom prst="rect">
            <a:avLst/>
          </a:prstGeom>
          <a:noFill/>
          <a:ln/>
        </p:spPr>
        <p:txBody>
          <a:bodyPr wrap="square" lIns="0" tIns="0" rIns="0" bIns="0" rtlCol="0" anchor="t"/>
          <a:lstStyle/>
          <a:p>
            <a:pPr marL="342900" indent="-342900">
              <a:buSzPct val="100000"/>
              <a:buChar char="•"/>
            </a:pPr>
            <a:r>
              <a:rPr lang="en-US" sz="1200" dirty="0">
                <a:solidFill>
                  <a:srgbClr val="7A8FA6"/>
                </a:solidFill>
                <a:latin typeface="Calibri" pitchFamily="34" charset="0"/>
                <a:ea typeface="Calibri" pitchFamily="34" charset="-122"/>
                <a:cs typeface="Calibri" pitchFamily="34" charset="-120"/>
              </a:rPr>
              <a:t>Concepts — What is GraphRAG? What is a knowledge graph?</a:t>
            </a:r>
            <a:endParaRPr lang="en-US" sz="1200" dirty="0"/>
          </a:p>
          <a:p>
            <a:pPr marL="342900" indent="-342900">
              <a:buSzPct val="100000"/>
              <a:buChar char="•"/>
            </a:pPr>
            <a:r>
              <a:rPr lang="en-US" sz="1200" dirty="0">
                <a:solidFill>
                  <a:srgbClr val="7A8FA6"/>
                </a:solidFill>
                <a:latin typeface="Calibri" pitchFamily="34" charset="0"/>
                <a:ea typeface="Calibri" pitchFamily="34" charset="-122"/>
                <a:cs typeface="Calibri" pitchFamily="34" charset="-120"/>
              </a:rPr>
              <a:t>How-to Guides — data prep through retrieval techniques</a:t>
            </a:r>
            <a:endParaRPr lang="en-US" sz="1200" dirty="0"/>
          </a:p>
          <a:p>
            <a:pPr marL="342900" indent="-342900">
              <a:buSzPct val="100000"/>
              <a:buChar char="•"/>
            </a:pPr>
            <a:r>
              <a:rPr lang="en-US" sz="1200" dirty="0">
                <a:solidFill>
                  <a:srgbClr val="7A8FA6"/>
                </a:solidFill>
                <a:latin typeface="Calibri" pitchFamily="34" charset="0"/>
                <a:ea typeface="Calibri" pitchFamily="34" charset="-122"/>
                <a:cs typeface="Calibri" pitchFamily="34" charset="-120"/>
              </a:rPr>
              <a:t>Research Appendix — 17+ papers with summaries</a:t>
            </a:r>
            <a:endParaRPr lang="en-US" sz="1200" dirty="0"/>
          </a:p>
        </p:txBody>
      </p:sp>
      <p:sp>
        <p:nvSpPr>
          <p:cNvPr id="7" name="Shape 5"/>
          <p:cNvSpPr/>
          <p:nvPr/>
        </p:nvSpPr>
        <p:spPr>
          <a:xfrm>
            <a:off x="4709160" y="960120"/>
            <a:ext cx="3977640" cy="3886200"/>
          </a:xfrm>
          <a:prstGeom prst="rect">
            <a:avLst/>
          </a:prstGeom>
          <a:solidFill>
            <a:srgbClr val="152235"/>
          </a:solidFill>
          <a:ln w="12700">
            <a:solidFill>
              <a:srgbClr val="00CC76"/>
            </a:solidFill>
            <a:prstDash val="solid"/>
          </a:ln>
        </p:spPr>
      </p:sp>
      <p:sp>
        <p:nvSpPr>
          <p:cNvPr id="8" name="Text 6"/>
          <p:cNvSpPr/>
          <p:nvPr/>
        </p:nvSpPr>
        <p:spPr>
          <a:xfrm>
            <a:off x="4846320" y="1051560"/>
            <a:ext cx="3703320" cy="384048"/>
          </a:xfrm>
          <a:prstGeom prst="rect">
            <a:avLst/>
          </a:prstGeom>
          <a:noFill/>
          <a:ln/>
        </p:spPr>
        <p:txBody>
          <a:bodyPr wrap="square" lIns="0" tIns="0" rIns="0" bIns="0" rtlCol="0" anchor="ctr"/>
          <a:lstStyle/>
          <a:p>
            <a:pPr indent="0" marL="0">
              <a:buNone/>
            </a:pPr>
            <a:r>
              <a:rPr lang="en-US" sz="1800" b="1" dirty="0">
                <a:solidFill>
                  <a:srgbClr val="00CC76"/>
                </a:solidFill>
                <a:latin typeface="Calibri" pitchFamily="34" charset="0"/>
                <a:ea typeface="Calibri" pitchFamily="34" charset="-122"/>
                <a:cs typeface="Calibri" pitchFamily="34" charset="-120"/>
              </a:rPr>
              <a:t>arrows.app</a:t>
            </a:r>
            <a:endParaRPr lang="en-US" sz="1800" dirty="0"/>
          </a:p>
        </p:txBody>
      </p:sp>
      <p:sp>
        <p:nvSpPr>
          <p:cNvPr id="9" name="Text 7"/>
          <p:cNvSpPr/>
          <p:nvPr/>
        </p:nvSpPr>
        <p:spPr>
          <a:xfrm>
            <a:off x="4846320" y="1481328"/>
            <a:ext cx="3703320" cy="502920"/>
          </a:xfrm>
          <a:prstGeom prst="rect">
            <a:avLst/>
          </a:prstGeom>
          <a:noFill/>
          <a:ln/>
        </p:spPr>
        <p:txBody>
          <a:bodyPr wrap="square" lIns="0" tIns="0" rIns="0" bIns="0" rtlCol="0" anchor="ctr"/>
          <a:lstStyle/>
          <a:p>
            <a:pPr indent="0" marL="0">
              <a:buNone/>
            </a:pPr>
            <a:r>
              <a:rPr lang="en-US" sz="1300" dirty="0">
                <a:solidFill>
                  <a:srgbClr val="7A8FA6"/>
                </a:solidFill>
                <a:latin typeface="Calibri" pitchFamily="34" charset="0"/>
                <a:ea typeface="Calibri" pitchFamily="34" charset="-122"/>
                <a:cs typeface="Calibri" pitchFamily="34" charset="-120"/>
              </a:rPr>
              <a:t>Free browser-based graph data modeler from Neo4j.</a:t>
            </a:r>
            <a:endParaRPr lang="en-US" sz="1300" dirty="0"/>
          </a:p>
        </p:txBody>
      </p:sp>
      <p:sp>
        <p:nvSpPr>
          <p:cNvPr id="10" name="Text 8"/>
          <p:cNvSpPr/>
          <p:nvPr/>
        </p:nvSpPr>
        <p:spPr>
          <a:xfrm>
            <a:off x="4846320" y="2103120"/>
            <a:ext cx="3703320" cy="1645920"/>
          </a:xfrm>
          <a:prstGeom prst="rect">
            <a:avLst/>
          </a:prstGeom>
          <a:noFill/>
          <a:ln/>
        </p:spPr>
        <p:txBody>
          <a:bodyPr wrap="square" lIns="0" tIns="0" rIns="0" bIns="0" rtlCol="0" anchor="t"/>
          <a:lstStyle/>
          <a:p>
            <a:pPr marL="342900" indent="-342900">
              <a:buSzPct val="100000"/>
              <a:buChar char="•"/>
            </a:pPr>
            <a:r>
              <a:rPr lang="en-US" sz="1200" dirty="0">
                <a:solidFill>
                  <a:srgbClr val="7A8FA6"/>
                </a:solidFill>
                <a:latin typeface="Calibri" pitchFamily="34" charset="0"/>
                <a:ea typeface="Calibri" pitchFamily="34" charset="-122"/>
                <a:cs typeface="Calibri" pitchFamily="34" charset="-120"/>
              </a:rPr>
              <a:t>Sketch your graph schema before writing any code</a:t>
            </a:r>
            <a:endParaRPr lang="en-US" sz="1200" dirty="0"/>
          </a:p>
          <a:p>
            <a:pPr marL="342900" indent="-342900">
              <a:buSzPct val="100000"/>
              <a:buChar char="•"/>
            </a:pPr>
            <a:r>
              <a:rPr lang="en-US" sz="1200" dirty="0">
                <a:solidFill>
                  <a:srgbClr val="7A8FA6"/>
                </a:solidFill>
                <a:latin typeface="Calibri" pitchFamily="34" charset="0"/>
                <a:ea typeface="Calibri" pitchFamily="34" charset="-122"/>
                <a:cs typeface="Calibri" pitchFamily="34" charset="-120"/>
              </a:rPr>
              <a:t>Visualize node types, relationship types, and properties</a:t>
            </a:r>
            <a:endParaRPr lang="en-US" sz="1200" dirty="0"/>
          </a:p>
          <a:p>
            <a:pPr marL="342900" indent="-342900">
              <a:buSzPct val="100000"/>
              <a:buChar char="•"/>
            </a:pPr>
            <a:r>
              <a:rPr lang="en-US" sz="1200" dirty="0">
                <a:solidFill>
                  <a:srgbClr val="7A8FA6"/>
                </a:solidFill>
                <a:latin typeface="Calibri" pitchFamily="34" charset="0"/>
                <a:ea typeface="Calibri" pitchFamily="34" charset="-122"/>
                <a:cs typeface="Calibri" pitchFamily="34" charset="-120"/>
              </a:rPr>
              <a:t>Export your model as Cypher CREATE statements</a:t>
            </a:r>
            <a:endParaRPr lang="en-US" sz="1200" dirty="0"/>
          </a:p>
          <a:p>
            <a:pPr marL="342900" indent="-342900">
              <a:buSzPct val="100000"/>
              <a:buChar char="•"/>
            </a:pPr>
            <a:r>
              <a:rPr lang="en-US" sz="1200" dirty="0">
                <a:solidFill>
                  <a:srgbClr val="7A8FA6"/>
                </a:solidFill>
                <a:latin typeface="Calibri" pitchFamily="34" charset="0"/>
                <a:ea typeface="Calibri" pitchFamily="34" charset="-122"/>
                <a:cs typeface="Calibri" pitchFamily="34" charset="-120"/>
              </a:rPr>
              <a:t>Share diagrams with your team</a:t>
            </a:r>
            <a:endParaRPr lang="en-US" sz="1200" dirty="0"/>
          </a:p>
        </p:txBody>
      </p:sp>
      <p:sp>
        <p:nvSpPr>
          <p:cNvPr id="11" name="Shape 9"/>
          <p:cNvSpPr/>
          <p:nvPr/>
        </p:nvSpPr>
        <p:spPr>
          <a:xfrm>
            <a:off x="4709160" y="3977640"/>
            <a:ext cx="3977640" cy="594360"/>
          </a:xfrm>
          <a:prstGeom prst="rect">
            <a:avLst/>
          </a:prstGeom>
          <a:solidFill>
            <a:srgbClr val="0A2A18"/>
          </a:solidFill>
          <a:ln w="12700">
            <a:solidFill>
              <a:srgbClr val="00CC76"/>
            </a:solidFill>
            <a:prstDash val="solid"/>
          </a:ln>
        </p:spPr>
      </p:sp>
      <p:sp>
        <p:nvSpPr>
          <p:cNvPr id="12" name="Text 10"/>
          <p:cNvSpPr/>
          <p:nvPr/>
        </p:nvSpPr>
        <p:spPr>
          <a:xfrm>
            <a:off x="4828032" y="4014216"/>
            <a:ext cx="3739896" cy="521208"/>
          </a:xfrm>
          <a:prstGeom prst="rect">
            <a:avLst/>
          </a:prstGeom>
          <a:noFill/>
          <a:ln/>
        </p:spPr>
        <p:txBody>
          <a:bodyPr wrap="square" lIns="0" tIns="0" rIns="0" bIns="0" rtlCol="0" anchor="ctr"/>
          <a:lstStyle/>
          <a:p>
            <a:pPr indent="0" marL="0">
              <a:buNone/>
            </a:pPr>
            <a:r>
              <a:rPr lang="en-US" sz="1100" i="1" dirty="0">
                <a:solidFill>
                  <a:srgbClr val="00CC76"/>
                </a:solidFill>
                <a:latin typeface="Calibri" pitchFamily="34" charset="0"/>
                <a:ea typeface="Calibri" pitchFamily="34" charset="-122"/>
                <a:cs typeface="Calibri" pitchFamily="34" charset="-120"/>
              </a:rPr>
              <a:t>Pro tip: model your graph in arrows.app before writing your extraction prompt. A clear schema = better LLM extraction.</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457200" y="228600"/>
            <a:ext cx="8229600" cy="502920"/>
          </a:xfrm>
          <a:prstGeom prst="rect">
            <a:avLst/>
          </a:prstGeom>
          <a:noFill/>
          <a:ln/>
        </p:spPr>
        <p:txBody>
          <a:bodyPr wrap="square" lIns="0" tIns="0" rIns="0" bIns="0" rtlCol="0" anchor="ctr"/>
          <a:lstStyle/>
          <a:p>
            <a:pPr algn="l" indent="0" marL="0">
              <a:buNone/>
            </a:pPr>
            <a:r>
              <a:rPr lang="en-US" sz="2600" b="1" dirty="0">
                <a:solidFill>
                  <a:srgbClr val="018BFF"/>
                </a:solidFill>
                <a:latin typeface="Calibri" pitchFamily="34" charset="0"/>
                <a:ea typeface="Calibri" pitchFamily="34" charset="-122"/>
                <a:cs typeface="Calibri" pitchFamily="34" charset="-120"/>
              </a:rPr>
              <a:t>Research backing the hybrid approach</a:t>
            </a:r>
            <a:endParaRPr lang="en-US" sz="2600" dirty="0"/>
          </a:p>
        </p:txBody>
      </p:sp>
      <p:sp>
        <p:nvSpPr>
          <p:cNvPr id="3" name="Shape 1"/>
          <p:cNvSpPr/>
          <p:nvPr/>
        </p:nvSpPr>
        <p:spPr>
          <a:xfrm>
            <a:off x="457200" y="960120"/>
            <a:ext cx="8229600" cy="1097280"/>
          </a:xfrm>
          <a:prstGeom prst="rect">
            <a:avLst/>
          </a:prstGeom>
          <a:solidFill>
            <a:srgbClr val="152235"/>
          </a:solidFill>
          <a:ln w="12700">
            <a:solidFill>
              <a:srgbClr val="3A5068"/>
            </a:solidFill>
            <a:prstDash val="solid"/>
          </a:ln>
        </p:spPr>
      </p:sp>
      <p:sp>
        <p:nvSpPr>
          <p:cNvPr id="4" name="Shape 2"/>
          <p:cNvSpPr/>
          <p:nvPr/>
        </p:nvSpPr>
        <p:spPr>
          <a:xfrm>
            <a:off x="457200" y="960120"/>
            <a:ext cx="64008" cy="1097280"/>
          </a:xfrm>
          <a:prstGeom prst="rect">
            <a:avLst/>
          </a:prstGeom>
          <a:solidFill>
            <a:srgbClr val="018BFF"/>
          </a:solidFill>
          <a:ln w="12700">
            <a:solidFill>
              <a:srgbClr val="018BFF"/>
            </a:solidFill>
            <a:prstDash val="solid"/>
          </a:ln>
        </p:spPr>
      </p:sp>
      <p:sp>
        <p:nvSpPr>
          <p:cNvPr id="5" name="Text 3"/>
          <p:cNvSpPr/>
          <p:nvPr/>
        </p:nvSpPr>
        <p:spPr>
          <a:xfrm>
            <a:off x="658368" y="1051560"/>
            <a:ext cx="5943600" cy="347472"/>
          </a:xfrm>
          <a:prstGeom prst="rect">
            <a:avLst/>
          </a:prstGeom>
          <a:noFill/>
          <a:ln/>
        </p:spPr>
        <p:txBody>
          <a:bodyPr wrap="square" lIns="0" tIns="0" rIns="0" bIns="0" rtlCol="0" anchor="ctr"/>
          <a:lstStyle/>
          <a:p>
            <a:pPr indent="0" marL="0">
              <a:buNone/>
            </a:pPr>
            <a:r>
              <a:rPr lang="en-US" sz="1400" b="1" dirty="0">
                <a:solidFill>
                  <a:srgbClr val="E8EDF2"/>
                </a:solidFill>
                <a:latin typeface="Calibri" pitchFamily="34" charset="0"/>
                <a:ea typeface="Calibri" pitchFamily="34" charset="-122"/>
                <a:cs typeface="Calibri" pitchFamily="34" charset="-120"/>
              </a:rPr>
              <a:t>HybridRAG</a:t>
            </a:r>
            <a:endParaRPr lang="en-US" sz="1400" dirty="0"/>
          </a:p>
        </p:txBody>
      </p:sp>
      <p:sp>
        <p:nvSpPr>
          <p:cNvPr id="6" name="Text 4"/>
          <p:cNvSpPr/>
          <p:nvPr/>
        </p:nvSpPr>
        <p:spPr>
          <a:xfrm>
            <a:off x="6675120" y="1078992"/>
            <a:ext cx="1828800" cy="274320"/>
          </a:xfrm>
          <a:prstGeom prst="rect">
            <a:avLst/>
          </a:prstGeom>
          <a:noFill/>
          <a:ln/>
        </p:spPr>
        <p:txBody>
          <a:bodyPr wrap="square" lIns="0" tIns="0" rIns="0" bIns="0" rtlCol="0" anchor="ctr"/>
          <a:lstStyle/>
          <a:p>
            <a:pPr algn="r" indent="0" marL="0">
              <a:buNone/>
            </a:pPr>
            <a:r>
              <a:rPr lang="en-US" sz="1100" dirty="0">
                <a:solidFill>
                  <a:srgbClr val="7A8FA6"/>
                </a:solidFill>
                <a:latin typeface="Calibri" pitchFamily="34" charset="0"/>
                <a:ea typeface="Calibri" pitchFamily="34" charset="-122"/>
                <a:cs typeface="Calibri" pitchFamily="34" charset="-120"/>
              </a:rPr>
              <a:t>arXiv 2408.04948</a:t>
            </a:r>
            <a:endParaRPr lang="en-US" sz="1100" dirty="0"/>
          </a:p>
        </p:txBody>
      </p:sp>
      <p:sp>
        <p:nvSpPr>
          <p:cNvPr id="7" name="Text 5"/>
          <p:cNvSpPr/>
          <p:nvPr/>
        </p:nvSpPr>
        <p:spPr>
          <a:xfrm>
            <a:off x="658368" y="1472184"/>
            <a:ext cx="7863840" cy="502920"/>
          </a:xfrm>
          <a:prstGeom prst="rect">
            <a:avLst/>
          </a:prstGeom>
          <a:noFill/>
          <a:ln/>
        </p:spPr>
        <p:txBody>
          <a:bodyPr wrap="square" lIns="0" tIns="0" rIns="0" bIns="0" rtlCol="0" anchor="ctr"/>
          <a:lstStyle/>
          <a:p>
            <a:pPr indent="0" marL="0">
              <a:buNone/>
            </a:pPr>
            <a:r>
              <a:rPr lang="en-US" sz="1200" dirty="0">
                <a:solidFill>
                  <a:srgbClr val="7A8FA6"/>
                </a:solidFill>
                <a:latin typeface="Calibri" pitchFamily="34" charset="0"/>
                <a:ea typeface="Calibri" pitchFamily="34" charset="-122"/>
                <a:cs typeface="Calibri" pitchFamily="34" charset="-120"/>
              </a:rPr>
              <a:t>Empirically measures the improvement of combining graph and vector retrieval. The closest paper to what this demo shows.</a:t>
            </a:r>
            <a:endParaRPr lang="en-US" sz="1200" dirty="0"/>
          </a:p>
        </p:txBody>
      </p:sp>
      <p:sp>
        <p:nvSpPr>
          <p:cNvPr id="8" name="Shape 6"/>
          <p:cNvSpPr/>
          <p:nvPr/>
        </p:nvSpPr>
        <p:spPr>
          <a:xfrm>
            <a:off x="457200" y="2221992"/>
            <a:ext cx="8229600" cy="1097280"/>
          </a:xfrm>
          <a:prstGeom prst="rect">
            <a:avLst/>
          </a:prstGeom>
          <a:solidFill>
            <a:srgbClr val="152235"/>
          </a:solidFill>
          <a:ln w="12700">
            <a:solidFill>
              <a:srgbClr val="3A5068"/>
            </a:solidFill>
            <a:prstDash val="solid"/>
          </a:ln>
        </p:spPr>
      </p:sp>
      <p:sp>
        <p:nvSpPr>
          <p:cNvPr id="9" name="Shape 7"/>
          <p:cNvSpPr/>
          <p:nvPr/>
        </p:nvSpPr>
        <p:spPr>
          <a:xfrm>
            <a:off x="457200" y="2221992"/>
            <a:ext cx="64008" cy="1097280"/>
          </a:xfrm>
          <a:prstGeom prst="rect">
            <a:avLst/>
          </a:prstGeom>
          <a:solidFill>
            <a:srgbClr val="018BFF"/>
          </a:solidFill>
          <a:ln w="12700">
            <a:solidFill>
              <a:srgbClr val="018BFF"/>
            </a:solidFill>
            <a:prstDash val="solid"/>
          </a:ln>
        </p:spPr>
      </p:sp>
      <p:sp>
        <p:nvSpPr>
          <p:cNvPr id="10" name="Text 8"/>
          <p:cNvSpPr/>
          <p:nvPr/>
        </p:nvSpPr>
        <p:spPr>
          <a:xfrm>
            <a:off x="658368" y="2313432"/>
            <a:ext cx="5943600" cy="347472"/>
          </a:xfrm>
          <a:prstGeom prst="rect">
            <a:avLst/>
          </a:prstGeom>
          <a:noFill/>
          <a:ln/>
        </p:spPr>
        <p:txBody>
          <a:bodyPr wrap="square" lIns="0" tIns="0" rIns="0" bIns="0" rtlCol="0" anchor="ctr"/>
          <a:lstStyle/>
          <a:p>
            <a:pPr indent="0" marL="0">
              <a:buNone/>
            </a:pPr>
            <a:r>
              <a:rPr lang="en-US" sz="1400" b="1" dirty="0">
                <a:solidFill>
                  <a:srgbClr val="E8EDF2"/>
                </a:solidFill>
                <a:latin typeface="Calibri" pitchFamily="34" charset="0"/>
                <a:ea typeface="Calibri" pitchFamily="34" charset="-122"/>
                <a:cs typeface="Calibri" pitchFamily="34" charset="-120"/>
              </a:rPr>
              <a:t>From Local to Global: A Graph RAG Approach to Query-Focused Summarization</a:t>
            </a:r>
            <a:endParaRPr lang="en-US" sz="1400" dirty="0"/>
          </a:p>
        </p:txBody>
      </p:sp>
      <p:sp>
        <p:nvSpPr>
          <p:cNvPr id="11" name="Text 9"/>
          <p:cNvSpPr/>
          <p:nvPr/>
        </p:nvSpPr>
        <p:spPr>
          <a:xfrm>
            <a:off x="6675120" y="2340864"/>
            <a:ext cx="1828800" cy="274320"/>
          </a:xfrm>
          <a:prstGeom prst="rect">
            <a:avLst/>
          </a:prstGeom>
          <a:noFill/>
          <a:ln/>
        </p:spPr>
        <p:txBody>
          <a:bodyPr wrap="square" lIns="0" tIns="0" rIns="0" bIns="0" rtlCol="0" anchor="ctr"/>
          <a:lstStyle/>
          <a:p>
            <a:pPr algn="r" indent="0" marL="0">
              <a:buNone/>
            </a:pPr>
            <a:r>
              <a:rPr lang="en-US" sz="1100" dirty="0">
                <a:solidFill>
                  <a:srgbClr val="7A8FA6"/>
                </a:solidFill>
                <a:latin typeface="Calibri" pitchFamily="34" charset="0"/>
                <a:ea typeface="Calibri" pitchFamily="34" charset="-122"/>
                <a:cs typeface="Calibri" pitchFamily="34" charset="-120"/>
              </a:rPr>
              <a:t>arXiv 2404.16130</a:t>
            </a:r>
            <a:endParaRPr lang="en-US" sz="1100" dirty="0"/>
          </a:p>
        </p:txBody>
      </p:sp>
      <p:sp>
        <p:nvSpPr>
          <p:cNvPr id="12" name="Text 10"/>
          <p:cNvSpPr/>
          <p:nvPr/>
        </p:nvSpPr>
        <p:spPr>
          <a:xfrm>
            <a:off x="658368" y="2734056"/>
            <a:ext cx="7863840" cy="502920"/>
          </a:xfrm>
          <a:prstGeom prst="rect">
            <a:avLst/>
          </a:prstGeom>
          <a:noFill/>
          <a:ln/>
        </p:spPr>
        <p:txBody>
          <a:bodyPr wrap="square" lIns="0" tIns="0" rIns="0" bIns="0" rtlCol="0" anchor="ctr"/>
          <a:lstStyle/>
          <a:p>
            <a:pPr indent="0" marL="0">
              <a:buNone/>
            </a:pPr>
            <a:r>
              <a:rPr lang="en-US" sz="1200" dirty="0">
                <a:solidFill>
                  <a:srgbClr val="7A8FA6"/>
                </a:solidFill>
                <a:latin typeface="Calibri" pitchFamily="34" charset="0"/>
                <a:ea typeface="Calibri" pitchFamily="34" charset="-122"/>
                <a:cs typeface="Calibri" pitchFamily="34" charset="-120"/>
              </a:rPr>
              <a:t>Microsoft Research. Graph structure enables global summarization queries that vector search fundamentally cannot answer.</a:t>
            </a:r>
            <a:endParaRPr lang="en-US" sz="1200" dirty="0"/>
          </a:p>
        </p:txBody>
      </p:sp>
      <p:sp>
        <p:nvSpPr>
          <p:cNvPr id="13" name="Shape 11"/>
          <p:cNvSpPr/>
          <p:nvPr/>
        </p:nvSpPr>
        <p:spPr>
          <a:xfrm>
            <a:off x="457200" y="3483864"/>
            <a:ext cx="8229600" cy="1097280"/>
          </a:xfrm>
          <a:prstGeom prst="rect">
            <a:avLst/>
          </a:prstGeom>
          <a:solidFill>
            <a:srgbClr val="152235"/>
          </a:solidFill>
          <a:ln w="12700">
            <a:solidFill>
              <a:srgbClr val="3A5068"/>
            </a:solidFill>
            <a:prstDash val="solid"/>
          </a:ln>
        </p:spPr>
      </p:sp>
      <p:sp>
        <p:nvSpPr>
          <p:cNvPr id="14" name="Shape 12"/>
          <p:cNvSpPr/>
          <p:nvPr/>
        </p:nvSpPr>
        <p:spPr>
          <a:xfrm>
            <a:off x="457200" y="3483864"/>
            <a:ext cx="64008" cy="1097280"/>
          </a:xfrm>
          <a:prstGeom prst="rect">
            <a:avLst/>
          </a:prstGeom>
          <a:solidFill>
            <a:srgbClr val="018BFF"/>
          </a:solidFill>
          <a:ln w="12700">
            <a:solidFill>
              <a:srgbClr val="018BFF"/>
            </a:solidFill>
            <a:prstDash val="solid"/>
          </a:ln>
        </p:spPr>
      </p:sp>
      <p:sp>
        <p:nvSpPr>
          <p:cNvPr id="15" name="Text 13"/>
          <p:cNvSpPr/>
          <p:nvPr/>
        </p:nvSpPr>
        <p:spPr>
          <a:xfrm>
            <a:off x="658368" y="3575304"/>
            <a:ext cx="5943600" cy="347472"/>
          </a:xfrm>
          <a:prstGeom prst="rect">
            <a:avLst/>
          </a:prstGeom>
          <a:noFill/>
          <a:ln/>
        </p:spPr>
        <p:txBody>
          <a:bodyPr wrap="square" lIns="0" tIns="0" rIns="0" bIns="0" rtlCol="0" anchor="ctr"/>
          <a:lstStyle/>
          <a:p>
            <a:pPr indent="0" marL="0">
              <a:buNone/>
            </a:pPr>
            <a:r>
              <a:rPr lang="en-US" sz="1400" b="1" dirty="0">
                <a:solidFill>
                  <a:srgbClr val="E8EDF2"/>
                </a:solidFill>
                <a:latin typeface="Calibri" pitchFamily="34" charset="0"/>
                <a:ea typeface="Calibri" pitchFamily="34" charset="-122"/>
                <a:cs typeface="Calibri" pitchFamily="34" charset="-120"/>
              </a:rPr>
              <a:t>Knowledge Graphs on Enterprise SQL Databases</a:t>
            </a:r>
            <a:endParaRPr lang="en-US" sz="1400" dirty="0"/>
          </a:p>
        </p:txBody>
      </p:sp>
      <p:sp>
        <p:nvSpPr>
          <p:cNvPr id="16" name="Text 14"/>
          <p:cNvSpPr/>
          <p:nvPr/>
        </p:nvSpPr>
        <p:spPr>
          <a:xfrm>
            <a:off x="6675120" y="3602736"/>
            <a:ext cx="1828800" cy="274320"/>
          </a:xfrm>
          <a:prstGeom prst="rect">
            <a:avLst/>
          </a:prstGeom>
          <a:noFill/>
          <a:ln/>
        </p:spPr>
        <p:txBody>
          <a:bodyPr wrap="square" lIns="0" tIns="0" rIns="0" bIns="0" rtlCol="0" anchor="ctr"/>
          <a:lstStyle/>
          <a:p>
            <a:pPr algn="r" indent="0" marL="0">
              <a:buNone/>
            </a:pPr>
            <a:r>
              <a:rPr lang="en-US" sz="1100" dirty="0">
                <a:solidFill>
                  <a:srgbClr val="7A8FA6"/>
                </a:solidFill>
                <a:latin typeface="Calibri" pitchFamily="34" charset="0"/>
                <a:ea typeface="Calibri" pitchFamily="34" charset="-122"/>
                <a:cs typeface="Calibri" pitchFamily="34" charset="-120"/>
              </a:rPr>
              <a:t>arXiv 2311.07509</a:t>
            </a:r>
            <a:endParaRPr lang="en-US" sz="1100" dirty="0"/>
          </a:p>
        </p:txBody>
      </p:sp>
      <p:sp>
        <p:nvSpPr>
          <p:cNvPr id="17" name="Text 15"/>
          <p:cNvSpPr/>
          <p:nvPr/>
        </p:nvSpPr>
        <p:spPr>
          <a:xfrm>
            <a:off x="658368" y="3995928"/>
            <a:ext cx="7863840" cy="502920"/>
          </a:xfrm>
          <a:prstGeom prst="rect">
            <a:avLst/>
          </a:prstGeom>
          <a:noFill/>
          <a:ln/>
        </p:spPr>
        <p:txBody>
          <a:bodyPr wrap="square" lIns="0" tIns="0" rIns="0" bIns="0" rtlCol="0" anchor="ctr"/>
          <a:lstStyle/>
          <a:p>
            <a:pPr indent="0" marL="0">
              <a:buNone/>
            </a:pPr>
            <a:r>
              <a:rPr lang="en-US" sz="1200" dirty="0">
                <a:solidFill>
                  <a:srgbClr val="7A8FA6"/>
                </a:solidFill>
                <a:latin typeface="Calibri" pitchFamily="34" charset="0"/>
                <a:ea typeface="Calibri" pitchFamily="34" charset="-122"/>
                <a:cs typeface="Calibri" pitchFamily="34" charset="-120"/>
              </a:rPr>
              <a:t>Empirical evidence that KGs improve LLM accuracy even when structured SQL data is already available. Direct answer to the Postgres question.</a:t>
            </a:r>
            <a:endParaRPr lang="en-US" sz="1200" dirty="0"/>
          </a:p>
        </p:txBody>
      </p:sp>
      <p:sp>
        <p:nvSpPr>
          <p:cNvPr id="18" name="Text 16"/>
          <p:cNvSpPr/>
          <p:nvPr/>
        </p:nvSpPr>
        <p:spPr>
          <a:xfrm>
            <a:off x="457200" y="4709160"/>
            <a:ext cx="8229600" cy="228600"/>
          </a:xfrm>
          <a:prstGeom prst="rect">
            <a:avLst/>
          </a:prstGeom>
          <a:noFill/>
          <a:ln/>
        </p:spPr>
        <p:txBody>
          <a:bodyPr wrap="square" lIns="0" tIns="0" rIns="0" bIns="0" rtlCol="0" anchor="ctr"/>
          <a:lstStyle/>
          <a:p>
            <a:pPr algn="ctr" indent="0" marL="0">
              <a:buNone/>
            </a:pPr>
            <a:r>
              <a:rPr lang="en-US" sz="1100" i="1" dirty="0">
                <a:solidFill>
                  <a:srgbClr val="7A8FA6"/>
                </a:solidFill>
                <a:latin typeface="Calibri" pitchFamily="34" charset="0"/>
                <a:ea typeface="Calibri" pitchFamily="34" charset="-122"/>
                <a:cs typeface="Calibri" pitchFamily="34" charset="-120"/>
              </a:rPr>
              <a:t>Full bibliography at  graphrag.com/appendices/research/</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457200" y="228600"/>
            <a:ext cx="8229600" cy="502920"/>
          </a:xfrm>
          <a:prstGeom prst="rect">
            <a:avLst/>
          </a:prstGeom>
          <a:noFill/>
          <a:ln/>
        </p:spPr>
        <p:txBody>
          <a:bodyPr wrap="square" lIns="0" tIns="0" rIns="0" bIns="0" rtlCol="0" anchor="ctr"/>
          <a:lstStyle/>
          <a:p>
            <a:pPr algn="l" indent="0" marL="0">
              <a:buNone/>
            </a:pPr>
            <a:r>
              <a:rPr lang="en-US" sz="2600" b="1" dirty="0">
                <a:solidFill>
                  <a:srgbClr val="018BFF"/>
                </a:solidFill>
                <a:latin typeface="Calibri" pitchFamily="34" charset="0"/>
                <a:ea typeface="Calibri" pitchFamily="34" charset="-122"/>
                <a:cs typeface="Calibri" pitchFamily="34" charset="-120"/>
              </a:rPr>
              <a:t>For the curious</a:t>
            </a:r>
            <a:endParaRPr lang="en-US" sz="2600" dirty="0"/>
          </a:p>
        </p:txBody>
      </p:sp>
      <p:sp>
        <p:nvSpPr>
          <p:cNvPr id="3" name="Shape 1"/>
          <p:cNvSpPr/>
          <p:nvPr/>
        </p:nvSpPr>
        <p:spPr>
          <a:xfrm>
            <a:off x="457200" y="960120"/>
            <a:ext cx="8229600" cy="822960"/>
          </a:xfrm>
          <a:prstGeom prst="rect">
            <a:avLst/>
          </a:prstGeom>
          <a:solidFill>
            <a:srgbClr val="152235"/>
          </a:solidFill>
          <a:ln w="12700">
            <a:solidFill>
              <a:srgbClr val="3A5068"/>
            </a:solidFill>
            <a:prstDash val="solid"/>
          </a:ln>
        </p:spPr>
      </p:sp>
      <p:sp>
        <p:nvSpPr>
          <p:cNvPr id="4" name="Text 2"/>
          <p:cNvSpPr/>
          <p:nvPr/>
        </p:nvSpPr>
        <p:spPr>
          <a:xfrm>
            <a:off x="621792" y="1033272"/>
            <a:ext cx="5943600" cy="292608"/>
          </a:xfrm>
          <a:prstGeom prst="rect">
            <a:avLst/>
          </a:prstGeom>
          <a:noFill/>
          <a:ln/>
        </p:spPr>
        <p:txBody>
          <a:bodyPr wrap="square" lIns="0" tIns="0" rIns="0" bIns="0" rtlCol="0" anchor="ctr"/>
          <a:lstStyle/>
          <a:p>
            <a:pPr indent="0" marL="0">
              <a:buNone/>
            </a:pPr>
            <a:r>
              <a:rPr lang="en-US" sz="1400" b="1" dirty="0">
                <a:solidFill>
                  <a:srgbClr val="E8EDF2"/>
                </a:solidFill>
                <a:latin typeface="Calibri" pitchFamily="34" charset="0"/>
                <a:ea typeface="Calibri" pitchFamily="34" charset="-122"/>
                <a:cs typeface="Calibri" pitchFamily="34" charset="-120"/>
              </a:rPr>
              <a:t>Graph RAG: A Survey</a:t>
            </a:r>
            <a:endParaRPr lang="en-US" sz="1400" dirty="0"/>
          </a:p>
        </p:txBody>
      </p:sp>
      <p:sp>
        <p:nvSpPr>
          <p:cNvPr id="5" name="Text 3"/>
          <p:cNvSpPr/>
          <p:nvPr/>
        </p:nvSpPr>
        <p:spPr>
          <a:xfrm>
            <a:off x="6675120" y="1051560"/>
            <a:ext cx="1828800" cy="256032"/>
          </a:xfrm>
          <a:prstGeom prst="rect">
            <a:avLst/>
          </a:prstGeom>
          <a:noFill/>
          <a:ln/>
        </p:spPr>
        <p:txBody>
          <a:bodyPr wrap="square" lIns="0" tIns="0" rIns="0" bIns="0" rtlCol="0" anchor="ctr"/>
          <a:lstStyle/>
          <a:p>
            <a:pPr algn="r" indent="0" marL="0">
              <a:buNone/>
            </a:pPr>
            <a:r>
              <a:rPr lang="en-US" sz="1100" dirty="0">
                <a:solidFill>
                  <a:srgbClr val="7A8FA6"/>
                </a:solidFill>
                <a:latin typeface="Calibri" pitchFamily="34" charset="0"/>
                <a:ea typeface="Calibri" pitchFamily="34" charset="-122"/>
                <a:cs typeface="Calibri" pitchFamily="34" charset="-120"/>
              </a:rPr>
              <a:t>arXiv 2408.08921</a:t>
            </a:r>
            <a:endParaRPr lang="en-US" sz="1100" dirty="0"/>
          </a:p>
        </p:txBody>
      </p:sp>
      <p:sp>
        <p:nvSpPr>
          <p:cNvPr id="6" name="Text 4"/>
          <p:cNvSpPr/>
          <p:nvPr/>
        </p:nvSpPr>
        <p:spPr>
          <a:xfrm>
            <a:off x="621792" y="1399032"/>
            <a:ext cx="7863840" cy="310896"/>
          </a:xfrm>
          <a:prstGeom prst="rect">
            <a:avLst/>
          </a:prstGeom>
          <a:noFill/>
          <a:ln/>
        </p:spPr>
        <p:txBody>
          <a:bodyPr wrap="square" lIns="0" tIns="0" rIns="0" bIns="0" rtlCol="0" anchor="ctr"/>
          <a:lstStyle/>
          <a:p>
            <a:pPr indent="0" marL="0">
              <a:buNone/>
            </a:pPr>
            <a:r>
              <a:rPr lang="en-US" sz="1200" dirty="0">
                <a:solidFill>
                  <a:srgbClr val="7A8FA6"/>
                </a:solidFill>
                <a:latin typeface="Calibri" pitchFamily="34" charset="0"/>
                <a:ea typeface="Calibri" pitchFamily="34" charset="-122"/>
                <a:cs typeface="Calibri" pitchFamily="34" charset="-120"/>
              </a:rPr>
              <a:t>Map of the whole landscape. Start here to understand the full taxonomy of GraphRAG approaches.</a:t>
            </a:r>
            <a:endParaRPr lang="en-US" sz="1200" dirty="0"/>
          </a:p>
        </p:txBody>
      </p:sp>
      <p:sp>
        <p:nvSpPr>
          <p:cNvPr id="7" name="Shape 5"/>
          <p:cNvSpPr/>
          <p:nvPr/>
        </p:nvSpPr>
        <p:spPr>
          <a:xfrm>
            <a:off x="457200" y="1920240"/>
            <a:ext cx="8229600" cy="822960"/>
          </a:xfrm>
          <a:prstGeom prst="rect">
            <a:avLst/>
          </a:prstGeom>
          <a:solidFill>
            <a:srgbClr val="152235"/>
          </a:solidFill>
          <a:ln w="12700">
            <a:solidFill>
              <a:srgbClr val="3A5068"/>
            </a:solidFill>
            <a:prstDash val="solid"/>
          </a:ln>
        </p:spPr>
      </p:sp>
      <p:sp>
        <p:nvSpPr>
          <p:cNvPr id="8" name="Text 6"/>
          <p:cNvSpPr/>
          <p:nvPr/>
        </p:nvSpPr>
        <p:spPr>
          <a:xfrm>
            <a:off x="621792" y="1993392"/>
            <a:ext cx="5943600" cy="292608"/>
          </a:xfrm>
          <a:prstGeom prst="rect">
            <a:avLst/>
          </a:prstGeom>
          <a:noFill/>
          <a:ln/>
        </p:spPr>
        <p:txBody>
          <a:bodyPr wrap="square" lIns="0" tIns="0" rIns="0" bIns="0" rtlCol="0" anchor="ctr"/>
          <a:lstStyle/>
          <a:p>
            <a:pPr indent="0" marL="0">
              <a:buNone/>
            </a:pPr>
            <a:r>
              <a:rPr lang="en-US" sz="1400" b="1" dirty="0">
                <a:solidFill>
                  <a:srgbClr val="E8EDF2"/>
                </a:solidFill>
                <a:latin typeface="Calibri" pitchFamily="34" charset="0"/>
                <a:ea typeface="Calibri" pitchFamily="34" charset="-122"/>
                <a:cs typeface="Calibri" pitchFamily="34" charset="-120"/>
              </a:rPr>
              <a:t>HybGRAG</a:t>
            </a:r>
            <a:endParaRPr lang="en-US" sz="1400" dirty="0"/>
          </a:p>
        </p:txBody>
      </p:sp>
      <p:sp>
        <p:nvSpPr>
          <p:cNvPr id="9" name="Text 7"/>
          <p:cNvSpPr/>
          <p:nvPr/>
        </p:nvSpPr>
        <p:spPr>
          <a:xfrm>
            <a:off x="6675120" y="2011680"/>
            <a:ext cx="1828800" cy="256032"/>
          </a:xfrm>
          <a:prstGeom prst="rect">
            <a:avLst/>
          </a:prstGeom>
          <a:noFill/>
          <a:ln/>
        </p:spPr>
        <p:txBody>
          <a:bodyPr wrap="square" lIns="0" tIns="0" rIns="0" bIns="0" rtlCol="0" anchor="ctr"/>
          <a:lstStyle/>
          <a:p>
            <a:pPr algn="r" indent="0" marL="0">
              <a:buNone/>
            </a:pPr>
            <a:r>
              <a:rPr lang="en-US" sz="1100" dirty="0">
                <a:solidFill>
                  <a:srgbClr val="7A8FA6"/>
                </a:solidFill>
                <a:latin typeface="Calibri" pitchFamily="34" charset="0"/>
                <a:ea typeface="Calibri" pitchFamily="34" charset="-122"/>
                <a:cs typeface="Calibri" pitchFamily="34" charset="-120"/>
              </a:rPr>
              <a:t>arXiv 2412.16311</a:t>
            </a:r>
            <a:endParaRPr lang="en-US" sz="1100" dirty="0"/>
          </a:p>
        </p:txBody>
      </p:sp>
      <p:sp>
        <p:nvSpPr>
          <p:cNvPr id="10" name="Text 8"/>
          <p:cNvSpPr/>
          <p:nvPr/>
        </p:nvSpPr>
        <p:spPr>
          <a:xfrm>
            <a:off x="621792" y="2359152"/>
            <a:ext cx="7863840" cy="310896"/>
          </a:xfrm>
          <a:prstGeom prst="rect">
            <a:avLst/>
          </a:prstGeom>
          <a:noFill/>
          <a:ln/>
        </p:spPr>
        <p:txBody>
          <a:bodyPr wrap="square" lIns="0" tIns="0" rIns="0" bIns="0" rtlCol="0" anchor="ctr"/>
          <a:lstStyle/>
          <a:p>
            <a:pPr indent="0" marL="0">
              <a:buNone/>
            </a:pPr>
            <a:r>
              <a:rPr lang="en-US" sz="1200" dirty="0">
                <a:solidFill>
                  <a:srgbClr val="7A8FA6"/>
                </a:solidFill>
                <a:latin typeface="Calibri" pitchFamily="34" charset="0"/>
                <a:ea typeface="Calibri" pitchFamily="34" charset="-122"/>
                <a:cs typeface="Calibri" pitchFamily="34" charset="-120"/>
              </a:rPr>
              <a:t>Specifically addresses queries spanning both unstructured text and relational knowledge — the toggle this demo demonstrates.</a:t>
            </a:r>
            <a:endParaRPr lang="en-US" sz="1200" dirty="0"/>
          </a:p>
        </p:txBody>
      </p:sp>
      <p:sp>
        <p:nvSpPr>
          <p:cNvPr id="11" name="Shape 9"/>
          <p:cNvSpPr/>
          <p:nvPr/>
        </p:nvSpPr>
        <p:spPr>
          <a:xfrm>
            <a:off x="457200" y="2880360"/>
            <a:ext cx="8229600" cy="822960"/>
          </a:xfrm>
          <a:prstGeom prst="rect">
            <a:avLst/>
          </a:prstGeom>
          <a:solidFill>
            <a:srgbClr val="152235"/>
          </a:solidFill>
          <a:ln w="12700">
            <a:solidFill>
              <a:srgbClr val="3A5068"/>
            </a:solidFill>
            <a:prstDash val="solid"/>
          </a:ln>
        </p:spPr>
      </p:sp>
      <p:sp>
        <p:nvSpPr>
          <p:cNvPr id="12" name="Text 10"/>
          <p:cNvSpPr/>
          <p:nvPr/>
        </p:nvSpPr>
        <p:spPr>
          <a:xfrm>
            <a:off x="621792" y="2953512"/>
            <a:ext cx="5943600" cy="292608"/>
          </a:xfrm>
          <a:prstGeom prst="rect">
            <a:avLst/>
          </a:prstGeom>
          <a:noFill/>
          <a:ln/>
        </p:spPr>
        <p:txBody>
          <a:bodyPr wrap="square" lIns="0" tIns="0" rIns="0" bIns="0" rtlCol="0" anchor="ctr"/>
          <a:lstStyle/>
          <a:p>
            <a:pPr indent="0" marL="0">
              <a:buNone/>
            </a:pPr>
            <a:r>
              <a:rPr lang="en-US" sz="1400" b="1" dirty="0">
                <a:solidFill>
                  <a:srgbClr val="E8EDF2"/>
                </a:solidFill>
                <a:latin typeface="Calibri" pitchFamily="34" charset="0"/>
                <a:ea typeface="Calibri" pitchFamily="34" charset="-122"/>
                <a:cs typeface="Calibri" pitchFamily="34" charset="-120"/>
              </a:rPr>
              <a:t>Customer Service QA with Knowledge Graphs</a:t>
            </a:r>
            <a:endParaRPr lang="en-US" sz="1400" dirty="0"/>
          </a:p>
        </p:txBody>
      </p:sp>
      <p:sp>
        <p:nvSpPr>
          <p:cNvPr id="13" name="Text 11"/>
          <p:cNvSpPr/>
          <p:nvPr/>
        </p:nvSpPr>
        <p:spPr>
          <a:xfrm>
            <a:off x="6675120" y="2971800"/>
            <a:ext cx="1828800" cy="256032"/>
          </a:xfrm>
          <a:prstGeom prst="rect">
            <a:avLst/>
          </a:prstGeom>
          <a:noFill/>
          <a:ln/>
        </p:spPr>
        <p:txBody>
          <a:bodyPr wrap="square" lIns="0" tIns="0" rIns="0" bIns="0" rtlCol="0" anchor="ctr"/>
          <a:lstStyle/>
          <a:p>
            <a:pPr algn="r" indent="0" marL="0">
              <a:buNone/>
            </a:pPr>
            <a:r>
              <a:rPr lang="en-US" sz="1100" dirty="0">
                <a:solidFill>
                  <a:srgbClr val="7A8FA6"/>
                </a:solidFill>
                <a:latin typeface="Calibri" pitchFamily="34" charset="0"/>
                <a:ea typeface="Calibri" pitchFamily="34" charset="-122"/>
                <a:cs typeface="Calibri" pitchFamily="34" charset="-120"/>
              </a:rPr>
              <a:t>arXiv 2404.17723</a:t>
            </a:r>
            <a:endParaRPr lang="en-US" sz="1100" dirty="0"/>
          </a:p>
        </p:txBody>
      </p:sp>
      <p:sp>
        <p:nvSpPr>
          <p:cNvPr id="14" name="Text 12"/>
          <p:cNvSpPr/>
          <p:nvPr/>
        </p:nvSpPr>
        <p:spPr>
          <a:xfrm>
            <a:off x="621792" y="3319272"/>
            <a:ext cx="7863840" cy="310896"/>
          </a:xfrm>
          <a:prstGeom prst="rect">
            <a:avLst/>
          </a:prstGeom>
          <a:noFill/>
          <a:ln/>
        </p:spPr>
        <p:txBody>
          <a:bodyPr wrap="square" lIns="0" tIns="0" rIns="0" bIns="0" rtlCol="0" anchor="ctr"/>
          <a:lstStyle/>
          <a:p>
            <a:pPr indent="0" marL="0">
              <a:buNone/>
            </a:pPr>
            <a:r>
              <a:rPr lang="en-US" sz="1200" dirty="0">
                <a:solidFill>
                  <a:srgbClr val="7A8FA6"/>
                </a:solidFill>
                <a:latin typeface="Calibri" pitchFamily="34" charset="0"/>
                <a:ea typeface="Calibri" pitchFamily="34" charset="-122"/>
                <a:cs typeface="Calibri" pitchFamily="34" charset="-120"/>
              </a:rPr>
              <a:t>Enterprise use case. Relatable for teams building internal tooling.</a:t>
            </a:r>
            <a:endParaRPr lang="en-US" sz="1200" dirty="0"/>
          </a:p>
        </p:txBody>
      </p:sp>
      <p:sp>
        <p:nvSpPr>
          <p:cNvPr id="15" name="Shape 13"/>
          <p:cNvSpPr/>
          <p:nvPr/>
        </p:nvSpPr>
        <p:spPr>
          <a:xfrm>
            <a:off x="457200" y="3840480"/>
            <a:ext cx="8229600" cy="822960"/>
          </a:xfrm>
          <a:prstGeom prst="rect">
            <a:avLst/>
          </a:prstGeom>
          <a:solidFill>
            <a:srgbClr val="152235"/>
          </a:solidFill>
          <a:ln w="12700">
            <a:solidFill>
              <a:srgbClr val="3A5068"/>
            </a:solidFill>
            <a:prstDash val="solid"/>
          </a:ln>
        </p:spPr>
      </p:sp>
      <p:sp>
        <p:nvSpPr>
          <p:cNvPr id="16" name="Text 14"/>
          <p:cNvSpPr/>
          <p:nvPr/>
        </p:nvSpPr>
        <p:spPr>
          <a:xfrm>
            <a:off x="621792" y="3913632"/>
            <a:ext cx="5943600" cy="292608"/>
          </a:xfrm>
          <a:prstGeom prst="rect">
            <a:avLst/>
          </a:prstGeom>
          <a:noFill/>
          <a:ln/>
        </p:spPr>
        <p:txBody>
          <a:bodyPr wrap="square" lIns="0" tIns="0" rIns="0" bIns="0" rtlCol="0" anchor="ctr"/>
          <a:lstStyle/>
          <a:p>
            <a:pPr indent="0" marL="0">
              <a:buNone/>
            </a:pPr>
            <a:r>
              <a:rPr lang="en-US" sz="1400" b="1" dirty="0">
                <a:solidFill>
                  <a:srgbClr val="E8EDF2"/>
                </a:solidFill>
                <a:latin typeface="Calibri" pitchFamily="34" charset="0"/>
                <a:ea typeface="Calibri" pitchFamily="34" charset="-122"/>
                <a:cs typeface="Calibri" pitchFamily="34" charset="-120"/>
              </a:rPr>
              <a:t>Think-on-Graph</a:t>
            </a:r>
            <a:endParaRPr lang="en-US" sz="1400" dirty="0"/>
          </a:p>
        </p:txBody>
      </p:sp>
      <p:sp>
        <p:nvSpPr>
          <p:cNvPr id="17" name="Text 15"/>
          <p:cNvSpPr/>
          <p:nvPr/>
        </p:nvSpPr>
        <p:spPr>
          <a:xfrm>
            <a:off x="6675120" y="3931920"/>
            <a:ext cx="1828800" cy="256032"/>
          </a:xfrm>
          <a:prstGeom prst="rect">
            <a:avLst/>
          </a:prstGeom>
          <a:noFill/>
          <a:ln/>
        </p:spPr>
        <p:txBody>
          <a:bodyPr wrap="square" lIns="0" tIns="0" rIns="0" bIns="0" rtlCol="0" anchor="ctr"/>
          <a:lstStyle/>
          <a:p>
            <a:pPr algn="r" indent="0" marL="0">
              <a:buNone/>
            </a:pPr>
            <a:r>
              <a:rPr lang="en-US" sz="1100" dirty="0">
                <a:solidFill>
                  <a:srgbClr val="7A8FA6"/>
                </a:solidFill>
                <a:latin typeface="Calibri" pitchFamily="34" charset="0"/>
                <a:ea typeface="Calibri" pitchFamily="34" charset="-122"/>
                <a:cs typeface="Calibri" pitchFamily="34" charset="-120"/>
              </a:rPr>
              <a:t>arXiv 2307.07697</a:t>
            </a:r>
            <a:endParaRPr lang="en-US" sz="1100" dirty="0"/>
          </a:p>
        </p:txBody>
      </p:sp>
      <p:sp>
        <p:nvSpPr>
          <p:cNvPr id="18" name="Text 16"/>
          <p:cNvSpPr/>
          <p:nvPr/>
        </p:nvSpPr>
        <p:spPr>
          <a:xfrm>
            <a:off x="621792" y="4279392"/>
            <a:ext cx="7863840" cy="310896"/>
          </a:xfrm>
          <a:prstGeom prst="rect">
            <a:avLst/>
          </a:prstGeom>
          <a:noFill/>
          <a:ln/>
        </p:spPr>
        <p:txBody>
          <a:bodyPr wrap="square" lIns="0" tIns="0" rIns="0" bIns="0" rtlCol="0" anchor="ctr"/>
          <a:lstStyle/>
          <a:p>
            <a:pPr indent="0" marL="0">
              <a:buNone/>
            </a:pPr>
            <a:r>
              <a:rPr lang="en-US" sz="1200" dirty="0">
                <a:solidFill>
                  <a:srgbClr val="7A8FA6"/>
                </a:solidFill>
                <a:latin typeface="Calibri" pitchFamily="34" charset="0"/>
                <a:ea typeface="Calibri" pitchFamily="34" charset="-122"/>
                <a:cs typeface="Calibri" pitchFamily="34" charset="-120"/>
              </a:rPr>
              <a:t>LLM reasoning over graphs — the next step beyond graph-enriched context.</a:t>
            </a:r>
            <a:endParaRPr lang="en-US" sz="1200" dirty="0"/>
          </a:p>
        </p:txBody>
      </p:sp>
      <p:sp>
        <p:nvSpPr>
          <p:cNvPr id="19" name="Text 17"/>
          <p:cNvSpPr/>
          <p:nvPr/>
        </p:nvSpPr>
        <p:spPr>
          <a:xfrm>
            <a:off x="457200" y="4736592"/>
            <a:ext cx="8229600" cy="228600"/>
          </a:xfrm>
          <a:prstGeom prst="rect">
            <a:avLst/>
          </a:prstGeom>
          <a:noFill/>
          <a:ln/>
        </p:spPr>
        <p:txBody>
          <a:bodyPr wrap="square" lIns="0" tIns="0" rIns="0" bIns="0" rtlCol="0" anchor="ctr"/>
          <a:lstStyle/>
          <a:p>
            <a:pPr algn="ctr" indent="0" marL="0">
              <a:buNone/>
            </a:pPr>
            <a:r>
              <a:rPr lang="en-US" sz="1100" i="1" dirty="0">
                <a:solidFill>
                  <a:srgbClr val="7A8FA6"/>
                </a:solidFill>
                <a:latin typeface="Calibri" pitchFamily="34" charset="0"/>
                <a:ea typeface="Calibri" pitchFamily="34" charset="-122"/>
                <a:cs typeface="Calibri" pitchFamily="34" charset="-120"/>
              </a:rPr>
              <a:t>All links and summaries at  graphrag.com/appendices/research/</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D1B2A"/>
        </a:solidFill>
      </p:bgPr>
    </p:bg>
    <p:spTree>
      <p:nvGrpSpPr>
        <p:cNvPr id="1" name=""/>
        <p:cNvGrpSpPr/>
        <p:nvPr/>
      </p:nvGrpSpPr>
      <p:grpSpPr>
        <a:xfrm>
          <a:off x="0" y="0"/>
          <a:ext cx="0" cy="0"/>
          <a:chOff x="0" y="0"/>
          <a:chExt cx="0" cy="0"/>
        </a:xfrm>
      </p:grpSpPr>
      <p:sp>
        <p:nvSpPr>
          <p:cNvPr id="2" name="Title"/>
          <p:cNvSpPr/>
          <p:nvPr/>
        </p:nvSpPr>
        <p:spPr>
          <a:xfrm>
            <a:off x="457200" y="228600"/>
            <a:ext cx="8229600" cy="502920"/>
          </a:xfrm>
          <a:prstGeom prst="rect">
            <a:avLst/>
          </a:prstGeom>
          <a:noFill/>
          <a:ln/>
        </p:spPr>
        <p:txBody>
          <a:bodyPr wrap="square" lIns="0" tIns="0" rIns="0" bIns="0" rtlCol="0" anchor="ctr"/>
          <a:lstStyle/>
          <a:p>
            <a:pPr algn="l" indent="0" marL="0">
              <a:buNone/>
            </a:pPr>
            <a:r>
              <a:rPr lang="en-US" sz="2600" b="1" dirty="0">
                <a:solidFill>
                  <a:srgbClr val="018BFF"/>
                </a:solidFill>
                <a:latin typeface="Calibri" pitchFamily="34" charset="0"/>
              </a:rPr>
              <a:t>The graph is an editable artifact</a:t>
            </a:r>
          </a:p>
        </p:txBody>
      </p:sp>
      <p:sp>
        <p:nvSpPr>
          <p:cNvPr id="3" name="LeftBG"/>
          <p:cNvSpPr/>
          <p:nvPr/>
        </p:nvSpPr>
        <p:spPr>
          <a:xfrm>
            <a:off x="457200" y="822960"/>
            <a:ext cx="3749040" cy="1280160"/>
          </a:xfrm>
          <a:prstGeom prst="rect">
            <a:avLst/>
          </a:prstGeom>
          <a:solidFill>
            <a:srgbClr val="0A1520"/>
          </a:solidFill>
          <a:ln w="12700">
            <a:solidFill>
              <a:srgbClr val="1E3450"/>
            </a:solidFill>
          </a:ln>
        </p:spPr>
        <p:txBody>
          <a:bodyPr/>
          <a:p/>
        </p:txBody>
      </p:sp>
      <p:sp>
        <p:nvSpPr>
          <p:cNvPr id="4" name="LeftText"/>
          <p:cNvSpPr/>
          <p:nvPr/>
        </p:nvSpPr>
        <p:spPr>
          <a:xfrm>
            <a:off x="548640" y="868680"/>
            <a:ext cx="3566160" cy="1188720"/>
          </a:xfrm>
          <a:prstGeom prst="rect">
            <a:avLst/>
          </a:prstGeom>
          <a:noFill/>
          <a:ln/>
        </p:spPr>
        <p:txBody>
          <a:bodyPr wrap="square" lIns="0" tIns="0" rIns="0" bIns="0" rtlCol="0" anchor="t"/>
          <a:lstStyle/>
          <a:p>
            <a:pPr algn="l" indent="0" marL="0">
              <a:buNone/>
            </a:pPr>
            <a:r>
              <a:rPr lang="en-US" sz="1500" b="1" dirty="0">
                <a:solidFill>
                  <a:srgbClr val="4A6080"/>
                </a:solidFill>
                <a:latin typeface="Calibri" pitchFamily="34" charset="0"/>
              </a:rPr>
              <a:t>Vector store</a:t>
            </a:r>
          </a:p>
          <a:p>
            <a:pPr algn="l" indent="0" marL="0">
              <a:buNone/>
            </a:pPr>
            <a:r>
              <a:rPr lang="en-US" sz="1200" dirty="0">
                <a:solidFill>
                  <a:srgbClr val="3A5070"/>
                </a:solidFill>
                <a:latin typeface="Calibri" pitchFamily="34" charset="0"/>
              </a:rPr>
              <a:t>Knowledge locked in floating-point vectors</a:t>
            </a:r>
          </a:p>
          <a:p>
            <a:pPr algn="l" indent="0" marL="0">
              <a:buNone/>
            </a:pPr>
            <a:r>
              <a:rPr lang="en-US" sz="1200" dirty="0">
                <a:solidFill>
                  <a:srgbClr val="3A5070"/>
                </a:solidFill>
                <a:latin typeface="Calibri" pitchFamily="34" charset="0"/>
              </a:rPr>
              <a:t>Wrong inference? Re-embed the whole corpus</a:t>
            </a:r>
          </a:p>
          <a:p>
            <a:pPr algn="l" indent="0" marL="0">
              <a:buNone/>
            </a:pPr>
            <a:r>
              <a:rPr lang="en-US" sz="1200" dirty="0">
                <a:solidFill>
                  <a:srgbClr val="3A5070"/>
                </a:solidFill>
                <a:latin typeface="Calibri" pitchFamily="34" charset="0"/>
              </a:rPr>
              <a:t>No correction surface for domain experts</a:t>
            </a:r>
          </a:p>
        </p:txBody>
      </p:sp>
      <p:sp>
        <p:nvSpPr>
          <p:cNvPr id="5" name="RightBG"/>
          <p:cNvSpPr/>
          <p:nvPr/>
        </p:nvSpPr>
        <p:spPr>
          <a:xfrm>
            <a:off x="4937760" y="822960"/>
            <a:ext cx="3749040" cy="1280160"/>
          </a:xfrm>
          <a:prstGeom prst="rect">
            <a:avLst/>
          </a:prstGeom>
          <a:solidFill>
            <a:srgbClr val="051828"/>
          </a:solidFill>
          <a:ln w="12700">
            <a:solidFill>
              <a:srgbClr val="018BFF"/>
            </a:solidFill>
          </a:ln>
        </p:spPr>
        <p:txBody>
          <a:bodyPr/>
          <a:p/>
        </p:txBody>
      </p:sp>
      <p:sp>
        <p:nvSpPr>
          <p:cNvPr id="6" name="RightText"/>
          <p:cNvSpPr/>
          <p:nvPr/>
        </p:nvSpPr>
        <p:spPr>
          <a:xfrm>
            <a:off x="5029200" y="868680"/>
            <a:ext cx="3566160" cy="1188720"/>
          </a:xfrm>
          <a:prstGeom prst="rect">
            <a:avLst/>
          </a:prstGeom>
          <a:noFill/>
          <a:ln/>
        </p:spPr>
        <p:txBody>
          <a:bodyPr wrap="square" lIns="0" tIns="0" rIns="0" bIns="0" rtlCol="0" anchor="t"/>
          <a:lstStyle/>
          <a:p>
            <a:pPr algn="l" indent="0" marL="0">
              <a:buNone/>
            </a:pPr>
            <a:r>
              <a:rPr lang="en-US" sz="1500" b="1" dirty="0">
                <a:solidFill>
                  <a:srgbClr val="018BFF"/>
                </a:solidFill>
                <a:latin typeface="Calibri" pitchFamily="34" charset="0"/>
              </a:rPr>
              <a:t>Knowledge graph</a:t>
            </a:r>
          </a:p>
          <a:p>
            <a:pPr algn="l" indent="0" marL="0">
              <a:buNone/>
            </a:pPr>
            <a:r>
              <a:rPr lang="en-US" sz="1200" dirty="0">
                <a:solidFill>
                  <a:srgbClr val="7A8FA6"/>
                </a:solidFill>
                <a:latin typeface="Calibri" pitchFamily="34" charset="0"/>
              </a:rPr>
              <a:t>Every node and relationship is visible and queryable</a:t>
            </a:r>
          </a:p>
          <a:p>
            <a:pPr algn="l" indent="0" marL="0">
              <a:buNone/>
            </a:pPr>
            <a:r>
              <a:rPr lang="en-US" sz="1200" dirty="0">
                <a:solidFill>
                  <a:srgbClr val="7A8FA6"/>
                </a:solidFill>
                <a:latin typeface="Calibri" pitchFamily="34" charset="0"/>
              </a:rPr>
              <a:t>A targeted Cypher query corrects or extends any connection</a:t>
            </a:r>
          </a:p>
          <a:p>
            <a:pPr algn="l" indent="0" marL="0">
              <a:buNone/>
            </a:pPr>
            <a:r>
              <a:rPr lang="en-US" sz="1200" dirty="0">
                <a:solidFill>
                  <a:srgbClr val="7A8FA6"/>
                </a:solidFill>
                <a:latin typeface="Calibri" pitchFamily="34" charset="0"/>
              </a:rPr>
              <a:t>Domain experts can validate and patch extracted knowledge</a:t>
            </a:r>
          </a:p>
        </p:txBody>
      </p:sp>
      <p:sp>
        <p:nvSpPr>
          <p:cNvPr id="7" name="SacHeader"/>
          <p:cNvSpPr/>
          <p:nvPr/>
        </p:nvSpPr>
        <p:spPr>
          <a:xfrm>
            <a:off x="457200" y="2240280"/>
            <a:ext cx="8229600" cy="365760"/>
          </a:xfrm>
          <a:prstGeom prst="rect">
            <a:avLst/>
          </a:prstGeom>
          <a:noFill/>
          <a:ln/>
        </p:spPr>
        <p:txBody>
          <a:bodyPr wrap="square" lIns="0" tIns="0" rIns="0" bIns="0" rtlCol="0" anchor="ctr"/>
          <a:lstStyle/>
          <a:p>
            <a:pPr algn="l" indent="0" marL="0">
              <a:buNone/>
            </a:pPr>
            <a:r>
              <a:rPr lang="en-US" sz="1600" b="1" dirty="0">
                <a:solidFill>
                  <a:srgbClr val="E8EDF2"/>
                </a:solidFill>
                <a:latin typeface="Calibri" pitchFamily="34" charset="0"/>
              </a:rPr>
              <a:t>Example: Sacagawea</a:t>
            </a:r>
            <a:r>
              <a:rPr lang="en-US" sz="1400" dirty="0">
                <a:solidFill>
                  <a:srgbClr val="7A8FA6"/>
                </a:solidFill>
                <a:latin typeface="Calibri" pitchFamily="34" charset="0"/>
              </a:rPr>
              <a:t xml:space="preserve">  — rarely named directly in the journals</a:t>
            </a:r>
          </a:p>
        </p:txBody>
      </p:sp>
      <p:sp>
        <p:nvSpPr>
          <p:cNvPr id="8" name="Aliases"/>
          <p:cNvSpPr/>
          <p:nvPr/>
        </p:nvSpPr>
        <p:spPr>
          <a:xfrm>
            <a:off x="457200" y="2651520"/>
            <a:ext cx="8229600" cy="320040"/>
          </a:xfrm>
          <a:prstGeom prst="rect">
            <a:avLst/>
          </a:prstGeom>
          <a:noFill/>
          <a:ln/>
        </p:spPr>
        <p:txBody>
          <a:bodyPr wrap="square" lIns="0" tIns="0" rIns="0" bIns="0" rtlCol="0" anchor="ctr"/>
          <a:lstStyle/>
          <a:p>
            <a:pPr algn="l" indent="0" marL="0">
              <a:buNone/>
            </a:pPr>
            <a:r>
              <a:rPr lang="en-US" sz="1200" dirty="0">
                <a:solidFill>
                  <a:srgbClr val="7A8FA6"/>
                </a:solidFill>
                <a:latin typeface="Calibri" pitchFamily="34" charset="0"/>
              </a:rPr>
              <a:t xml:space="preserve">Clark calls her: </a:t>
            </a:r>
            <a:r>
              <a:rPr lang="en-US" sz="1200" i="1" dirty="0">
                <a:solidFill>
                  <a:srgbClr val="E8EDF2"/>
                </a:solidFill>
                <a:latin typeface="Calibri" pitchFamily="34" charset="0"/>
              </a:rPr>
              <a:t xml:space="preserve">“Janey”</a:t>
            </a:r>
            <a:r>
              <a:rPr lang="en-US" sz="1200" dirty="0">
                <a:solidFill>
                  <a:srgbClr val="7A8FA6"/>
                </a:solidFill>
                <a:latin typeface="Calibri" pitchFamily="34" charset="0"/>
              </a:rPr>
              <a:t xml:space="preserve">  ·  </a:t>
            </a:r>
            <a:r>
              <a:rPr lang="en-US" sz="1200" i="1" dirty="0">
                <a:solidFill>
                  <a:srgbClr val="E8EDF2"/>
                </a:solidFill>
                <a:latin typeface="Calibri" pitchFamily="34" charset="0"/>
              </a:rPr>
              <a:t xml:space="preserve">“the interpreter’s wife”</a:t>
            </a:r>
            <a:r>
              <a:rPr lang="en-US" sz="1200" dirty="0">
                <a:solidFill>
                  <a:srgbClr val="7A8FA6"/>
                </a:solidFill>
                <a:latin typeface="Calibri" pitchFamily="34" charset="0"/>
              </a:rPr>
              <a:t xml:space="preserve">  ·  </a:t>
            </a:r>
            <a:r>
              <a:rPr lang="en-US" sz="1200" i="1" dirty="0">
                <a:solidFill>
                  <a:srgbClr val="E8EDF2"/>
                </a:solidFill>
                <a:latin typeface="Calibri" pitchFamily="34" charset="0"/>
              </a:rPr>
              <a:t xml:space="preserve">“the Indian woman”</a:t>
            </a:r>
            <a:r>
              <a:rPr lang="en-US" sz="1200" dirty="0">
                <a:solidFill>
                  <a:srgbClr val="7A8FA6"/>
                </a:solidFill>
                <a:latin typeface="Calibri" pitchFamily="34" charset="0"/>
              </a:rPr>
              <a:t xml:space="preserve">  ·  </a:t>
            </a:r>
            <a:r>
              <a:rPr lang="en-US" sz="1200" i="1" dirty="0">
                <a:solidFill>
                  <a:srgbClr val="E8EDF2"/>
                </a:solidFill>
                <a:latin typeface="Calibri" pitchFamily="34" charset="0"/>
              </a:rPr>
              <a:t>“Sah-kah-gar-we-a”</a:t>
            </a:r>
          </a:p>
        </p:txBody>
      </p:sp>
      <p:sp>
        <p:nvSpPr>
          <p:cNvPr id="9" name="CurationExplanation"/>
          <p:cNvSpPr/>
          <p:nvPr/>
        </p:nvSpPr>
        <p:spPr>
          <a:xfrm>
            <a:off x="457200" y="3017520"/>
            <a:ext cx="8229600" cy="548640"/>
          </a:xfrm>
          <a:prstGeom prst="rect">
            <a:avLst/>
          </a:prstGeom>
          <a:noFill/>
          <a:ln/>
        </p:spPr>
        <p:txBody>
          <a:bodyPr wrap="square" lIns="0" tIns="0" rIns="0" bIns="0" rtlCol="0" anchor="t"/>
          <a:lstStyle/>
          <a:p>
            <a:pPr algn="l" indent="0" marL="0">
              <a:buNone/>
            </a:pPr>
            <a:r>
              <a:rPr lang="en-US" sz="1200" dirty="0">
                <a:solidFill>
                  <a:srgbClr val="7A8FA6"/>
                </a:solidFill>
                <a:latin typeface="Calibri" pitchFamily="34" charset="0"/>
              </a:rPr>
              <a:t xml:space="preserve">A curated annotation list (lewis-clark.org) identifies which passages she appears in, even when unnamed. </a:t>
            </a:r>
            <a:r>
              <a:rPr lang="en-US" sz="1200" b="1" dirty="0">
                <a:solidFill>
                  <a:srgbClr val="E8EDF2"/>
                </a:solidFill>
                <a:latin typeface="Calibri" pitchFamily="34" charset="0"/>
              </a:rPr>
              <a:t>One canonical Person node</a:t>
            </a:r>
            <a:r>
              <a:rPr lang="en-US" sz="1200" dirty="0">
                <a:solidFill>
                  <a:srgbClr val="7A8FA6"/>
                </a:solidFill>
                <a:latin typeface="Calibri" pitchFamily="34" charset="0"/>
              </a:rPr>
              <a:t xml:space="preserve"> links every alias and every relevant chunk. Her INTERPRETED_FOR and GUIDED relationships are extractable. Every query resolves to the same node.</a:t>
            </a:r>
          </a:p>
        </p:txBody>
      </p:sp>
      <p:sp>
        <p:nvSpPr>
          <p:cNvPr id="10" name="Callout"/>
          <p:cNvSpPr/>
          <p:nvPr/>
        </p:nvSpPr>
        <p:spPr>
          <a:xfrm>
            <a:off x="457200" y="3749040"/>
            <a:ext cx="8229600" cy="749808"/>
          </a:xfrm>
          <a:prstGeom prst="rect">
            <a:avLst/>
          </a:prstGeom>
          <a:solidFill>
            <a:srgbClr val="0A2A18"/>
          </a:solidFill>
          <a:ln w="19050">
            <a:solidFill>
              <a:srgbClr val="00CC76"/>
            </a:solidFill>
          </a:ln>
        </p:spPr>
        <p:txBody>
          <a:bodyPr/>
          <a:p/>
        </p:txBody>
      </p:sp>
      <p:sp>
        <p:nvSpPr>
          <p:cNvPr id="11" name="CalloutText"/>
          <p:cNvSpPr/>
          <p:nvPr/>
        </p:nvSpPr>
        <p:spPr>
          <a:xfrm>
            <a:off x="640080" y="3795480"/>
            <a:ext cx="7863840" cy="640080"/>
          </a:xfrm>
          <a:prstGeom prst="rect">
            <a:avLst/>
          </a:prstGeom>
          <a:noFill/>
          <a:ln/>
        </p:spPr>
        <p:txBody>
          <a:bodyPr wrap="square" lIns="0" tIns="0" rIns="0" bIns="0" rtlCol="0" anchor="ctr"/>
          <a:lstStyle/>
          <a:p>
            <a:pPr algn="ctr" indent="0" marL="0">
              <a:buNone/>
            </a:pPr>
            <a:r>
              <a:rPr lang="en-US" sz="1500" b="1" dirty="0">
                <a:solidFill>
                  <a:srgbClr val="00CC76"/>
                </a:solidFill>
                <a:latin typeface="Calibri" pitchFamily="34" charset="0"/>
              </a:rPr>
              <a:t xml:space="preserve">The LLM does the bulk extraction. </a:t>
            </a:r>
            <a:r>
              <a:rPr lang="en-US" sz="1500" dirty="0">
                <a:solidFill>
                  <a:srgbClr val="7A8FA6"/>
                </a:solidFill>
                <a:latin typeface="Calibri" pitchFamily="34" charset="0"/>
              </a:rPr>
              <a:t>Domain experts patch what the model can’t know.</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RAG Has a Relationship Problem</dc:title>
  <dc:subject>PptxGenJS Presentation</dc:subject>
  <dc:creator>Nathan Smith</dc:creator>
  <cp:lastModifiedBy>Nathan Smith</cp:lastModifiedBy>
  <cp:revision>1</cp:revision>
  <dcterms:created xsi:type="dcterms:W3CDTF">2026-05-25T15:16:01Z</dcterms:created>
  <dcterms:modified xsi:type="dcterms:W3CDTF">2026-05-25T15:16:01Z</dcterms:modified>
</cp:coreProperties>
</file>